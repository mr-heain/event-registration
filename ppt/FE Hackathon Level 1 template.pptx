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85" autoAdjust="0"/>
  </p:normalViewPr>
  <p:slideViewPr>
    <p:cSldViewPr>
      <p:cViewPr>
        <p:scale>
          <a:sx n="100" d="100"/>
          <a:sy n="100" d="100"/>
        </p:scale>
        <p:origin x="1008" y="-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701" y="172214"/>
            <a:ext cx="6263246" cy="5833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0015" y="5502275"/>
            <a:ext cx="6402705" cy="20955"/>
            <a:chOff x="801369" y="5513704"/>
            <a:chExt cx="6402705" cy="20955"/>
          </a:xfrm>
        </p:grpSpPr>
        <p:sp>
          <p:nvSpPr>
            <p:cNvPr id="3" name="object 3"/>
            <p:cNvSpPr/>
            <p:nvPr/>
          </p:nvSpPr>
          <p:spPr>
            <a:xfrm>
              <a:off x="801370" y="551370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899" y="55144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1928" y="551447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0899" y="55175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928" y="55312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553124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1796" y="1141862"/>
            <a:ext cx="6087745" cy="5318764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272415" algn="ctr">
              <a:lnSpc>
                <a:spcPct val="100000"/>
              </a:lnSpc>
              <a:spcBef>
                <a:spcPts val="1375"/>
              </a:spcBef>
            </a:pPr>
            <a:r>
              <a:rPr sz="2100" spc="-10" dirty="0">
                <a:latin typeface="Times New Roman"/>
                <a:cs typeface="Times New Roman"/>
              </a:rPr>
              <a:t>FRONT-</a:t>
            </a:r>
            <a:r>
              <a:rPr sz="2100" dirty="0">
                <a:latin typeface="Times New Roman"/>
                <a:cs typeface="Times New Roman"/>
              </a:rPr>
              <a:t>END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DEVELOPMENT</a:t>
            </a:r>
            <a:endParaRPr sz="2100" dirty="0">
              <a:latin typeface="Times New Roman"/>
              <a:cs typeface="Times New Roman"/>
            </a:endParaRPr>
          </a:p>
          <a:p>
            <a:pPr marL="127635" algn="ctr">
              <a:lnSpc>
                <a:spcPct val="100000"/>
              </a:lnSpc>
              <a:spcBef>
                <a:spcPts val="969"/>
              </a:spcBef>
            </a:pPr>
            <a:r>
              <a:rPr sz="1600" b="1" spc="-10" dirty="0">
                <a:latin typeface="Times New Roman"/>
                <a:cs typeface="Times New Roman"/>
              </a:rPr>
              <a:t>HACKATHON</a:t>
            </a:r>
            <a:endParaRPr sz="1600" dirty="0">
              <a:latin typeface="Times New Roman"/>
              <a:cs typeface="Times New Roman"/>
            </a:endParaRPr>
          </a:p>
          <a:p>
            <a:pPr marL="130175" algn="ctr">
              <a:lnSpc>
                <a:spcPct val="100000"/>
              </a:lnSpc>
              <a:spcBef>
                <a:spcPts val="950"/>
              </a:spcBef>
            </a:pPr>
            <a:r>
              <a:rPr sz="1600" b="1" spc="-10" dirty="0">
                <a:latin typeface="Times New Roman"/>
                <a:cs typeface="Times New Roman"/>
              </a:rPr>
              <a:t>Level-</a:t>
            </a:r>
            <a:r>
              <a:rPr sz="1600" b="1" dirty="0">
                <a:latin typeface="Times New Roman"/>
                <a:cs typeface="Times New Roman"/>
              </a:rPr>
              <a:t>1</a:t>
            </a:r>
            <a:r>
              <a:rPr lang="en-IN" sz="1600" b="1" dirty="0">
                <a:latin typeface="Times New Roman"/>
                <a:cs typeface="Times New Roman"/>
              </a:rPr>
              <a:t> </a:t>
            </a:r>
            <a:r>
              <a:rPr lang="en-IN" sz="1600" b="1" spc="-10" dirty="0">
                <a:latin typeface="Times New Roman"/>
                <a:cs typeface="Times New Roman"/>
              </a:rPr>
              <a:t>Template</a:t>
            </a:r>
            <a:endParaRPr lang="en-IN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IN" sz="16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STUDENT</a:t>
            </a:r>
            <a:r>
              <a:rPr sz="1200" b="1" spc="-10" dirty="0">
                <a:latin typeface="Times New Roman"/>
                <a:cs typeface="Times New Roman"/>
              </a:rPr>
              <a:t> NAME:</a:t>
            </a:r>
            <a:r>
              <a:rPr lang="en-US" sz="1200" b="1" spc="-10" dirty="0">
                <a:latin typeface="Times New Roman"/>
                <a:cs typeface="Times New Roman"/>
              </a:rPr>
              <a:t> HARIHARN S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40"/>
              </a:spcBef>
            </a:pPr>
            <a:r>
              <a:rPr sz="1200" b="1" spc="-10" dirty="0">
                <a:latin typeface="Times New Roman"/>
                <a:cs typeface="Times New Roman"/>
              </a:rPr>
              <a:t>YEAR:</a:t>
            </a:r>
            <a:r>
              <a:rPr lang="en-US" sz="1200" b="1" spc="-10" dirty="0">
                <a:latin typeface="Times New Roman"/>
                <a:cs typeface="Times New Roman"/>
              </a:rPr>
              <a:t> II 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CODE:</a:t>
            </a:r>
            <a:r>
              <a:rPr lang="en-US" sz="1200" b="1" spc="-10" dirty="0">
                <a:latin typeface="Times New Roman"/>
                <a:cs typeface="Times New Roman"/>
              </a:rPr>
              <a:t> 1455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NAME:</a:t>
            </a:r>
            <a:r>
              <a:rPr lang="en-US" sz="1200" b="1" spc="-20" dirty="0">
                <a:latin typeface="Times New Roman"/>
                <a:cs typeface="Times New Roman"/>
              </a:rPr>
              <a:t> TAGORE COLLEGE OF ARTS AND SCIENCE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45"/>
              </a:spcBef>
            </a:pPr>
            <a:r>
              <a:rPr sz="1200" b="1" spc="-10" dirty="0">
                <a:latin typeface="Times New Roman"/>
                <a:cs typeface="Times New Roman"/>
              </a:rPr>
              <a:t>DEPARTMENT:</a:t>
            </a:r>
            <a:r>
              <a:rPr lang="en-US" sz="1200" b="1" spc="-10" dirty="0">
                <a:latin typeface="Times New Roman"/>
                <a:cs typeface="Times New Roman"/>
              </a:rPr>
              <a:t> BSC COMPUTER SCIENCE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25"/>
              </a:spcBef>
            </a:pPr>
            <a:r>
              <a:rPr sz="1200" b="1" spc="-10" dirty="0">
                <a:latin typeface="Times New Roman"/>
                <a:cs typeface="Times New Roman"/>
              </a:rPr>
              <a:t>SEMESTER:</a:t>
            </a:r>
            <a:r>
              <a:rPr lang="en-US" sz="1200" b="1" spc="-10" dirty="0">
                <a:latin typeface="Times New Roman"/>
                <a:cs typeface="Times New Roman"/>
              </a:rPr>
              <a:t> IV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25"/>
              </a:spcBef>
            </a:pPr>
            <a:r>
              <a:rPr sz="1200" b="1" dirty="0">
                <a:latin typeface="Times New Roman"/>
                <a:cs typeface="Times New Roman"/>
              </a:rPr>
              <a:t>ROLL </a:t>
            </a:r>
            <a:r>
              <a:rPr sz="1200" b="1" spc="-25" dirty="0">
                <a:latin typeface="Times New Roman"/>
                <a:cs typeface="Times New Roman"/>
              </a:rPr>
              <a:t>NO:</a:t>
            </a:r>
            <a:r>
              <a:rPr lang="en-US" sz="1200" b="1" spc="-25" dirty="0">
                <a:latin typeface="Times New Roman"/>
                <a:cs typeface="Times New Roman"/>
              </a:rPr>
              <a:t> UNM1455222407723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latin typeface="Times New Roman"/>
                <a:cs typeface="Times New Roman"/>
              </a:rPr>
              <a:t>NMID:</a:t>
            </a:r>
            <a:r>
              <a:rPr lang="en-US" sz="1200" b="1" spc="-10" dirty="0">
                <a:latin typeface="Times New Roman"/>
                <a:cs typeface="Times New Roman"/>
              </a:rPr>
              <a:t> </a:t>
            </a:r>
            <a:r>
              <a:rPr lang="en-IN" sz="1200" b="1" spc="-10" dirty="0">
                <a:latin typeface="Times New Roman"/>
                <a:cs typeface="Times New Roman"/>
              </a:rPr>
              <a:t>614D89761591EB584744FC4BCEE6FE5F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25"/>
              </a:spcBef>
            </a:pPr>
            <a:r>
              <a:rPr sz="1200" b="1" spc="-10" dirty="0">
                <a:latin typeface="Times New Roman"/>
                <a:cs typeface="Times New Roman"/>
              </a:rPr>
              <a:t>DATE:</a:t>
            </a:r>
            <a:r>
              <a:rPr lang="en-US" sz="1200" b="1" spc="-10" dirty="0">
                <a:latin typeface="Times New Roman"/>
                <a:cs typeface="Times New Roman"/>
              </a:rPr>
              <a:t> 16.03.2026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latin typeface="Times New Roman"/>
                <a:cs typeface="Times New Roman"/>
              </a:rPr>
              <a:t>TITLE:</a:t>
            </a:r>
            <a:r>
              <a:rPr lang="en-US" sz="1200" b="1" spc="-10" dirty="0">
                <a:latin typeface="Times New Roman"/>
                <a:cs typeface="Times New Roman"/>
              </a:rPr>
              <a:t> Student Activity Tracker Web Application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1.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Use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Case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and</a:t>
            </a:r>
            <a:r>
              <a:rPr sz="1400" b="1" spc="-3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Assumptions</a:t>
            </a:r>
            <a:endParaRPr sz="1400" dirty="0">
              <a:latin typeface="Times New Roman"/>
              <a:cs typeface="Times New Roman"/>
            </a:endParaRPr>
          </a:p>
          <a:p>
            <a:pPr marL="137160" marR="5080">
              <a:lnSpc>
                <a:spcPts val="1380"/>
              </a:lnSpc>
              <a:spcBef>
                <a:spcPts val="850"/>
              </a:spcBef>
            </a:pPr>
            <a:r>
              <a:rPr lang="en-US" sz="1200" i="1" dirty="0">
                <a:latin typeface="Times New Roman"/>
                <a:cs typeface="Times New Roman"/>
              </a:rPr>
              <a:t>Students often need a simple way to track their daily learning activities and assignments. This application helps students view their activities and mark them as completed. It is assumed that the application runs in a web browser and uses static data or local storage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3769" y="6465928"/>
            <a:ext cx="6395085" cy="20955"/>
            <a:chOff x="808990" y="6458584"/>
            <a:chExt cx="6395085" cy="20955"/>
          </a:xfrm>
        </p:grpSpPr>
        <p:sp>
          <p:nvSpPr>
            <p:cNvPr id="11" name="object 11"/>
            <p:cNvSpPr/>
            <p:nvPr/>
          </p:nvSpPr>
          <p:spPr>
            <a:xfrm>
              <a:off x="808990" y="6458584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0899" y="645960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548" y="6459613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9" y="646264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548" y="647636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548" y="6476364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6848" y="6695313"/>
            <a:ext cx="6289040" cy="8957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2.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Problem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Statement</a:t>
            </a:r>
            <a:endParaRPr sz="1400" dirty="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025"/>
              </a:spcBef>
            </a:pPr>
            <a:r>
              <a:rPr lang="en-US" sz="1200" i="1" dirty="0">
                <a:latin typeface="Times New Roman"/>
                <a:cs typeface="Times New Roman"/>
              </a:rPr>
              <a:t>Many beginner developers find it difficult to build complete applications because backend development is complex. Therefore, a simple front-end application is required to help students track their learning activities in an easy way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3769" y="7830869"/>
            <a:ext cx="6402705" cy="20955"/>
            <a:chOff x="801369" y="7844154"/>
            <a:chExt cx="6402705" cy="20955"/>
          </a:xfrm>
        </p:grpSpPr>
        <p:sp>
          <p:nvSpPr>
            <p:cNvPr id="19" name="object 19"/>
            <p:cNvSpPr/>
            <p:nvPr/>
          </p:nvSpPr>
          <p:spPr>
            <a:xfrm>
              <a:off x="801370" y="784415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00899" y="784529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1928" y="784531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0899" y="784834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1928" y="78620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1928" y="786207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2276" y="7917405"/>
            <a:ext cx="6325235" cy="7486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3.Objective</a:t>
            </a:r>
            <a:endParaRPr sz="1400" dirty="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640"/>
              </a:spcBef>
            </a:pPr>
            <a:r>
              <a:rPr lang="en-US" sz="1200" i="1" dirty="0">
                <a:latin typeface="Times New Roman"/>
                <a:cs typeface="Times New Roman"/>
              </a:rPr>
              <a:t>The main objective of this project is to design a simple student activity tracker using front-end technologies such as HTML, CSS, and JavaScript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572" y="1069593"/>
            <a:ext cx="4382135" cy="18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4.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Key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Features</a:t>
            </a:r>
            <a:endParaRPr sz="14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lang="en-US" sz="1200" i="1" dirty="0">
                <a:latin typeface="Times New Roman"/>
                <a:cs typeface="Times New Roman"/>
              </a:rPr>
              <a:t>• Display a list of student activities.</a:t>
            </a: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lang="en-US" sz="1200" i="1" dirty="0">
                <a:latin typeface="Times New Roman"/>
                <a:cs typeface="Times New Roman"/>
              </a:rPr>
              <a:t>• Show activity name and description.</a:t>
            </a: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lang="en-US" sz="1200" i="1" dirty="0">
                <a:latin typeface="Times New Roman"/>
                <a:cs typeface="Times New Roman"/>
              </a:rPr>
              <a:t>• Mark activities as completed</a:t>
            </a: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lang="en-US" sz="1200" i="1" dirty="0">
                <a:latin typeface="Times New Roman"/>
                <a:cs typeface="Times New Roman"/>
              </a:rPr>
              <a:t>• Show progress summary</a:t>
            </a: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lang="en-US" sz="1200" i="1" dirty="0">
                <a:latin typeface="Times New Roman"/>
                <a:cs typeface="Times New Roman"/>
              </a:rPr>
              <a:t>• Easy navigation between sections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4572" y="3163811"/>
            <a:ext cx="5488305" cy="707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Times New Roman"/>
                <a:cs typeface="Times New Roman"/>
              </a:rPr>
              <a:t>4.1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Home</a:t>
            </a:r>
            <a:r>
              <a:rPr sz="1400" b="1" spc="-20" dirty="0">
                <a:latin typeface="Times New Roman"/>
                <a:cs typeface="Times New Roman"/>
              </a:rPr>
              <a:t> Page</a:t>
            </a:r>
            <a:endParaRPr sz="1400" dirty="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1145"/>
              </a:spcBef>
            </a:pPr>
            <a:r>
              <a:rPr lang="en-US" sz="1100" i="1" dirty="0">
                <a:latin typeface="Times New Roman"/>
                <a:cs typeface="Times New Roman"/>
              </a:rPr>
              <a:t>The home page displays the title of the application and a welcome message for the user. It provides a simple introduction to the activity tracker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8036" y="4072646"/>
            <a:ext cx="6395085" cy="20320"/>
            <a:chOff x="808990" y="2880359"/>
            <a:chExt cx="6395085" cy="20320"/>
          </a:xfrm>
        </p:grpSpPr>
        <p:sp>
          <p:nvSpPr>
            <p:cNvPr id="5" name="object 5"/>
            <p:cNvSpPr/>
            <p:nvPr/>
          </p:nvSpPr>
          <p:spPr>
            <a:xfrm>
              <a:off x="808990" y="288035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0899" y="288061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9548" y="2880625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4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00899" y="288366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548" y="28973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548" y="2897377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4572" y="4204610"/>
            <a:ext cx="4340860" cy="23102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b="1" dirty="0">
                <a:latin typeface="Times New Roman"/>
                <a:cs typeface="Times New Roman"/>
              </a:rPr>
              <a:t>4.2</a:t>
            </a:r>
            <a:r>
              <a:rPr lang="en-US" sz="1400" b="1" spc="-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Activity</a:t>
            </a:r>
            <a:r>
              <a:rPr lang="en-US" sz="1400" b="1" spc="-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List</a:t>
            </a:r>
            <a:r>
              <a:rPr lang="en-US" sz="1400" b="1" spc="-20" dirty="0">
                <a:latin typeface="Times New Roman"/>
                <a:cs typeface="Times New Roman"/>
              </a:rPr>
              <a:t> View</a:t>
            </a:r>
            <a:endParaRPr lang="en-US" sz="1400" dirty="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  <a:spcBef>
                <a:spcPts val="1140"/>
              </a:spcBef>
            </a:pPr>
            <a:r>
              <a:rPr lang="en-US" sz="1100" dirty="0">
                <a:latin typeface="Times New Roman"/>
                <a:cs typeface="Times New Roman"/>
              </a:rPr>
              <a:t>The Activity List View displays a list of student learning activities. Each activity includes the activity name, a short description, and the current status such as Pending or Completed. This section helps users easily view and track their tasks</a:t>
            </a:r>
            <a:endParaRPr lang="en-US" sz="1100" i="1" spc="-20" dirty="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  <a:spcBef>
                <a:spcPts val="1140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 marL="615950" indent="-464820">
              <a:lnSpc>
                <a:spcPct val="100000"/>
              </a:lnSpc>
              <a:spcBef>
                <a:spcPts val="1215"/>
              </a:spcBef>
              <a:buFont typeface="Times New Roman"/>
              <a:buChar char="●"/>
              <a:tabLst>
                <a:tab pos="615950" algn="l"/>
              </a:tabLst>
            </a:pPr>
            <a:r>
              <a:rPr lang="en-US" sz="1100" i="1" dirty="0">
                <a:latin typeface="Times New Roman"/>
                <a:cs typeface="Times New Roman"/>
              </a:rPr>
              <a:t>Activity name</a:t>
            </a:r>
            <a:endParaRPr lang="en-US" sz="1100" i="1" spc="-10" dirty="0">
              <a:latin typeface="Times New Roman"/>
              <a:cs typeface="Times New Roman"/>
            </a:endParaRPr>
          </a:p>
          <a:p>
            <a:pPr marL="615950" indent="-464820">
              <a:lnSpc>
                <a:spcPct val="100000"/>
              </a:lnSpc>
              <a:spcBef>
                <a:spcPts val="1215"/>
              </a:spcBef>
              <a:buFont typeface="Times New Roman"/>
              <a:buChar char="●"/>
              <a:tabLst>
                <a:tab pos="615950" algn="l"/>
              </a:tabLst>
            </a:pPr>
            <a:r>
              <a:rPr lang="en-US" sz="1100" i="1" spc="-10" dirty="0">
                <a:latin typeface="Times New Roman"/>
                <a:cs typeface="Times New Roman"/>
              </a:rPr>
              <a:t>Short Description </a:t>
            </a:r>
            <a:endParaRPr lang="en-US" sz="1100" dirty="0">
              <a:latin typeface="Times New Roman"/>
              <a:cs typeface="Times New Roman"/>
            </a:endParaRPr>
          </a:p>
          <a:p>
            <a:pPr marL="615950" indent="-464820">
              <a:lnSpc>
                <a:spcPct val="100000"/>
              </a:lnSpc>
              <a:spcBef>
                <a:spcPts val="1210"/>
              </a:spcBef>
              <a:buFont typeface="Times New Roman"/>
              <a:buChar char="●"/>
              <a:tabLst>
                <a:tab pos="615950" algn="l"/>
              </a:tabLst>
            </a:pPr>
            <a:r>
              <a:rPr lang="en-US" sz="1100" i="1" dirty="0">
                <a:latin typeface="Times New Roman"/>
                <a:cs typeface="Times New Roman"/>
              </a:rPr>
              <a:t>Current</a:t>
            </a:r>
            <a:r>
              <a:rPr lang="en-US" sz="1100" i="1" spc="-10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Status</a:t>
            </a:r>
            <a:r>
              <a:rPr lang="en-US" sz="1100" i="1" spc="-10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(Pending</a:t>
            </a:r>
            <a:r>
              <a:rPr lang="en-US" sz="1100" i="1" spc="-10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/</a:t>
            </a:r>
            <a:r>
              <a:rPr lang="en-US" sz="1100" i="1" spc="-20" dirty="0">
                <a:latin typeface="Times New Roman"/>
                <a:cs typeface="Times New Roman"/>
              </a:rPr>
              <a:t> </a:t>
            </a:r>
            <a:r>
              <a:rPr lang="en-US" sz="1100" i="1" spc="-10" dirty="0">
                <a:latin typeface="Times New Roman"/>
                <a:cs typeface="Times New Roman"/>
              </a:rPr>
              <a:t>Completed))</a:t>
            </a:r>
            <a:endParaRPr lang="en-US" sz="1100" dirty="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7712" y="6623633"/>
            <a:ext cx="6395085" cy="20955"/>
            <a:chOff x="808990" y="4991099"/>
            <a:chExt cx="6395085" cy="20955"/>
          </a:xfrm>
        </p:grpSpPr>
        <p:sp>
          <p:nvSpPr>
            <p:cNvPr id="13" name="object 13"/>
            <p:cNvSpPr/>
            <p:nvPr/>
          </p:nvSpPr>
          <p:spPr>
            <a:xfrm>
              <a:off x="808990" y="499109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9" y="499173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548" y="4991747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00899" y="499478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9548" y="50084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548" y="5008511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9652" y="6714227"/>
            <a:ext cx="5198110" cy="70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4.3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Mark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Activity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Completed</a:t>
            </a: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sz="1100" dirty="0">
                <a:latin typeface="Times New Roman"/>
                <a:cs typeface="Times New Roman"/>
              </a:rPr>
              <a:t>Users can mark an activity as completed by clicking a button. The status will change from Pending to Completed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4536" y="7512165"/>
            <a:ext cx="6395085" cy="20955"/>
            <a:chOff x="808990" y="5984874"/>
            <a:chExt cx="6395085" cy="20955"/>
          </a:xfrm>
        </p:grpSpPr>
        <p:sp>
          <p:nvSpPr>
            <p:cNvPr id="21" name="object 21"/>
            <p:cNvSpPr/>
            <p:nvPr/>
          </p:nvSpPr>
          <p:spPr>
            <a:xfrm>
              <a:off x="808990" y="5984874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0899" y="598563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548" y="5985649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00899" y="598868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9548" y="600240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548" y="6002413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74572" y="7684812"/>
            <a:ext cx="6194425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4.4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Progress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Summary</a:t>
            </a:r>
            <a:endParaRPr sz="1300" dirty="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1220"/>
              </a:spcBef>
            </a:pPr>
            <a:r>
              <a:rPr lang="en-US" sz="1100" i="1" dirty="0">
                <a:latin typeface="Times New Roman"/>
                <a:cs typeface="Times New Roman"/>
              </a:rPr>
              <a:t>The progress summary shows how many activities have been completed. For example, it displays “3 out of 6 activities completed”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7711" y="8405663"/>
            <a:ext cx="6395085" cy="20955"/>
            <a:chOff x="808990" y="7138669"/>
            <a:chExt cx="6395085" cy="20955"/>
          </a:xfrm>
        </p:grpSpPr>
        <p:sp>
          <p:nvSpPr>
            <p:cNvPr id="29" name="object 29"/>
            <p:cNvSpPr/>
            <p:nvPr/>
          </p:nvSpPr>
          <p:spPr>
            <a:xfrm>
              <a:off x="808990" y="713866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4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00899" y="71393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9548" y="7139304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00899" y="71423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9548" y="71560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548" y="7156081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0938" y="8493420"/>
            <a:ext cx="4855845" cy="6918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4.5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Navigation</a:t>
            </a: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lang="en-US" sz="1100" i="1" dirty="0">
                <a:latin typeface="Times New Roman"/>
                <a:cs typeface="Times New Roman"/>
              </a:rPr>
              <a:t>Navigation allows users to easily move between the home page and activity list section of the application.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51444" y="9283921"/>
            <a:ext cx="6395085" cy="21590"/>
            <a:chOff x="808990" y="8131809"/>
            <a:chExt cx="6395085" cy="21590"/>
          </a:xfrm>
        </p:grpSpPr>
        <p:sp>
          <p:nvSpPr>
            <p:cNvPr id="37" name="object 37"/>
            <p:cNvSpPr/>
            <p:nvPr/>
          </p:nvSpPr>
          <p:spPr>
            <a:xfrm>
              <a:off x="808990" y="8131822"/>
              <a:ext cx="6393180" cy="20320"/>
            </a:xfrm>
            <a:custGeom>
              <a:avLst/>
              <a:gdLst/>
              <a:ahLst/>
              <a:cxnLst/>
              <a:rect l="l" t="t" r="r" b="b"/>
              <a:pathLst>
                <a:path w="6393180" h="20320">
                  <a:moveTo>
                    <a:pt x="6393180" y="0"/>
                  </a:moveTo>
                  <a:lnTo>
                    <a:pt x="0" y="0"/>
                  </a:lnTo>
                  <a:lnTo>
                    <a:pt x="0" y="20307"/>
                  </a:lnTo>
                  <a:lnTo>
                    <a:pt x="6393180" y="20307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00899" y="81333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9548" y="8133346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00899" y="813638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9548" y="815009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9548" y="8150110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77415" y="9380341"/>
            <a:ext cx="627253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5.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UI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and</a:t>
            </a:r>
            <a:r>
              <a:rPr sz="1400" b="1" spc="-3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Usability</a:t>
            </a:r>
            <a:r>
              <a:rPr sz="1400" b="1" spc="-4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Considerations</a:t>
            </a:r>
            <a:endParaRPr sz="1400" dirty="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1225"/>
              </a:spcBef>
            </a:pPr>
            <a:r>
              <a:rPr lang="en-US" sz="1100" i="1" dirty="0">
                <a:latin typeface="Times New Roman"/>
                <a:cs typeface="Times New Roman"/>
              </a:rPr>
              <a:t>The application has a clean and simple interface with readable text and clear buttons. Proper spacing and responsive layout ensure the application works on both desktop and mobile devices.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47710" y="10195834"/>
            <a:ext cx="6395085" cy="20955"/>
            <a:chOff x="808990" y="9352914"/>
            <a:chExt cx="6395085" cy="20955"/>
          </a:xfrm>
        </p:grpSpPr>
        <p:sp>
          <p:nvSpPr>
            <p:cNvPr id="45" name="object 45"/>
            <p:cNvSpPr/>
            <p:nvPr/>
          </p:nvSpPr>
          <p:spPr>
            <a:xfrm>
              <a:off x="808990" y="9352914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4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00899" y="935405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9548" y="9354070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00899" y="935710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9548" y="937082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9548" y="9370834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112" y="1446686"/>
            <a:ext cx="6338570" cy="1190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6.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Technology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Used</a:t>
            </a:r>
            <a:endParaRPr sz="1400" dirty="0">
              <a:latin typeface="Times New Roman"/>
              <a:cs typeface="Times New Roman"/>
            </a:endParaRPr>
          </a:p>
          <a:p>
            <a:pPr marL="34925" marR="5080" algn="l">
              <a:lnSpc>
                <a:spcPts val="1270"/>
              </a:lnSpc>
              <a:spcBef>
                <a:spcPts val="1225"/>
              </a:spcBef>
            </a:pPr>
            <a:r>
              <a:rPr lang="en-IN" sz="1100" i="1" dirty="0">
                <a:latin typeface="Times New Roman"/>
                <a:cs typeface="Times New Roman"/>
              </a:rPr>
              <a:t>• HTML</a:t>
            </a:r>
          </a:p>
          <a:p>
            <a:pPr marL="34925" marR="5080" algn="l">
              <a:lnSpc>
                <a:spcPts val="1270"/>
              </a:lnSpc>
              <a:spcBef>
                <a:spcPts val="1225"/>
              </a:spcBef>
            </a:pPr>
            <a:r>
              <a:rPr lang="en-IN" sz="1100" i="1" dirty="0">
                <a:latin typeface="Times New Roman"/>
                <a:cs typeface="Times New Roman"/>
              </a:rPr>
              <a:t>• CSS</a:t>
            </a:r>
          </a:p>
          <a:p>
            <a:pPr marL="34925" marR="5080" algn="l">
              <a:lnSpc>
                <a:spcPts val="1270"/>
              </a:lnSpc>
              <a:spcBef>
                <a:spcPts val="1225"/>
              </a:spcBef>
            </a:pPr>
            <a:r>
              <a:rPr lang="en-IN" sz="1100" i="1" dirty="0">
                <a:latin typeface="Times New Roman"/>
                <a:cs typeface="Times New Roman"/>
              </a:rPr>
              <a:t>• JavaScript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5007" y="2645132"/>
            <a:ext cx="6395085" cy="20320"/>
            <a:chOff x="808990" y="2033269"/>
            <a:chExt cx="6395085" cy="20320"/>
          </a:xfrm>
        </p:grpSpPr>
        <p:sp>
          <p:nvSpPr>
            <p:cNvPr id="4" name="object 4"/>
            <p:cNvSpPr/>
            <p:nvPr/>
          </p:nvSpPr>
          <p:spPr>
            <a:xfrm>
              <a:off x="808990" y="2033281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6391961" y="0"/>
                  </a:lnTo>
                  <a:lnTo>
                    <a:pt x="3606" y="0"/>
                  </a:lnTo>
                  <a:lnTo>
                    <a:pt x="558" y="0"/>
                  </a:lnTo>
                  <a:lnTo>
                    <a:pt x="0" y="0"/>
                  </a:lnTo>
                  <a:lnTo>
                    <a:pt x="0" y="19672"/>
                  </a:lnTo>
                  <a:lnTo>
                    <a:pt x="6393180" y="19672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899" y="20332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9548" y="2033281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4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0899" y="203631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548" y="20500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548" y="2050033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3112" y="2769048"/>
            <a:ext cx="519811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7.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Data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Handling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Method</a:t>
            </a:r>
            <a:endParaRPr sz="1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Activity data will be stored using static data or a JSON file. JavaScript will manage activity status and update the progress summary.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5007" y="3570618"/>
            <a:ext cx="6395085" cy="20320"/>
            <a:chOff x="808990" y="3092449"/>
            <a:chExt cx="6395085" cy="20320"/>
          </a:xfrm>
        </p:grpSpPr>
        <p:sp>
          <p:nvSpPr>
            <p:cNvPr id="12" name="object 12"/>
            <p:cNvSpPr/>
            <p:nvPr/>
          </p:nvSpPr>
          <p:spPr>
            <a:xfrm>
              <a:off x="808990" y="309244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6391961" y="0"/>
                  </a:lnTo>
                  <a:lnTo>
                    <a:pt x="3606" y="0"/>
                  </a:lnTo>
                  <a:lnTo>
                    <a:pt x="558" y="0"/>
                  </a:ln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00899" y="30924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9548" y="3092449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4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00899" y="309549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548" y="310921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9548" y="3109226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3112" y="3692836"/>
            <a:ext cx="541274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8.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High-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Level UI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Flow</a:t>
            </a:r>
            <a:r>
              <a:rPr sz="1400" b="1" spc="-1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/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Wireframe</a:t>
            </a:r>
            <a:endParaRPr sz="1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User Flow: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Home Page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Activity List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Mark Activity as Completed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165"/>
              </a:spcBef>
            </a:pPr>
            <a:r>
              <a:rPr lang="en-US" sz="1100" i="1" dirty="0">
                <a:latin typeface="Times New Roman"/>
                <a:cs typeface="Times New Roman"/>
              </a:rPr>
              <a:t>Progress Summary Updated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5007" y="6579693"/>
            <a:ext cx="6395085" cy="20320"/>
            <a:chOff x="808990" y="4151629"/>
            <a:chExt cx="6395085" cy="20320"/>
          </a:xfrm>
        </p:grpSpPr>
        <p:sp>
          <p:nvSpPr>
            <p:cNvPr id="20" name="object 20"/>
            <p:cNvSpPr/>
            <p:nvPr/>
          </p:nvSpPr>
          <p:spPr>
            <a:xfrm>
              <a:off x="808990" y="415162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00899" y="41520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9548" y="4152022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0899" y="41550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548" y="416877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9548" y="4168786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60412" y="6662119"/>
            <a:ext cx="592899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9.</a:t>
            </a:r>
            <a:r>
              <a:rPr sz="1400" b="1" spc="-3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Implementation</a:t>
            </a:r>
            <a:r>
              <a:rPr sz="1400" b="1" spc="-4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Approach</a:t>
            </a:r>
            <a:endParaRPr sz="1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160"/>
              </a:spcBef>
            </a:pPr>
            <a:r>
              <a:rPr lang="en-US" sz="1100" i="1" dirty="0">
                <a:latin typeface="Times New Roman"/>
                <a:cs typeface="Times New Roman"/>
              </a:rPr>
              <a:t>The application will be developed using HTML for structure, CSS for styling, and JavaScript for functionality. Activities will be displayed on the page and users can update their status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1831" y="7616478"/>
            <a:ext cx="6395085" cy="20320"/>
            <a:chOff x="808990" y="5210809"/>
            <a:chExt cx="6395085" cy="20320"/>
          </a:xfrm>
        </p:grpSpPr>
        <p:sp>
          <p:nvSpPr>
            <p:cNvPr id="28" name="object 28"/>
            <p:cNvSpPr/>
            <p:nvPr/>
          </p:nvSpPr>
          <p:spPr>
            <a:xfrm>
              <a:off x="808990" y="521080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00899" y="52111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9548" y="5211203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00899" y="521423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548" y="522795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9548" y="5227967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0412" y="7811043"/>
            <a:ext cx="549338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10.</a:t>
            </a:r>
            <a:r>
              <a:rPr sz="1400" b="1" spc="-3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Expected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Outcome</a:t>
            </a:r>
            <a:endParaRPr sz="1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160"/>
              </a:spcBef>
            </a:pPr>
            <a:r>
              <a:rPr lang="en-US" sz="1100" i="1" dirty="0">
                <a:latin typeface="Times New Roman"/>
                <a:cs typeface="Times New Roman"/>
              </a:rPr>
              <a:t>The final result will be a simple web application that allows students to track their learning activities and monitor their progress easily.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8655" y="8665170"/>
            <a:ext cx="6395085" cy="20955"/>
            <a:chOff x="808990" y="6269989"/>
            <a:chExt cx="6395085" cy="20955"/>
          </a:xfrm>
        </p:grpSpPr>
        <p:sp>
          <p:nvSpPr>
            <p:cNvPr id="36" name="object 36"/>
            <p:cNvSpPr/>
            <p:nvPr/>
          </p:nvSpPr>
          <p:spPr>
            <a:xfrm>
              <a:off x="808990" y="626998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5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00899" y="627062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9548" y="6270637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00899" y="627367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9548" y="62873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9548" y="6287388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38184" y="8818520"/>
            <a:ext cx="6329680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11.</a:t>
            </a:r>
            <a:r>
              <a:rPr sz="1400" b="1" spc="-4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Learning</a:t>
            </a:r>
            <a:r>
              <a:rPr sz="1400" b="1" spc="-3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Outcome</a:t>
            </a:r>
            <a:endParaRPr sz="1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160"/>
              </a:spcBef>
            </a:pPr>
            <a:r>
              <a:rPr sz="1100" i="1" dirty="0">
                <a:latin typeface="Times New Roman"/>
                <a:cs typeface="Times New Roman"/>
              </a:rPr>
              <a:t>(</a:t>
            </a:r>
            <a:r>
              <a:rPr lang="en-US" sz="1100" i="1" dirty="0">
                <a:latin typeface="Times New Roman"/>
                <a:cs typeface="Times New Roman"/>
              </a:rPr>
              <a:t>Through this project, students learn basic front-end development skills including UI design, CSS styling, JavaScript interactivity, and responsive web design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8179" y="9793212"/>
            <a:ext cx="6395085" cy="20955"/>
            <a:chOff x="808990" y="7329169"/>
            <a:chExt cx="6395085" cy="20955"/>
          </a:xfrm>
        </p:grpSpPr>
        <p:sp>
          <p:nvSpPr>
            <p:cNvPr id="44" name="object 44"/>
            <p:cNvSpPr/>
            <p:nvPr/>
          </p:nvSpPr>
          <p:spPr>
            <a:xfrm>
              <a:off x="808990" y="732916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4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00899" y="73298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09548" y="7329804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00899" y="73328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9548" y="73465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9548" y="7346581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B4F84-E3EE-A807-F3D0-27327887FED7}"/>
              </a:ext>
            </a:extLst>
          </p:cNvPr>
          <p:cNvSpPr txBox="1"/>
          <p:nvPr/>
        </p:nvSpPr>
        <p:spPr>
          <a:xfrm>
            <a:off x="431800" y="1082675"/>
            <a:ext cx="6391909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rgbClr val="3B78D7"/>
                </a:solidFill>
                <a:effectLst/>
                <a:uLnTx/>
                <a:uFillTx/>
                <a:latin typeface="Times New Roman"/>
                <a:cs typeface="Times New Roman"/>
              </a:rPr>
              <a:t>12. Conclusion:</a:t>
            </a:r>
          </a:p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 simple front-end application can help students manage their activities and improve productivity without requiring backend development</a:t>
            </a:r>
          </a:p>
        </p:txBody>
      </p:sp>
      <p:grpSp>
        <p:nvGrpSpPr>
          <p:cNvPr id="4" name="object 43">
            <a:extLst>
              <a:ext uri="{FF2B5EF4-FFF2-40B4-BE49-F238E27FC236}">
                <a16:creationId xmlns:a16="http://schemas.microsoft.com/office/drawing/2014/main" id="{236BC97A-1392-9D6C-8793-8D3D5C86EDD4}"/>
              </a:ext>
            </a:extLst>
          </p:cNvPr>
          <p:cNvGrpSpPr/>
          <p:nvPr/>
        </p:nvGrpSpPr>
        <p:grpSpPr>
          <a:xfrm>
            <a:off x="431800" y="1997075"/>
            <a:ext cx="6395085" cy="20955"/>
            <a:chOff x="808990" y="7329169"/>
            <a:chExt cx="6395085" cy="20955"/>
          </a:xfrm>
        </p:grpSpPr>
        <p:sp>
          <p:nvSpPr>
            <p:cNvPr id="5" name="object 44">
              <a:extLst>
                <a:ext uri="{FF2B5EF4-FFF2-40B4-BE49-F238E27FC236}">
                  <a16:creationId xmlns:a16="http://schemas.microsoft.com/office/drawing/2014/main" id="{0D4149AD-0BE4-1A6C-D3C7-DBC5D5A43679}"/>
                </a:ext>
              </a:extLst>
            </p:cNvPr>
            <p:cNvSpPr/>
            <p:nvPr/>
          </p:nvSpPr>
          <p:spPr>
            <a:xfrm>
              <a:off x="808990" y="7329169"/>
              <a:ext cx="6393180" cy="19685"/>
            </a:xfrm>
            <a:custGeom>
              <a:avLst/>
              <a:gdLst/>
              <a:ahLst/>
              <a:cxnLst/>
              <a:rect l="l" t="t" r="r" b="b"/>
              <a:pathLst>
                <a:path w="6393180" h="19684">
                  <a:moveTo>
                    <a:pt x="639318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3180" y="19685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6" name="object 45">
              <a:extLst>
                <a:ext uri="{FF2B5EF4-FFF2-40B4-BE49-F238E27FC236}">
                  <a16:creationId xmlns:a16="http://schemas.microsoft.com/office/drawing/2014/main" id="{7FF7F3C0-C60A-0B31-330C-18E09247CFB2}"/>
                </a:ext>
              </a:extLst>
            </p:cNvPr>
            <p:cNvSpPr/>
            <p:nvPr/>
          </p:nvSpPr>
          <p:spPr>
            <a:xfrm>
              <a:off x="7200899" y="73298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7" name="object 46">
              <a:extLst>
                <a:ext uri="{FF2B5EF4-FFF2-40B4-BE49-F238E27FC236}">
                  <a16:creationId xmlns:a16="http://schemas.microsoft.com/office/drawing/2014/main" id="{B09935A1-4E86-277A-3F8A-9750CF43D956}"/>
                </a:ext>
              </a:extLst>
            </p:cNvPr>
            <p:cNvSpPr/>
            <p:nvPr/>
          </p:nvSpPr>
          <p:spPr>
            <a:xfrm>
              <a:off x="809548" y="7329804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8" name="object 47">
              <a:extLst>
                <a:ext uri="{FF2B5EF4-FFF2-40B4-BE49-F238E27FC236}">
                  <a16:creationId xmlns:a16="http://schemas.microsoft.com/office/drawing/2014/main" id="{3E9B7570-9BA9-A2CA-BEF0-6C9673C57B3A}"/>
                </a:ext>
              </a:extLst>
            </p:cNvPr>
            <p:cNvSpPr/>
            <p:nvPr/>
          </p:nvSpPr>
          <p:spPr>
            <a:xfrm>
              <a:off x="7200899" y="73328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9" name="object 48">
              <a:extLst>
                <a:ext uri="{FF2B5EF4-FFF2-40B4-BE49-F238E27FC236}">
                  <a16:creationId xmlns:a16="http://schemas.microsoft.com/office/drawing/2014/main" id="{4CB593D6-C55E-F30C-F52A-880280685C42}"/>
                </a:ext>
              </a:extLst>
            </p:cNvPr>
            <p:cNvSpPr/>
            <p:nvPr/>
          </p:nvSpPr>
          <p:spPr>
            <a:xfrm>
              <a:off x="809548" y="73465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10" name="object 49">
              <a:extLst>
                <a:ext uri="{FF2B5EF4-FFF2-40B4-BE49-F238E27FC236}">
                  <a16:creationId xmlns:a16="http://schemas.microsoft.com/office/drawing/2014/main" id="{1D822701-7359-4D4B-2779-58719A0B5421}"/>
                </a:ext>
              </a:extLst>
            </p:cNvPr>
            <p:cNvSpPr/>
            <p:nvPr/>
          </p:nvSpPr>
          <p:spPr>
            <a:xfrm>
              <a:off x="809548" y="7346581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32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579</Words>
  <Application>Microsoft Office PowerPoint</Application>
  <PresentationFormat>Custom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Senthur Siva Sakthivel C</dc:creator>
  <cp:lastModifiedBy>S0805844</cp:lastModifiedBy>
  <cp:revision>2</cp:revision>
  <dcterms:created xsi:type="dcterms:W3CDTF">2026-03-15T14:41:58Z</dcterms:created>
  <dcterms:modified xsi:type="dcterms:W3CDTF">2026-03-16T16:05:30Z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2026-02-19T00:00:00Z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2026-03-15T00:00:00Z</vt:filetime>
  </property>
  <property fmtid="{D5CDD505-2E9C-101B-9397-08002B2CF9AE}" pid="5" name="Producer">
    <vt:lpwstr>3-Heights(TM) PDF Security Shell 4.8.25.2 (http://www.pdf-tools.com)</vt:lpwstr>
  </property>
</Properties>
</file>