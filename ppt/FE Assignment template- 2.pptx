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Lst>
  <p:sldSz cx="7569200" cy="10699750"/>
  <p:notesSz cx="7569200" cy="106997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p:restoredLeft sz="4926" autoAdjust="0"/>
    <p:restoredTop sz="94660"/>
  </p:normalViewPr>
  <p:slideViewPr>
    <p:cSldViewPr>
      <p:cViewPr>
        <p:scale>
          <a:sx n="89" d="100"/>
          <a:sy n="89" d="100"/>
        </p:scale>
        <p:origin x="2418" y="-2322"/>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67690" y="3316922"/>
            <a:ext cx="6433820" cy="2246947"/>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135380" y="5991860"/>
            <a:ext cx="5298440" cy="2674937"/>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3/10/2026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3/10/2026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sz="half" idx="2"/>
          </p:nvPr>
        </p:nvSpPr>
        <p:spPr>
          <a:xfrm>
            <a:off x="378460" y="2460942"/>
            <a:ext cx="3292602" cy="7061835"/>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898138" y="2460942"/>
            <a:ext cx="3292602" cy="7061835"/>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3/10/2026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3/10/2026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3/10/2026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78460" y="427990"/>
            <a:ext cx="6812280" cy="171196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body" idx="1"/>
          </p:nvPr>
        </p:nvSpPr>
        <p:spPr>
          <a:xfrm>
            <a:off x="378460" y="2460942"/>
            <a:ext cx="6812280" cy="7061835"/>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573528" y="9950768"/>
            <a:ext cx="2422144" cy="534987"/>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78460" y="9950768"/>
            <a:ext cx="1740916" cy="534987"/>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3/10/2026</a:t>
            </a:fld>
            <a:endParaRPr lang="en-US"/>
          </a:p>
        </p:txBody>
      </p:sp>
      <p:sp>
        <p:nvSpPr>
          <p:cNvPr id="6" name="Holder 6"/>
          <p:cNvSpPr>
            <a:spLocks noGrp="1"/>
          </p:cNvSpPr>
          <p:nvPr>
            <p:ph type="sldNum" sz="quarter" idx="7"/>
          </p:nvPr>
        </p:nvSpPr>
        <p:spPr>
          <a:xfrm>
            <a:off x="5449824" y="9950768"/>
            <a:ext cx="1740916" cy="534987"/>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5.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5.xml"/><Relationship Id="rId5" Type="http://schemas.openxmlformats.org/officeDocument/2006/relationships/image" Target="../media/image1.png"/><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3.png"/><Relationship Id="rId1" Type="http://schemas.openxmlformats.org/officeDocument/2006/relationships/slideLayout" Target="../slideLayouts/slideLayout5.xml"/><Relationship Id="rId5" Type="http://schemas.openxmlformats.org/officeDocument/2006/relationships/image" Target="../media/image1.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5.xml"/><Relationship Id="rId5" Type="http://schemas.openxmlformats.org/officeDocument/2006/relationships/image" Target="../media/image1.png"/><Relationship Id="rId4"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801369" y="5085714"/>
            <a:ext cx="6402705" cy="20320"/>
            <a:chOff x="801369" y="5085714"/>
            <a:chExt cx="6402705" cy="20320"/>
          </a:xfrm>
        </p:grpSpPr>
        <p:sp>
          <p:nvSpPr>
            <p:cNvPr id="3" name="object 3"/>
            <p:cNvSpPr/>
            <p:nvPr/>
          </p:nvSpPr>
          <p:spPr>
            <a:xfrm>
              <a:off x="801370" y="5085714"/>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4" name="object 4"/>
            <p:cNvSpPr/>
            <p:nvPr/>
          </p:nvSpPr>
          <p:spPr>
            <a:xfrm>
              <a:off x="7200899" y="5086222"/>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5" name="object 5"/>
            <p:cNvSpPr/>
            <p:nvPr/>
          </p:nvSpPr>
          <p:spPr>
            <a:xfrm>
              <a:off x="801928" y="5086235"/>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6" name="object 6"/>
            <p:cNvSpPr/>
            <p:nvPr/>
          </p:nvSpPr>
          <p:spPr>
            <a:xfrm>
              <a:off x="7200899" y="5089270"/>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7" name="object 7"/>
            <p:cNvSpPr/>
            <p:nvPr/>
          </p:nvSpPr>
          <p:spPr>
            <a:xfrm>
              <a:off x="801928" y="5102986"/>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8" name="object 8"/>
            <p:cNvSpPr/>
            <p:nvPr/>
          </p:nvSpPr>
          <p:spPr>
            <a:xfrm>
              <a:off x="801928" y="5102999"/>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9" name="object 9"/>
          <p:cNvSpPr txBox="1"/>
          <p:nvPr/>
        </p:nvSpPr>
        <p:spPr>
          <a:xfrm>
            <a:off x="761796" y="1150365"/>
            <a:ext cx="6435090" cy="5064848"/>
          </a:xfrm>
          <a:prstGeom prst="rect">
            <a:avLst/>
          </a:prstGeom>
        </p:spPr>
        <p:txBody>
          <a:bodyPr vert="horz" wrap="square" lIns="0" tIns="12065" rIns="0" bIns="0" rtlCol="0">
            <a:spAutoFit/>
          </a:bodyPr>
          <a:lstStyle/>
          <a:p>
            <a:pPr marR="210185" algn="ctr">
              <a:lnSpc>
                <a:spcPct val="100000"/>
              </a:lnSpc>
              <a:spcBef>
                <a:spcPts val="95"/>
              </a:spcBef>
            </a:pPr>
            <a:r>
              <a:rPr sz="1600" b="1" spc="-20" dirty="0">
                <a:latin typeface="Times New Roman"/>
                <a:cs typeface="Times New Roman"/>
              </a:rPr>
              <a:t>FRONT-</a:t>
            </a:r>
            <a:r>
              <a:rPr sz="1600" b="1" dirty="0">
                <a:latin typeface="Times New Roman"/>
                <a:cs typeface="Times New Roman"/>
              </a:rPr>
              <a:t>END</a:t>
            </a:r>
            <a:r>
              <a:rPr sz="1600" b="1" spc="50" dirty="0">
                <a:latin typeface="Times New Roman"/>
                <a:cs typeface="Times New Roman"/>
              </a:rPr>
              <a:t> </a:t>
            </a:r>
            <a:r>
              <a:rPr sz="1600" b="1" spc="-10" dirty="0">
                <a:latin typeface="Times New Roman"/>
                <a:cs typeface="Times New Roman"/>
              </a:rPr>
              <a:t>DEVELOPMENT</a:t>
            </a:r>
            <a:endParaRPr sz="1600" dirty="0">
              <a:latin typeface="Times New Roman"/>
              <a:cs typeface="Times New Roman"/>
            </a:endParaRPr>
          </a:p>
          <a:p>
            <a:pPr>
              <a:lnSpc>
                <a:spcPct val="100000"/>
              </a:lnSpc>
              <a:spcBef>
                <a:spcPts val="165"/>
              </a:spcBef>
            </a:pPr>
            <a:endParaRPr sz="1600" dirty="0">
              <a:latin typeface="Times New Roman"/>
              <a:cs typeface="Times New Roman"/>
            </a:endParaRPr>
          </a:p>
          <a:p>
            <a:pPr marR="211454" algn="ctr">
              <a:lnSpc>
                <a:spcPct val="100000"/>
              </a:lnSpc>
            </a:pPr>
            <a:r>
              <a:rPr sz="1600" b="1" dirty="0">
                <a:latin typeface="Times New Roman"/>
                <a:cs typeface="Times New Roman"/>
              </a:rPr>
              <a:t>ASSIGNMENT</a:t>
            </a:r>
            <a:r>
              <a:rPr sz="1600" b="1" spc="-40" dirty="0">
                <a:latin typeface="Times New Roman"/>
                <a:cs typeface="Times New Roman"/>
              </a:rPr>
              <a:t> </a:t>
            </a:r>
            <a:r>
              <a:rPr sz="1600" b="1" dirty="0">
                <a:latin typeface="Times New Roman"/>
                <a:cs typeface="Times New Roman"/>
              </a:rPr>
              <a:t>2</a:t>
            </a:r>
            <a:r>
              <a:rPr sz="1600" b="1" spc="-30" dirty="0">
                <a:latin typeface="Times New Roman"/>
                <a:cs typeface="Times New Roman"/>
              </a:rPr>
              <a:t> </a:t>
            </a:r>
            <a:r>
              <a:rPr sz="1600" b="1" spc="-10" dirty="0">
                <a:latin typeface="Times New Roman"/>
                <a:cs typeface="Times New Roman"/>
              </a:rPr>
              <a:t>TEMPLATE</a:t>
            </a:r>
            <a:endParaRPr sz="1600" dirty="0">
              <a:latin typeface="Times New Roman"/>
              <a:cs typeface="Times New Roman"/>
            </a:endParaRPr>
          </a:p>
          <a:p>
            <a:pPr>
              <a:lnSpc>
                <a:spcPct val="100000"/>
              </a:lnSpc>
              <a:spcBef>
                <a:spcPts val="670"/>
              </a:spcBef>
            </a:pPr>
            <a:endParaRPr sz="1600" dirty="0">
              <a:latin typeface="Times New Roman"/>
              <a:cs typeface="Times New Roman"/>
            </a:endParaRPr>
          </a:p>
          <a:p>
            <a:pPr marL="332105">
              <a:lnSpc>
                <a:spcPct val="100000"/>
              </a:lnSpc>
            </a:pPr>
            <a:r>
              <a:rPr sz="1200" b="1" dirty="0">
                <a:latin typeface="Times New Roman"/>
                <a:cs typeface="Times New Roman"/>
              </a:rPr>
              <a:t>STUDENT</a:t>
            </a:r>
            <a:r>
              <a:rPr sz="1200" b="1" spc="-10" dirty="0">
                <a:latin typeface="Times New Roman"/>
                <a:cs typeface="Times New Roman"/>
              </a:rPr>
              <a:t> NAME:</a:t>
            </a:r>
            <a:r>
              <a:rPr lang="en-US" sz="1200" b="1" spc="-10" dirty="0">
                <a:latin typeface="Times New Roman"/>
                <a:cs typeface="Times New Roman"/>
              </a:rPr>
              <a:t> Hariharan S</a:t>
            </a:r>
            <a:endParaRPr sz="1200" dirty="0">
              <a:latin typeface="Times New Roman"/>
              <a:cs typeface="Times New Roman"/>
            </a:endParaRPr>
          </a:p>
          <a:p>
            <a:pPr marL="332105">
              <a:lnSpc>
                <a:spcPct val="100000"/>
              </a:lnSpc>
              <a:spcBef>
                <a:spcPts val="635"/>
              </a:spcBef>
            </a:pPr>
            <a:r>
              <a:rPr sz="1200" b="1" spc="-10" dirty="0">
                <a:latin typeface="Times New Roman"/>
                <a:cs typeface="Times New Roman"/>
              </a:rPr>
              <a:t>YEAR:</a:t>
            </a:r>
            <a:r>
              <a:rPr lang="en-US" sz="1200" b="1" spc="-10" dirty="0">
                <a:latin typeface="Times New Roman"/>
                <a:cs typeface="Times New Roman"/>
              </a:rPr>
              <a:t> II</a:t>
            </a:r>
            <a:endParaRPr sz="1200" dirty="0">
              <a:latin typeface="Times New Roman"/>
              <a:cs typeface="Times New Roman"/>
            </a:endParaRPr>
          </a:p>
          <a:p>
            <a:pPr marL="332105">
              <a:lnSpc>
                <a:spcPct val="100000"/>
              </a:lnSpc>
              <a:spcBef>
                <a:spcPts val="640"/>
              </a:spcBef>
            </a:pPr>
            <a:r>
              <a:rPr sz="1200" b="1" dirty="0">
                <a:latin typeface="Times New Roman"/>
                <a:cs typeface="Times New Roman"/>
              </a:rPr>
              <a:t>COLLEGE</a:t>
            </a:r>
            <a:r>
              <a:rPr sz="1200" b="1" spc="-20" dirty="0">
                <a:latin typeface="Times New Roman"/>
                <a:cs typeface="Times New Roman"/>
              </a:rPr>
              <a:t> </a:t>
            </a:r>
            <a:r>
              <a:rPr sz="1200" b="1" spc="-10" dirty="0">
                <a:latin typeface="Times New Roman"/>
                <a:cs typeface="Times New Roman"/>
              </a:rPr>
              <a:t>CODE:</a:t>
            </a:r>
            <a:r>
              <a:rPr lang="en-US" sz="1200" b="1" spc="-10" dirty="0">
                <a:latin typeface="Times New Roman"/>
                <a:cs typeface="Times New Roman"/>
              </a:rPr>
              <a:t> 1455</a:t>
            </a:r>
            <a:endParaRPr sz="1200" dirty="0">
              <a:latin typeface="Times New Roman"/>
              <a:cs typeface="Times New Roman"/>
            </a:endParaRPr>
          </a:p>
          <a:p>
            <a:pPr marL="332105">
              <a:lnSpc>
                <a:spcPct val="100000"/>
              </a:lnSpc>
              <a:spcBef>
                <a:spcPts val="635"/>
              </a:spcBef>
            </a:pPr>
            <a:r>
              <a:rPr sz="1200" b="1" dirty="0">
                <a:latin typeface="Times New Roman"/>
                <a:cs typeface="Times New Roman"/>
              </a:rPr>
              <a:t>COLLEGE</a:t>
            </a:r>
            <a:r>
              <a:rPr sz="1200" b="1" spc="-20" dirty="0">
                <a:latin typeface="Times New Roman"/>
                <a:cs typeface="Times New Roman"/>
              </a:rPr>
              <a:t> NAME:</a:t>
            </a:r>
            <a:r>
              <a:rPr lang="en-US" sz="1200" b="1" spc="-20" dirty="0">
                <a:latin typeface="Times New Roman"/>
                <a:cs typeface="Times New Roman"/>
              </a:rPr>
              <a:t> Tagore College of Arts and Science .</a:t>
            </a:r>
            <a:endParaRPr sz="1200" dirty="0">
              <a:latin typeface="Times New Roman"/>
              <a:cs typeface="Times New Roman"/>
            </a:endParaRPr>
          </a:p>
          <a:p>
            <a:pPr marL="332105">
              <a:lnSpc>
                <a:spcPct val="100000"/>
              </a:lnSpc>
              <a:spcBef>
                <a:spcPts val="650"/>
              </a:spcBef>
            </a:pPr>
            <a:r>
              <a:rPr sz="1200" b="1" spc="-10" dirty="0">
                <a:latin typeface="Times New Roman"/>
                <a:cs typeface="Times New Roman"/>
              </a:rPr>
              <a:t>DEPARTMENT:</a:t>
            </a:r>
            <a:r>
              <a:rPr lang="en-US" sz="1200" b="1" spc="-10" dirty="0">
                <a:latin typeface="Times New Roman"/>
                <a:cs typeface="Times New Roman"/>
              </a:rPr>
              <a:t> Computer Science</a:t>
            </a:r>
            <a:endParaRPr sz="1200" dirty="0">
              <a:latin typeface="Times New Roman"/>
              <a:cs typeface="Times New Roman"/>
            </a:endParaRPr>
          </a:p>
          <a:p>
            <a:pPr marL="332105">
              <a:lnSpc>
                <a:spcPct val="100000"/>
              </a:lnSpc>
              <a:spcBef>
                <a:spcPts val="925"/>
              </a:spcBef>
            </a:pPr>
            <a:r>
              <a:rPr sz="1200" b="1" spc="-10" dirty="0">
                <a:latin typeface="Times New Roman"/>
                <a:cs typeface="Times New Roman"/>
              </a:rPr>
              <a:t>SEMESTER:</a:t>
            </a:r>
            <a:r>
              <a:rPr lang="en-US" sz="1200" b="1" spc="-10" dirty="0">
                <a:latin typeface="Times New Roman"/>
                <a:cs typeface="Times New Roman"/>
              </a:rPr>
              <a:t> IV</a:t>
            </a:r>
            <a:endParaRPr sz="1200" dirty="0">
              <a:latin typeface="Times New Roman"/>
              <a:cs typeface="Times New Roman"/>
            </a:endParaRPr>
          </a:p>
          <a:p>
            <a:pPr marL="332105">
              <a:lnSpc>
                <a:spcPct val="100000"/>
              </a:lnSpc>
              <a:spcBef>
                <a:spcPts val="935"/>
              </a:spcBef>
            </a:pPr>
            <a:r>
              <a:rPr sz="1200" b="1" dirty="0">
                <a:latin typeface="Times New Roman"/>
                <a:cs typeface="Times New Roman"/>
              </a:rPr>
              <a:t>ROLL </a:t>
            </a:r>
            <a:r>
              <a:rPr sz="1200" b="1" spc="-25" dirty="0">
                <a:latin typeface="Times New Roman"/>
                <a:cs typeface="Times New Roman"/>
              </a:rPr>
              <a:t>NO:</a:t>
            </a:r>
            <a:r>
              <a:rPr lang="en-US" sz="1200" b="1" spc="-25" dirty="0">
                <a:latin typeface="Times New Roman"/>
                <a:cs typeface="Times New Roman"/>
              </a:rPr>
              <a:t> 222407723</a:t>
            </a:r>
            <a:endParaRPr sz="1200" dirty="0">
              <a:latin typeface="Times New Roman"/>
              <a:cs typeface="Times New Roman"/>
            </a:endParaRPr>
          </a:p>
          <a:p>
            <a:pPr marL="332105">
              <a:lnSpc>
                <a:spcPct val="100000"/>
              </a:lnSpc>
              <a:spcBef>
                <a:spcPts val="625"/>
              </a:spcBef>
            </a:pPr>
            <a:r>
              <a:rPr sz="1200" b="1" spc="-10" dirty="0">
                <a:latin typeface="Times New Roman"/>
                <a:cs typeface="Times New Roman"/>
              </a:rPr>
              <a:t>NMID:</a:t>
            </a:r>
            <a:r>
              <a:rPr lang="en-US" sz="1200" b="1" spc="-10" dirty="0">
                <a:latin typeface="Times New Roman"/>
                <a:cs typeface="Times New Roman"/>
              </a:rPr>
              <a:t> </a:t>
            </a:r>
            <a:r>
              <a:rPr lang="en-IN" sz="1200" b="1" spc="-10" dirty="0">
                <a:latin typeface="Times New Roman"/>
                <a:cs typeface="Times New Roman"/>
              </a:rPr>
              <a:t>614D89761591EB584744FC4BCEE6FE5F</a:t>
            </a:r>
            <a:endParaRPr sz="1200" dirty="0">
              <a:latin typeface="Times New Roman"/>
              <a:cs typeface="Times New Roman"/>
            </a:endParaRPr>
          </a:p>
          <a:p>
            <a:pPr marL="332105">
              <a:lnSpc>
                <a:spcPct val="100000"/>
              </a:lnSpc>
              <a:spcBef>
                <a:spcPts val="635"/>
              </a:spcBef>
            </a:pPr>
            <a:r>
              <a:rPr sz="1200" b="1" spc="-10" dirty="0">
                <a:latin typeface="Times New Roman"/>
                <a:cs typeface="Times New Roman"/>
              </a:rPr>
              <a:t>DATE:</a:t>
            </a:r>
            <a:r>
              <a:rPr lang="en-US" sz="1200" b="1" spc="-10" dirty="0">
                <a:latin typeface="Times New Roman"/>
                <a:cs typeface="Times New Roman"/>
              </a:rPr>
              <a:t> 06/03/2026</a:t>
            </a:r>
            <a:endParaRPr sz="1200" dirty="0">
              <a:latin typeface="Times New Roman"/>
              <a:cs typeface="Times New Roman"/>
            </a:endParaRPr>
          </a:p>
          <a:p>
            <a:pPr marL="332105">
              <a:lnSpc>
                <a:spcPct val="100000"/>
              </a:lnSpc>
              <a:spcBef>
                <a:spcPts val="625"/>
              </a:spcBef>
            </a:pPr>
            <a:r>
              <a:rPr sz="1200" b="1" dirty="0">
                <a:latin typeface="Times New Roman"/>
                <a:cs typeface="Times New Roman"/>
              </a:rPr>
              <a:t>PROJECT</a:t>
            </a:r>
            <a:r>
              <a:rPr sz="1200" b="1" spc="-50" dirty="0">
                <a:latin typeface="Times New Roman"/>
                <a:cs typeface="Times New Roman"/>
              </a:rPr>
              <a:t> </a:t>
            </a:r>
            <a:r>
              <a:rPr sz="1200" b="1" spc="-10" dirty="0">
                <a:latin typeface="Times New Roman"/>
                <a:cs typeface="Times New Roman"/>
              </a:rPr>
              <a:t>TITLE:</a:t>
            </a:r>
            <a:endParaRPr sz="1200" dirty="0">
              <a:latin typeface="Times New Roman"/>
              <a:cs typeface="Times New Roman"/>
            </a:endParaRPr>
          </a:p>
          <a:p>
            <a:pPr>
              <a:lnSpc>
                <a:spcPct val="100000"/>
              </a:lnSpc>
              <a:spcBef>
                <a:spcPts val="770"/>
              </a:spcBef>
            </a:pPr>
            <a:endParaRPr sz="1200" dirty="0">
              <a:latin typeface="Times New Roman"/>
              <a:cs typeface="Times New Roman"/>
            </a:endParaRPr>
          </a:p>
          <a:p>
            <a:pPr marL="12700">
              <a:lnSpc>
                <a:spcPct val="100000"/>
              </a:lnSpc>
            </a:pPr>
            <a:r>
              <a:rPr sz="1500" b="1" dirty="0">
                <a:solidFill>
                  <a:srgbClr val="3B78D7"/>
                </a:solidFill>
                <a:latin typeface="Times New Roman"/>
                <a:cs typeface="Times New Roman"/>
              </a:rPr>
              <a:t>1.</a:t>
            </a:r>
            <a:r>
              <a:rPr sz="1500" b="1" spc="-25" dirty="0">
                <a:solidFill>
                  <a:srgbClr val="3B78D7"/>
                </a:solidFill>
                <a:latin typeface="Times New Roman"/>
                <a:cs typeface="Times New Roman"/>
              </a:rPr>
              <a:t> </a:t>
            </a:r>
            <a:r>
              <a:rPr sz="1500" b="1" dirty="0">
                <a:solidFill>
                  <a:srgbClr val="3B78D7"/>
                </a:solidFill>
                <a:latin typeface="Times New Roman"/>
                <a:cs typeface="Times New Roman"/>
              </a:rPr>
              <a:t>Problem</a:t>
            </a:r>
            <a:r>
              <a:rPr sz="1500" b="1" spc="-20" dirty="0">
                <a:solidFill>
                  <a:srgbClr val="3B78D7"/>
                </a:solidFill>
                <a:latin typeface="Times New Roman"/>
                <a:cs typeface="Times New Roman"/>
              </a:rPr>
              <a:t> </a:t>
            </a:r>
            <a:r>
              <a:rPr sz="1500" b="1" spc="-10" dirty="0">
                <a:solidFill>
                  <a:srgbClr val="3B78D7"/>
                </a:solidFill>
                <a:latin typeface="Times New Roman"/>
                <a:cs typeface="Times New Roman"/>
              </a:rPr>
              <a:t>Statement:</a:t>
            </a:r>
            <a:endParaRPr lang="en-US" sz="1500" b="1" spc="-10" dirty="0">
              <a:solidFill>
                <a:srgbClr val="3B78D7"/>
              </a:solidFill>
              <a:latin typeface="Times New Roman"/>
              <a:cs typeface="Times New Roman"/>
            </a:endParaRPr>
          </a:p>
          <a:p>
            <a:pPr marL="137160" marR="5080">
              <a:lnSpc>
                <a:spcPts val="1380"/>
              </a:lnSpc>
              <a:spcBef>
                <a:spcPts val="840"/>
              </a:spcBef>
            </a:pPr>
            <a:r>
              <a:rPr lang="en-US" sz="1300" dirty="0">
                <a:latin typeface="Times New Roman"/>
                <a:cs typeface="Times New Roman"/>
              </a:rPr>
              <a:t>The goal is to improve the simple registration page I built in Assignment-1. While the structure was there, it didn't look like a real website. This update uses CSS to fix the layout, add professional spacing, and make it easier for students to read the event details and fill out the form without it feeling cluttered.</a:t>
            </a:r>
          </a:p>
        </p:txBody>
      </p:sp>
      <p:grpSp>
        <p:nvGrpSpPr>
          <p:cNvPr id="10" name="object 10"/>
          <p:cNvGrpSpPr/>
          <p:nvPr/>
        </p:nvGrpSpPr>
        <p:grpSpPr>
          <a:xfrm>
            <a:off x="808913" y="6246685"/>
            <a:ext cx="6395085" cy="20955"/>
            <a:chOff x="808990" y="6028689"/>
            <a:chExt cx="6395085" cy="20955"/>
          </a:xfrm>
        </p:grpSpPr>
        <p:sp>
          <p:nvSpPr>
            <p:cNvPr id="11" name="object 11"/>
            <p:cNvSpPr/>
            <p:nvPr/>
          </p:nvSpPr>
          <p:spPr>
            <a:xfrm>
              <a:off x="808990" y="6028689"/>
              <a:ext cx="6393180" cy="20320"/>
            </a:xfrm>
            <a:custGeom>
              <a:avLst/>
              <a:gdLst/>
              <a:ahLst/>
              <a:cxnLst/>
              <a:rect l="l" t="t" r="r" b="b"/>
              <a:pathLst>
                <a:path w="6393180" h="20320">
                  <a:moveTo>
                    <a:pt x="6393180" y="0"/>
                  </a:moveTo>
                  <a:lnTo>
                    <a:pt x="0" y="0"/>
                  </a:lnTo>
                  <a:lnTo>
                    <a:pt x="0" y="20320"/>
                  </a:lnTo>
                  <a:lnTo>
                    <a:pt x="6393180" y="20320"/>
                  </a:lnTo>
                  <a:lnTo>
                    <a:pt x="6393180" y="0"/>
                  </a:lnTo>
                  <a:close/>
                </a:path>
              </a:pathLst>
            </a:custGeom>
            <a:solidFill>
              <a:srgbClr val="9F9F9F"/>
            </a:solidFill>
          </p:spPr>
          <p:txBody>
            <a:bodyPr wrap="square" lIns="0" tIns="0" rIns="0" bIns="0" rtlCol="0"/>
            <a:lstStyle/>
            <a:p>
              <a:endParaRPr/>
            </a:p>
          </p:txBody>
        </p:sp>
        <p:sp>
          <p:nvSpPr>
            <p:cNvPr id="12" name="object 12"/>
            <p:cNvSpPr/>
            <p:nvPr/>
          </p:nvSpPr>
          <p:spPr>
            <a:xfrm>
              <a:off x="7200899" y="6029832"/>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13" name="object 13"/>
            <p:cNvSpPr/>
            <p:nvPr/>
          </p:nvSpPr>
          <p:spPr>
            <a:xfrm>
              <a:off x="809548" y="6029832"/>
              <a:ext cx="6394450" cy="17145"/>
            </a:xfrm>
            <a:custGeom>
              <a:avLst/>
              <a:gdLst/>
              <a:ahLst/>
              <a:cxnLst/>
              <a:rect l="l" t="t" r="r" b="b"/>
              <a:pathLst>
                <a:path w="6394450" h="17145">
                  <a:moveTo>
                    <a:pt x="3048" y="3048"/>
                  </a:moveTo>
                  <a:lnTo>
                    <a:pt x="0" y="3048"/>
                  </a:lnTo>
                  <a:lnTo>
                    <a:pt x="0" y="16764"/>
                  </a:lnTo>
                  <a:lnTo>
                    <a:pt x="3048" y="16764"/>
                  </a:lnTo>
                  <a:lnTo>
                    <a:pt x="3048" y="3048"/>
                  </a:lnTo>
                  <a:close/>
                </a:path>
                <a:path w="6394450" h="17145">
                  <a:moveTo>
                    <a:pt x="6394386" y="0"/>
                  </a:moveTo>
                  <a:lnTo>
                    <a:pt x="6391351" y="0"/>
                  </a:lnTo>
                  <a:lnTo>
                    <a:pt x="6391351" y="3048"/>
                  </a:lnTo>
                  <a:lnTo>
                    <a:pt x="6394386" y="3048"/>
                  </a:lnTo>
                  <a:lnTo>
                    <a:pt x="6394386" y="0"/>
                  </a:lnTo>
                  <a:close/>
                </a:path>
              </a:pathLst>
            </a:custGeom>
            <a:solidFill>
              <a:srgbClr val="9F9F9F"/>
            </a:solidFill>
          </p:spPr>
          <p:txBody>
            <a:bodyPr wrap="square" lIns="0" tIns="0" rIns="0" bIns="0" rtlCol="0"/>
            <a:lstStyle/>
            <a:p>
              <a:endParaRPr/>
            </a:p>
          </p:txBody>
        </p:sp>
        <p:sp>
          <p:nvSpPr>
            <p:cNvPr id="14" name="object 14"/>
            <p:cNvSpPr/>
            <p:nvPr/>
          </p:nvSpPr>
          <p:spPr>
            <a:xfrm>
              <a:off x="7200899" y="6032880"/>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15" name="object 15"/>
            <p:cNvSpPr/>
            <p:nvPr/>
          </p:nvSpPr>
          <p:spPr>
            <a:xfrm>
              <a:off x="809548" y="6046596"/>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16" name="object 16"/>
            <p:cNvSpPr/>
            <p:nvPr/>
          </p:nvSpPr>
          <p:spPr>
            <a:xfrm>
              <a:off x="809548" y="6046609"/>
              <a:ext cx="6394450" cy="3175"/>
            </a:xfrm>
            <a:custGeom>
              <a:avLst/>
              <a:gdLst/>
              <a:ahLst/>
              <a:cxnLst/>
              <a:rect l="l" t="t" r="r" b="b"/>
              <a:pathLst>
                <a:path w="6394450" h="3175">
                  <a:moveTo>
                    <a:pt x="6394386" y="0"/>
                  </a:moveTo>
                  <a:lnTo>
                    <a:pt x="6391402" y="0"/>
                  </a:lnTo>
                  <a:lnTo>
                    <a:pt x="3048" y="0"/>
                  </a:lnTo>
                  <a:lnTo>
                    <a:pt x="0" y="0"/>
                  </a:lnTo>
                  <a:lnTo>
                    <a:pt x="0" y="3035"/>
                  </a:lnTo>
                  <a:lnTo>
                    <a:pt x="3048" y="3035"/>
                  </a:lnTo>
                  <a:lnTo>
                    <a:pt x="6391351" y="3035"/>
                  </a:lnTo>
                  <a:lnTo>
                    <a:pt x="6394386" y="3035"/>
                  </a:lnTo>
                  <a:lnTo>
                    <a:pt x="6394386" y="0"/>
                  </a:lnTo>
                  <a:close/>
                </a:path>
              </a:pathLst>
            </a:custGeom>
            <a:solidFill>
              <a:srgbClr val="E2E2E2"/>
            </a:solidFill>
          </p:spPr>
          <p:txBody>
            <a:bodyPr wrap="square" lIns="0" tIns="0" rIns="0" bIns="0" rtlCol="0"/>
            <a:lstStyle/>
            <a:p>
              <a:endParaRPr/>
            </a:p>
          </p:txBody>
        </p:sp>
      </p:grpSp>
      <p:sp>
        <p:nvSpPr>
          <p:cNvPr id="17" name="object 17"/>
          <p:cNvSpPr txBox="1"/>
          <p:nvPr/>
        </p:nvSpPr>
        <p:spPr>
          <a:xfrm>
            <a:off x="806980" y="6346567"/>
            <a:ext cx="6289040" cy="911147"/>
          </a:xfrm>
          <a:prstGeom prst="rect">
            <a:avLst/>
          </a:prstGeom>
        </p:spPr>
        <p:txBody>
          <a:bodyPr vert="horz" wrap="square" lIns="0" tIns="13335" rIns="0" bIns="0" rtlCol="0">
            <a:spAutoFit/>
          </a:bodyPr>
          <a:lstStyle/>
          <a:p>
            <a:pPr marL="12700">
              <a:lnSpc>
                <a:spcPct val="100000"/>
              </a:lnSpc>
              <a:spcBef>
                <a:spcPts val="105"/>
              </a:spcBef>
            </a:pPr>
            <a:r>
              <a:rPr sz="1500" b="1" dirty="0">
                <a:solidFill>
                  <a:srgbClr val="3B78D7"/>
                </a:solidFill>
                <a:latin typeface="Times New Roman"/>
                <a:cs typeface="Times New Roman"/>
              </a:rPr>
              <a:t>2.</a:t>
            </a:r>
            <a:r>
              <a:rPr sz="1500" b="1" spc="-5" dirty="0">
                <a:solidFill>
                  <a:srgbClr val="3B78D7"/>
                </a:solidFill>
                <a:latin typeface="Times New Roman"/>
                <a:cs typeface="Times New Roman"/>
              </a:rPr>
              <a:t> </a:t>
            </a:r>
            <a:r>
              <a:rPr sz="1500" b="1" spc="-10" dirty="0">
                <a:solidFill>
                  <a:srgbClr val="3B78D7"/>
                </a:solidFill>
                <a:latin typeface="Times New Roman"/>
                <a:cs typeface="Times New Roman"/>
              </a:rPr>
              <a:t>Objective:</a:t>
            </a:r>
            <a:endParaRPr sz="1500" dirty="0">
              <a:latin typeface="Times New Roman"/>
              <a:cs typeface="Times New Roman"/>
            </a:endParaRPr>
          </a:p>
          <a:p>
            <a:pPr marL="12700" marR="5080">
              <a:lnSpc>
                <a:spcPts val="1380"/>
              </a:lnSpc>
              <a:spcBef>
                <a:spcPts val="1025"/>
              </a:spcBef>
            </a:pPr>
            <a:r>
              <a:rPr sz="1300" dirty="0">
                <a:latin typeface="Times New Roman"/>
                <a:cs typeface="Times New Roman"/>
              </a:rPr>
              <a:t>(</a:t>
            </a:r>
            <a:r>
              <a:rPr lang="en-US" sz="1300" dirty="0">
                <a:latin typeface="Times New Roman"/>
                <a:cs typeface="Times New Roman"/>
              </a:rPr>
              <a:t>My main objective is to move from "plain HTML" to a "Styled UI." I want to learn how to use the CSS Box Model (padding, margins, borders) to control where things sit on the page and use colors to make the form look like a modern card-style interface.</a:t>
            </a:r>
          </a:p>
        </p:txBody>
      </p:sp>
      <p:grpSp>
        <p:nvGrpSpPr>
          <p:cNvPr id="18" name="object 18"/>
          <p:cNvGrpSpPr/>
          <p:nvPr/>
        </p:nvGrpSpPr>
        <p:grpSpPr>
          <a:xfrm>
            <a:off x="801370" y="7328646"/>
            <a:ext cx="6402705" cy="20955"/>
            <a:chOff x="801369" y="7414259"/>
            <a:chExt cx="6402705" cy="20955"/>
          </a:xfrm>
        </p:grpSpPr>
        <p:sp>
          <p:nvSpPr>
            <p:cNvPr id="19" name="object 19"/>
            <p:cNvSpPr/>
            <p:nvPr/>
          </p:nvSpPr>
          <p:spPr>
            <a:xfrm>
              <a:off x="801370" y="7414259"/>
              <a:ext cx="6400800" cy="19685"/>
            </a:xfrm>
            <a:custGeom>
              <a:avLst/>
              <a:gdLst/>
              <a:ahLst/>
              <a:cxnLst/>
              <a:rect l="l" t="t" r="r" b="b"/>
              <a:pathLst>
                <a:path w="6400800" h="19684">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20" name="object 20"/>
            <p:cNvSpPr/>
            <p:nvPr/>
          </p:nvSpPr>
          <p:spPr>
            <a:xfrm>
              <a:off x="7200899" y="7415148"/>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21" name="object 21"/>
            <p:cNvSpPr/>
            <p:nvPr/>
          </p:nvSpPr>
          <p:spPr>
            <a:xfrm>
              <a:off x="801928" y="7415161"/>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22" name="object 22"/>
            <p:cNvSpPr/>
            <p:nvPr/>
          </p:nvSpPr>
          <p:spPr>
            <a:xfrm>
              <a:off x="7200899" y="7418196"/>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23" name="object 23"/>
            <p:cNvSpPr/>
            <p:nvPr/>
          </p:nvSpPr>
          <p:spPr>
            <a:xfrm>
              <a:off x="801928" y="7431912"/>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24" name="object 24"/>
            <p:cNvSpPr/>
            <p:nvPr/>
          </p:nvSpPr>
          <p:spPr>
            <a:xfrm>
              <a:off x="801928" y="7431925"/>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25" name="object 25"/>
          <p:cNvSpPr txBox="1"/>
          <p:nvPr/>
        </p:nvSpPr>
        <p:spPr>
          <a:xfrm>
            <a:off x="792275" y="7366445"/>
            <a:ext cx="6494349" cy="2419252"/>
          </a:xfrm>
          <a:prstGeom prst="rect">
            <a:avLst/>
          </a:prstGeom>
        </p:spPr>
        <p:txBody>
          <a:bodyPr vert="horz" wrap="square" lIns="0" tIns="94615" rIns="0" bIns="0" rtlCol="0">
            <a:spAutoFit/>
          </a:bodyPr>
          <a:lstStyle/>
          <a:p>
            <a:pPr marL="146050" indent="-136525">
              <a:lnSpc>
                <a:spcPct val="100000"/>
              </a:lnSpc>
              <a:spcBef>
                <a:spcPts val="745"/>
              </a:spcBef>
              <a:buSzPct val="92857"/>
              <a:buAutoNum type="arabicPeriod" startAt="3"/>
              <a:tabLst>
                <a:tab pos="146050" algn="l"/>
              </a:tabLst>
            </a:pPr>
            <a:r>
              <a:rPr sz="1500" b="1" spc="-10" dirty="0">
                <a:solidFill>
                  <a:srgbClr val="3B78D7"/>
                </a:solidFill>
                <a:latin typeface="Times New Roman"/>
                <a:cs typeface="Times New Roman"/>
              </a:rPr>
              <a:t>Requirements:</a:t>
            </a:r>
            <a:endParaRPr sz="1500" dirty="0">
              <a:latin typeface="Times New Roman"/>
              <a:cs typeface="Times New Roman"/>
            </a:endParaRPr>
          </a:p>
          <a:p>
            <a:pPr marL="188595" indent="-171450">
              <a:lnSpc>
                <a:spcPct val="100000"/>
              </a:lnSpc>
              <a:spcBef>
                <a:spcPts val="550"/>
              </a:spcBef>
              <a:buFont typeface="Arial" panose="020B0604020202020204" pitchFamily="34" charset="0"/>
              <a:buChar char="•"/>
            </a:pPr>
            <a:r>
              <a:rPr lang="en-US" sz="1300" b="1" dirty="0">
                <a:latin typeface="Times New Roman"/>
                <a:cs typeface="Times New Roman"/>
              </a:rPr>
              <a:t>Visual Design</a:t>
            </a:r>
            <a:r>
              <a:rPr lang="en-US" sz="1300" dirty="0">
                <a:latin typeface="Times New Roman"/>
                <a:cs typeface="Times New Roman"/>
              </a:rPr>
              <a:t>: Transform the HTML structure into a professional-looking interface</a:t>
            </a:r>
          </a:p>
          <a:p>
            <a:pPr marL="188595" indent="-171450">
              <a:lnSpc>
                <a:spcPct val="100000"/>
              </a:lnSpc>
              <a:spcBef>
                <a:spcPts val="550"/>
              </a:spcBef>
              <a:buFont typeface="Arial" panose="020B0604020202020204" pitchFamily="34" charset="0"/>
              <a:buChar char="•"/>
            </a:pPr>
            <a:r>
              <a:rPr lang="en-US" sz="1300" b="1" dirty="0">
                <a:latin typeface="Times New Roman"/>
                <a:cs typeface="Times New Roman"/>
              </a:rPr>
              <a:t>Layout Management</a:t>
            </a:r>
            <a:r>
              <a:rPr lang="en-US" sz="1300" dirty="0">
                <a:latin typeface="Times New Roman"/>
                <a:cs typeface="Times New Roman"/>
              </a:rPr>
              <a:t>: Use the Box Model to center the form and space out elements.</a:t>
            </a:r>
          </a:p>
          <a:p>
            <a:pPr marL="188595" indent="-171450">
              <a:lnSpc>
                <a:spcPct val="100000"/>
              </a:lnSpc>
              <a:spcBef>
                <a:spcPts val="550"/>
              </a:spcBef>
              <a:buFont typeface="Arial" panose="020B0604020202020204" pitchFamily="34" charset="0"/>
              <a:buChar char="•"/>
            </a:pPr>
            <a:r>
              <a:rPr lang="en-US" sz="1300" b="1" dirty="0">
                <a:latin typeface="Times New Roman"/>
                <a:cs typeface="Times New Roman"/>
              </a:rPr>
              <a:t>Interactive Elements</a:t>
            </a:r>
            <a:r>
              <a:rPr lang="en-US" sz="1300" dirty="0">
                <a:latin typeface="Times New Roman"/>
                <a:cs typeface="Times New Roman"/>
              </a:rPr>
              <a:t>: Add hover effects and real-time input validation.</a:t>
            </a:r>
          </a:p>
          <a:p>
            <a:pPr marL="188595" indent="-171450">
              <a:lnSpc>
                <a:spcPct val="100000"/>
              </a:lnSpc>
              <a:spcBef>
                <a:spcPts val="550"/>
              </a:spcBef>
              <a:buFont typeface="Arial" panose="020B0604020202020204" pitchFamily="34" charset="0"/>
              <a:buChar char="•"/>
            </a:pPr>
            <a:r>
              <a:rPr lang="en-US" sz="1300" b="1" dirty="0">
                <a:latin typeface="Times New Roman"/>
                <a:cs typeface="Times New Roman"/>
              </a:rPr>
              <a:t>Data Readability</a:t>
            </a:r>
            <a:r>
              <a:rPr lang="en-US" sz="1300" dirty="0">
                <a:latin typeface="Times New Roman"/>
                <a:cs typeface="Times New Roman"/>
              </a:rPr>
              <a:t>: Style tables and footers for a clean, organized presentation.</a:t>
            </a:r>
          </a:p>
          <a:p>
            <a:pPr marL="17145">
              <a:lnSpc>
                <a:spcPct val="100000"/>
              </a:lnSpc>
              <a:spcBef>
                <a:spcPts val="550"/>
              </a:spcBef>
            </a:pPr>
            <a:r>
              <a:rPr lang="en-US" sz="1300" b="1" dirty="0">
                <a:latin typeface="Times New Roman"/>
                <a:cs typeface="Times New Roman"/>
              </a:rPr>
              <a:t>3.1 </a:t>
            </a:r>
            <a:r>
              <a:rPr sz="1500" b="1" dirty="0">
                <a:latin typeface="Times New Roman"/>
                <a:cs typeface="Times New Roman"/>
              </a:rPr>
              <a:t>Apply</a:t>
            </a:r>
            <a:r>
              <a:rPr sz="1500" b="1" spc="-45" dirty="0">
                <a:latin typeface="Times New Roman"/>
                <a:cs typeface="Times New Roman"/>
              </a:rPr>
              <a:t> </a:t>
            </a:r>
            <a:r>
              <a:rPr sz="1500" b="1" dirty="0">
                <a:latin typeface="Times New Roman"/>
                <a:cs typeface="Times New Roman"/>
              </a:rPr>
              <a:t>Global</a:t>
            </a:r>
            <a:r>
              <a:rPr sz="1500" b="1" spc="-45" dirty="0">
                <a:latin typeface="Times New Roman"/>
                <a:cs typeface="Times New Roman"/>
              </a:rPr>
              <a:t> </a:t>
            </a:r>
            <a:r>
              <a:rPr sz="1500" b="1" spc="-10" dirty="0">
                <a:latin typeface="Times New Roman"/>
                <a:cs typeface="Times New Roman"/>
              </a:rPr>
              <a:t>Styling:</a:t>
            </a:r>
            <a:endParaRPr sz="1500" dirty="0">
              <a:latin typeface="Times New Roman"/>
              <a:cs typeface="Times New Roman"/>
            </a:endParaRPr>
          </a:p>
          <a:p>
            <a:pPr marL="278130" marR="5080" indent="-171450">
              <a:lnSpc>
                <a:spcPts val="1380"/>
              </a:lnSpc>
              <a:spcBef>
                <a:spcPts val="425"/>
              </a:spcBef>
              <a:buFont typeface="Arial" panose="020B0604020202020204" pitchFamily="34" charset="0"/>
              <a:buChar char="•"/>
            </a:pPr>
            <a:r>
              <a:rPr lang="en-US" sz="1300" b="1" dirty="0">
                <a:latin typeface="Times New Roman"/>
                <a:cs typeface="Times New Roman"/>
              </a:rPr>
              <a:t>Background</a:t>
            </a:r>
            <a:r>
              <a:rPr lang="en-US" sz="1300" dirty="0">
                <a:latin typeface="Times New Roman"/>
                <a:cs typeface="Times New Roman"/>
              </a:rPr>
              <a:t>: Applied a light blue background color (#f0f8ff) to the entire page.</a:t>
            </a:r>
          </a:p>
          <a:p>
            <a:pPr marL="278130" marR="5080" indent="-171450">
              <a:lnSpc>
                <a:spcPts val="1380"/>
              </a:lnSpc>
              <a:spcBef>
                <a:spcPts val="425"/>
              </a:spcBef>
              <a:buFont typeface="Arial" panose="020B0604020202020204" pitchFamily="34" charset="0"/>
              <a:buChar char="•"/>
            </a:pPr>
            <a:r>
              <a:rPr lang="en-US" sz="1300" b="1" dirty="0">
                <a:latin typeface="Times New Roman"/>
                <a:cs typeface="Times New Roman"/>
              </a:rPr>
              <a:t>Typography: </a:t>
            </a:r>
            <a:r>
              <a:rPr lang="en-US" sz="1300" dirty="0">
                <a:latin typeface="Times New Roman"/>
                <a:cs typeface="Times New Roman"/>
              </a:rPr>
              <a:t>Set the primary font family to Arial, sans-serif for clean readability.</a:t>
            </a:r>
          </a:p>
          <a:p>
            <a:pPr marL="278130" marR="5080" indent="-171450">
              <a:lnSpc>
                <a:spcPts val="1380"/>
              </a:lnSpc>
              <a:spcBef>
                <a:spcPts val="425"/>
              </a:spcBef>
              <a:buFont typeface="Arial" panose="020B0604020202020204" pitchFamily="34" charset="0"/>
              <a:buChar char="•"/>
            </a:pPr>
            <a:r>
              <a:rPr lang="en-US" sz="1300" b="1" dirty="0">
                <a:latin typeface="Times New Roman"/>
                <a:cs typeface="Times New Roman"/>
              </a:rPr>
              <a:t>Spacing</a:t>
            </a:r>
            <a:r>
              <a:rPr lang="en-US" sz="1300" dirty="0">
                <a:latin typeface="Times New Roman"/>
                <a:cs typeface="Times New Roman"/>
              </a:rPr>
              <a:t>: Used padding: 20px and margin: 0 on the body to ensure content is well-spaced.</a:t>
            </a:r>
            <a:endParaRPr sz="1300" dirty="0">
              <a:latin typeface="Times New Roman"/>
              <a:cs typeface="Times New Roman"/>
            </a:endParaRPr>
          </a:p>
        </p:txBody>
      </p:sp>
      <p:grpSp>
        <p:nvGrpSpPr>
          <p:cNvPr id="26" name="object 26"/>
          <p:cNvGrpSpPr/>
          <p:nvPr/>
        </p:nvGrpSpPr>
        <p:grpSpPr>
          <a:xfrm>
            <a:off x="792276" y="10128972"/>
            <a:ext cx="6399530" cy="21590"/>
            <a:chOff x="806450" y="9338944"/>
            <a:chExt cx="6399530" cy="21590"/>
          </a:xfrm>
        </p:grpSpPr>
        <p:sp>
          <p:nvSpPr>
            <p:cNvPr id="27" name="object 27"/>
            <p:cNvSpPr/>
            <p:nvPr/>
          </p:nvSpPr>
          <p:spPr>
            <a:xfrm>
              <a:off x="806450" y="9338944"/>
              <a:ext cx="6397625" cy="19685"/>
            </a:xfrm>
            <a:custGeom>
              <a:avLst/>
              <a:gdLst/>
              <a:ahLst/>
              <a:cxnLst/>
              <a:rect l="l" t="t" r="r" b="b"/>
              <a:pathLst>
                <a:path w="6397625" h="19684">
                  <a:moveTo>
                    <a:pt x="6397625" y="0"/>
                  </a:moveTo>
                  <a:lnTo>
                    <a:pt x="0" y="0"/>
                  </a:lnTo>
                  <a:lnTo>
                    <a:pt x="0" y="19685"/>
                  </a:lnTo>
                  <a:lnTo>
                    <a:pt x="6397625" y="19685"/>
                  </a:lnTo>
                  <a:lnTo>
                    <a:pt x="6397625" y="0"/>
                  </a:lnTo>
                  <a:close/>
                </a:path>
              </a:pathLst>
            </a:custGeom>
            <a:solidFill>
              <a:srgbClr val="9F9F9F"/>
            </a:solidFill>
          </p:spPr>
          <p:txBody>
            <a:bodyPr wrap="square" lIns="0" tIns="0" rIns="0" bIns="0" rtlCol="0"/>
            <a:lstStyle/>
            <a:p>
              <a:endParaRPr/>
            </a:p>
          </p:txBody>
        </p:sp>
        <p:sp>
          <p:nvSpPr>
            <p:cNvPr id="28" name="object 28"/>
            <p:cNvSpPr/>
            <p:nvPr/>
          </p:nvSpPr>
          <p:spPr>
            <a:xfrm>
              <a:off x="7202423" y="9340341"/>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29" name="object 29"/>
            <p:cNvSpPr/>
            <p:nvPr/>
          </p:nvSpPr>
          <p:spPr>
            <a:xfrm>
              <a:off x="806500" y="9340354"/>
              <a:ext cx="6399530" cy="17145"/>
            </a:xfrm>
            <a:custGeom>
              <a:avLst/>
              <a:gdLst/>
              <a:ahLst/>
              <a:cxnLst/>
              <a:rect l="l" t="t" r="r" b="b"/>
              <a:pathLst>
                <a:path w="6399530" h="17145">
                  <a:moveTo>
                    <a:pt x="3048" y="3035"/>
                  </a:moveTo>
                  <a:lnTo>
                    <a:pt x="0" y="3035"/>
                  </a:lnTo>
                  <a:lnTo>
                    <a:pt x="0" y="16751"/>
                  </a:lnTo>
                  <a:lnTo>
                    <a:pt x="3048" y="16751"/>
                  </a:lnTo>
                  <a:lnTo>
                    <a:pt x="3048" y="3035"/>
                  </a:lnTo>
                  <a:close/>
                </a:path>
                <a:path w="6399530" h="17145">
                  <a:moveTo>
                    <a:pt x="6398958" y="0"/>
                  </a:moveTo>
                  <a:lnTo>
                    <a:pt x="6395923" y="0"/>
                  </a:lnTo>
                  <a:lnTo>
                    <a:pt x="6395923" y="3035"/>
                  </a:lnTo>
                  <a:lnTo>
                    <a:pt x="6398958" y="3035"/>
                  </a:lnTo>
                  <a:lnTo>
                    <a:pt x="6398958" y="0"/>
                  </a:lnTo>
                  <a:close/>
                </a:path>
              </a:pathLst>
            </a:custGeom>
            <a:solidFill>
              <a:srgbClr val="9F9F9F"/>
            </a:solidFill>
          </p:spPr>
          <p:txBody>
            <a:bodyPr wrap="square" lIns="0" tIns="0" rIns="0" bIns="0" rtlCol="0"/>
            <a:lstStyle/>
            <a:p>
              <a:endParaRPr/>
            </a:p>
          </p:txBody>
        </p:sp>
        <p:sp>
          <p:nvSpPr>
            <p:cNvPr id="30" name="object 30"/>
            <p:cNvSpPr/>
            <p:nvPr/>
          </p:nvSpPr>
          <p:spPr>
            <a:xfrm>
              <a:off x="7202423" y="9343389"/>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31" name="object 31"/>
            <p:cNvSpPr/>
            <p:nvPr/>
          </p:nvSpPr>
          <p:spPr>
            <a:xfrm>
              <a:off x="806500" y="9357105"/>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32" name="object 32"/>
            <p:cNvSpPr/>
            <p:nvPr/>
          </p:nvSpPr>
          <p:spPr>
            <a:xfrm>
              <a:off x="806500" y="9357118"/>
              <a:ext cx="6399530" cy="3175"/>
            </a:xfrm>
            <a:custGeom>
              <a:avLst/>
              <a:gdLst/>
              <a:ahLst/>
              <a:cxnLst/>
              <a:rect l="l" t="t" r="r" b="b"/>
              <a:pathLst>
                <a:path w="6399530" h="3175">
                  <a:moveTo>
                    <a:pt x="6398958" y="0"/>
                  </a:moveTo>
                  <a:lnTo>
                    <a:pt x="6395974" y="0"/>
                  </a:lnTo>
                  <a:lnTo>
                    <a:pt x="3048" y="0"/>
                  </a:lnTo>
                  <a:lnTo>
                    <a:pt x="0" y="0"/>
                  </a:lnTo>
                  <a:lnTo>
                    <a:pt x="0" y="3035"/>
                  </a:lnTo>
                  <a:lnTo>
                    <a:pt x="3048" y="3035"/>
                  </a:lnTo>
                  <a:lnTo>
                    <a:pt x="6395923" y="3035"/>
                  </a:lnTo>
                  <a:lnTo>
                    <a:pt x="6398958" y="3035"/>
                  </a:lnTo>
                  <a:lnTo>
                    <a:pt x="6398958" y="0"/>
                  </a:lnTo>
                  <a:close/>
                </a:path>
              </a:pathLst>
            </a:custGeom>
            <a:solidFill>
              <a:srgbClr val="E2E2E2"/>
            </a:solidFill>
          </p:spPr>
          <p:txBody>
            <a:bodyPr wrap="square" lIns="0" tIns="0" rIns="0" bIns="0" rtlCol="0"/>
            <a:lstStyle/>
            <a:p>
              <a:endParaRPr/>
            </a:p>
          </p:txBody>
        </p:sp>
      </p:grpSp>
      <p:pic>
        <p:nvPicPr>
          <p:cNvPr id="33" name="object 33"/>
          <p:cNvPicPr/>
          <p:nvPr/>
        </p:nvPicPr>
        <p:blipFill>
          <a:blip r:embed="rId2" cstate="print"/>
          <a:stretch>
            <a:fillRect/>
          </a:stretch>
        </p:blipFill>
        <p:spPr>
          <a:xfrm>
            <a:off x="2597150" y="428624"/>
            <a:ext cx="1268095" cy="571246"/>
          </a:xfrm>
          <a:prstGeom prst="rect">
            <a:avLst/>
          </a:prstGeom>
        </p:spPr>
      </p:pic>
      <p:pic>
        <p:nvPicPr>
          <p:cNvPr id="34" name="object 34"/>
          <p:cNvPicPr/>
          <p:nvPr/>
        </p:nvPicPr>
        <p:blipFill>
          <a:blip r:embed="rId3" cstate="print"/>
          <a:stretch>
            <a:fillRect/>
          </a:stretch>
        </p:blipFill>
        <p:spPr>
          <a:xfrm>
            <a:off x="701675" y="528319"/>
            <a:ext cx="1495933" cy="370204"/>
          </a:xfrm>
          <a:prstGeom prst="rect">
            <a:avLst/>
          </a:prstGeom>
        </p:spPr>
      </p:pic>
      <p:pic>
        <p:nvPicPr>
          <p:cNvPr id="35" name="object 35"/>
          <p:cNvPicPr/>
          <p:nvPr/>
        </p:nvPicPr>
        <p:blipFill>
          <a:blip r:embed="rId4" cstate="print"/>
          <a:stretch>
            <a:fillRect/>
          </a:stretch>
        </p:blipFill>
        <p:spPr>
          <a:xfrm>
            <a:off x="5797550" y="514349"/>
            <a:ext cx="1074407" cy="401954"/>
          </a:xfrm>
          <a:prstGeom prst="rect">
            <a:avLst/>
          </a:prstGeom>
        </p:spPr>
      </p:pic>
      <p:pic>
        <p:nvPicPr>
          <p:cNvPr id="36" name="object 36"/>
          <p:cNvPicPr/>
          <p:nvPr/>
        </p:nvPicPr>
        <p:blipFill>
          <a:blip r:embed="rId5" cstate="print"/>
          <a:stretch>
            <a:fillRect/>
          </a:stretch>
        </p:blipFill>
        <p:spPr>
          <a:xfrm>
            <a:off x="4264025" y="495337"/>
            <a:ext cx="996314" cy="43417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268470" y="495337"/>
            <a:ext cx="996314" cy="434174"/>
          </a:xfrm>
          <a:prstGeom prst="rect">
            <a:avLst/>
          </a:prstGeom>
        </p:spPr>
      </p:pic>
      <p:pic>
        <p:nvPicPr>
          <p:cNvPr id="3" name="object 3"/>
          <p:cNvPicPr/>
          <p:nvPr/>
        </p:nvPicPr>
        <p:blipFill>
          <a:blip r:embed="rId3" cstate="print"/>
          <a:stretch>
            <a:fillRect/>
          </a:stretch>
        </p:blipFill>
        <p:spPr>
          <a:xfrm>
            <a:off x="5883275" y="514349"/>
            <a:ext cx="1074407" cy="401954"/>
          </a:xfrm>
          <a:prstGeom prst="rect">
            <a:avLst/>
          </a:prstGeom>
        </p:spPr>
      </p:pic>
      <p:sp>
        <p:nvSpPr>
          <p:cNvPr id="5" name="object 5"/>
          <p:cNvSpPr txBox="1"/>
          <p:nvPr/>
        </p:nvSpPr>
        <p:spPr>
          <a:xfrm>
            <a:off x="773988" y="1123555"/>
            <a:ext cx="6075045" cy="860492"/>
          </a:xfrm>
          <a:prstGeom prst="rect">
            <a:avLst/>
          </a:prstGeom>
        </p:spPr>
        <p:txBody>
          <a:bodyPr vert="horz" wrap="square" lIns="0" tIns="57150" rIns="0" bIns="0" rtlCol="0">
            <a:spAutoFit/>
          </a:bodyPr>
          <a:lstStyle/>
          <a:p>
            <a:pPr marL="12700">
              <a:lnSpc>
                <a:spcPct val="100000"/>
              </a:lnSpc>
              <a:spcBef>
                <a:spcPts val="450"/>
              </a:spcBef>
            </a:pPr>
            <a:r>
              <a:rPr lang="en-US" sz="1500" b="1" dirty="0">
                <a:latin typeface="Times New Roman"/>
                <a:cs typeface="Times New Roman"/>
              </a:rPr>
              <a:t>3.2</a:t>
            </a:r>
            <a:r>
              <a:rPr lang="en-US" sz="1500" b="1" spc="-30" dirty="0">
                <a:latin typeface="Times New Roman"/>
                <a:cs typeface="Times New Roman"/>
              </a:rPr>
              <a:t> </a:t>
            </a:r>
            <a:r>
              <a:rPr lang="en-US" sz="1500" b="1" dirty="0">
                <a:latin typeface="Times New Roman"/>
                <a:cs typeface="Times New Roman"/>
              </a:rPr>
              <a:t>Style</a:t>
            </a:r>
            <a:r>
              <a:rPr lang="en-US" sz="1500" b="1" spc="-30" dirty="0">
                <a:latin typeface="Times New Roman"/>
                <a:cs typeface="Times New Roman"/>
              </a:rPr>
              <a:t> </a:t>
            </a:r>
            <a:r>
              <a:rPr lang="en-US" sz="1500" b="1" dirty="0">
                <a:latin typeface="Times New Roman"/>
                <a:cs typeface="Times New Roman"/>
              </a:rPr>
              <a:t>the</a:t>
            </a:r>
            <a:r>
              <a:rPr lang="en-US" sz="1500" b="1" spc="-15" dirty="0">
                <a:latin typeface="Times New Roman"/>
                <a:cs typeface="Times New Roman"/>
              </a:rPr>
              <a:t> </a:t>
            </a:r>
            <a:r>
              <a:rPr lang="en-US" sz="1500" b="1" dirty="0">
                <a:latin typeface="Times New Roman"/>
                <a:cs typeface="Times New Roman"/>
              </a:rPr>
              <a:t>Event</a:t>
            </a:r>
            <a:r>
              <a:rPr lang="en-US" sz="1500" b="1" spc="-15" dirty="0">
                <a:latin typeface="Times New Roman"/>
                <a:cs typeface="Times New Roman"/>
              </a:rPr>
              <a:t> </a:t>
            </a:r>
            <a:r>
              <a:rPr lang="en-US" sz="1500" b="1" dirty="0">
                <a:latin typeface="Times New Roman"/>
                <a:cs typeface="Times New Roman"/>
              </a:rPr>
              <a:t>Title</a:t>
            </a:r>
            <a:r>
              <a:rPr lang="en-US" sz="1500" b="1" spc="-30" dirty="0">
                <a:latin typeface="Times New Roman"/>
                <a:cs typeface="Times New Roman"/>
              </a:rPr>
              <a:t> </a:t>
            </a:r>
            <a:r>
              <a:rPr lang="en-US" sz="1500" b="1" dirty="0">
                <a:latin typeface="Times New Roman"/>
                <a:cs typeface="Times New Roman"/>
              </a:rPr>
              <a:t>and</a:t>
            </a:r>
            <a:r>
              <a:rPr lang="en-US" sz="1500" b="1" spc="-20" dirty="0">
                <a:latin typeface="Times New Roman"/>
                <a:cs typeface="Times New Roman"/>
              </a:rPr>
              <a:t> </a:t>
            </a:r>
            <a:r>
              <a:rPr lang="en-US" sz="1500" b="1" spc="-10" dirty="0">
                <a:latin typeface="Times New Roman"/>
                <a:cs typeface="Times New Roman"/>
              </a:rPr>
              <a:t>Description:</a:t>
            </a:r>
          </a:p>
          <a:p>
            <a:pPr marL="12700">
              <a:lnSpc>
                <a:spcPct val="100000"/>
              </a:lnSpc>
              <a:spcBef>
                <a:spcPts val="450"/>
              </a:spcBef>
            </a:pPr>
            <a:endParaRPr lang="en-US" sz="300" dirty="0">
              <a:latin typeface="Times New Roman"/>
              <a:cs typeface="Times New Roman"/>
            </a:endParaRPr>
          </a:p>
          <a:p>
            <a:pPr marL="358775" marR="5080" indent="-285750">
              <a:lnSpc>
                <a:spcPts val="1380"/>
              </a:lnSpc>
              <a:spcBef>
                <a:spcPts val="425"/>
              </a:spcBef>
              <a:buFont typeface="Arial" panose="020B0604020202020204" pitchFamily="34" charset="0"/>
              <a:buChar char="•"/>
            </a:pPr>
            <a:r>
              <a:rPr lang="en-US" sz="1300" b="1" dirty="0">
                <a:latin typeface="Times New Roman"/>
                <a:cs typeface="Times New Roman"/>
              </a:rPr>
              <a:t>Prominence:</a:t>
            </a:r>
            <a:r>
              <a:rPr lang="en-US" sz="1300" dirty="0">
                <a:latin typeface="Times New Roman"/>
                <a:cs typeface="Times New Roman"/>
              </a:rPr>
              <a:t> Centered the h2 heading and increased its visibility. </a:t>
            </a:r>
          </a:p>
          <a:p>
            <a:pPr marL="358775" marR="5080" indent="-285750">
              <a:lnSpc>
                <a:spcPts val="1380"/>
              </a:lnSpc>
              <a:spcBef>
                <a:spcPts val="425"/>
              </a:spcBef>
              <a:buFont typeface="Arial" panose="020B0604020202020204" pitchFamily="34" charset="0"/>
              <a:buChar char="•"/>
            </a:pPr>
            <a:r>
              <a:rPr lang="en-US" sz="1300" b="1" dirty="0">
                <a:latin typeface="Times New Roman"/>
                <a:cs typeface="Times New Roman"/>
              </a:rPr>
              <a:t>Readability</a:t>
            </a:r>
            <a:r>
              <a:rPr lang="en-US" sz="1300" dirty="0">
                <a:latin typeface="Times New Roman"/>
                <a:cs typeface="Times New Roman"/>
              </a:rPr>
              <a:t>: Maintained a clear registration instruction paragraph below the title</a:t>
            </a:r>
          </a:p>
        </p:txBody>
      </p:sp>
      <p:grpSp>
        <p:nvGrpSpPr>
          <p:cNvPr id="6" name="object 6"/>
          <p:cNvGrpSpPr/>
          <p:nvPr/>
        </p:nvGrpSpPr>
        <p:grpSpPr>
          <a:xfrm>
            <a:off x="757872" y="2237473"/>
            <a:ext cx="6402705" cy="20320"/>
            <a:chOff x="801369" y="2273934"/>
            <a:chExt cx="6402705" cy="20320"/>
          </a:xfrm>
        </p:grpSpPr>
        <p:sp>
          <p:nvSpPr>
            <p:cNvPr id="7" name="object 7"/>
            <p:cNvSpPr/>
            <p:nvPr/>
          </p:nvSpPr>
          <p:spPr>
            <a:xfrm>
              <a:off x="801370" y="2273934"/>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8" name="object 8"/>
            <p:cNvSpPr/>
            <p:nvPr/>
          </p:nvSpPr>
          <p:spPr>
            <a:xfrm>
              <a:off x="7200899" y="2274061"/>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9" name="object 9"/>
            <p:cNvSpPr/>
            <p:nvPr/>
          </p:nvSpPr>
          <p:spPr>
            <a:xfrm>
              <a:off x="801928" y="2274061"/>
              <a:ext cx="6402070" cy="17145"/>
            </a:xfrm>
            <a:custGeom>
              <a:avLst/>
              <a:gdLst/>
              <a:ahLst/>
              <a:cxnLst/>
              <a:rect l="l" t="t" r="r" b="b"/>
              <a:pathLst>
                <a:path w="6402070" h="17144">
                  <a:moveTo>
                    <a:pt x="3048" y="3048"/>
                  </a:moveTo>
                  <a:lnTo>
                    <a:pt x="0" y="3048"/>
                  </a:lnTo>
                  <a:lnTo>
                    <a:pt x="0" y="16764"/>
                  </a:lnTo>
                  <a:lnTo>
                    <a:pt x="3048" y="16764"/>
                  </a:lnTo>
                  <a:lnTo>
                    <a:pt x="3048" y="3048"/>
                  </a:lnTo>
                  <a:close/>
                </a:path>
                <a:path w="6402070" h="17144">
                  <a:moveTo>
                    <a:pt x="6402006" y="0"/>
                  </a:moveTo>
                  <a:lnTo>
                    <a:pt x="6398971" y="0"/>
                  </a:lnTo>
                  <a:lnTo>
                    <a:pt x="6398971" y="3048"/>
                  </a:lnTo>
                  <a:lnTo>
                    <a:pt x="6402006" y="3048"/>
                  </a:lnTo>
                  <a:lnTo>
                    <a:pt x="6402006" y="0"/>
                  </a:lnTo>
                  <a:close/>
                </a:path>
              </a:pathLst>
            </a:custGeom>
            <a:solidFill>
              <a:srgbClr val="9F9F9F"/>
            </a:solidFill>
          </p:spPr>
          <p:txBody>
            <a:bodyPr wrap="square" lIns="0" tIns="0" rIns="0" bIns="0" rtlCol="0"/>
            <a:lstStyle/>
            <a:p>
              <a:endParaRPr/>
            </a:p>
          </p:txBody>
        </p:sp>
        <p:sp>
          <p:nvSpPr>
            <p:cNvPr id="10" name="object 10"/>
            <p:cNvSpPr/>
            <p:nvPr/>
          </p:nvSpPr>
          <p:spPr>
            <a:xfrm>
              <a:off x="7200899" y="2277109"/>
              <a:ext cx="3175" cy="13970"/>
            </a:xfrm>
            <a:custGeom>
              <a:avLst/>
              <a:gdLst/>
              <a:ahLst/>
              <a:cxnLst/>
              <a:rect l="l" t="t" r="r" b="b"/>
              <a:pathLst>
                <a:path w="3175" h="13969">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11" name="object 11"/>
            <p:cNvSpPr/>
            <p:nvPr/>
          </p:nvSpPr>
          <p:spPr>
            <a:xfrm>
              <a:off x="801928" y="2290825"/>
              <a:ext cx="3175" cy="3175"/>
            </a:xfrm>
            <a:custGeom>
              <a:avLst/>
              <a:gdLst/>
              <a:ahLst/>
              <a:cxnLst/>
              <a:rect l="l" t="t" r="r" b="b"/>
              <a:pathLst>
                <a:path w="3175" h="3175">
                  <a:moveTo>
                    <a:pt x="3048" y="0"/>
                  </a:moveTo>
                  <a:lnTo>
                    <a:pt x="0" y="0"/>
                  </a:lnTo>
                  <a:lnTo>
                    <a:pt x="0" y="3048"/>
                  </a:lnTo>
                  <a:lnTo>
                    <a:pt x="3048" y="3048"/>
                  </a:lnTo>
                  <a:lnTo>
                    <a:pt x="3048" y="0"/>
                  </a:lnTo>
                  <a:close/>
                </a:path>
              </a:pathLst>
            </a:custGeom>
            <a:solidFill>
              <a:srgbClr val="9F9F9F"/>
            </a:solidFill>
          </p:spPr>
          <p:txBody>
            <a:bodyPr wrap="square" lIns="0" tIns="0" rIns="0" bIns="0" rtlCol="0"/>
            <a:lstStyle/>
            <a:p>
              <a:endParaRPr/>
            </a:p>
          </p:txBody>
        </p:sp>
        <p:sp>
          <p:nvSpPr>
            <p:cNvPr id="12" name="object 12"/>
            <p:cNvSpPr/>
            <p:nvPr/>
          </p:nvSpPr>
          <p:spPr>
            <a:xfrm>
              <a:off x="801928" y="2290825"/>
              <a:ext cx="6402070" cy="3175"/>
            </a:xfrm>
            <a:custGeom>
              <a:avLst/>
              <a:gdLst/>
              <a:ahLst/>
              <a:cxnLst/>
              <a:rect l="l" t="t" r="r" b="b"/>
              <a:pathLst>
                <a:path w="6402070" h="3175">
                  <a:moveTo>
                    <a:pt x="6402006" y="0"/>
                  </a:moveTo>
                  <a:lnTo>
                    <a:pt x="6399022" y="0"/>
                  </a:lnTo>
                  <a:lnTo>
                    <a:pt x="3048" y="0"/>
                  </a:lnTo>
                  <a:lnTo>
                    <a:pt x="0" y="0"/>
                  </a:lnTo>
                  <a:lnTo>
                    <a:pt x="0" y="3048"/>
                  </a:lnTo>
                  <a:lnTo>
                    <a:pt x="3048" y="3048"/>
                  </a:lnTo>
                  <a:lnTo>
                    <a:pt x="6398971" y="3048"/>
                  </a:lnTo>
                  <a:lnTo>
                    <a:pt x="6402006" y="3048"/>
                  </a:lnTo>
                  <a:lnTo>
                    <a:pt x="6402006" y="0"/>
                  </a:lnTo>
                  <a:close/>
                </a:path>
              </a:pathLst>
            </a:custGeom>
            <a:solidFill>
              <a:srgbClr val="E2E2E2"/>
            </a:solidFill>
          </p:spPr>
          <p:txBody>
            <a:bodyPr wrap="square" lIns="0" tIns="0" rIns="0" bIns="0" rtlCol="0"/>
            <a:lstStyle/>
            <a:p>
              <a:endParaRPr/>
            </a:p>
          </p:txBody>
        </p:sp>
      </p:grpSp>
      <p:sp>
        <p:nvSpPr>
          <p:cNvPr id="13" name="object 13"/>
          <p:cNvSpPr txBox="1"/>
          <p:nvPr/>
        </p:nvSpPr>
        <p:spPr>
          <a:xfrm>
            <a:off x="801370" y="2426945"/>
            <a:ext cx="6373495" cy="1089401"/>
          </a:xfrm>
          <a:prstGeom prst="rect">
            <a:avLst/>
          </a:prstGeom>
        </p:spPr>
        <p:txBody>
          <a:bodyPr vert="horz" wrap="square" lIns="0" tIns="12065" rIns="0" bIns="0" rtlCol="0">
            <a:spAutoFit/>
          </a:bodyPr>
          <a:lstStyle/>
          <a:p>
            <a:pPr marL="12700">
              <a:lnSpc>
                <a:spcPct val="100000"/>
              </a:lnSpc>
              <a:spcBef>
                <a:spcPts val="95"/>
              </a:spcBef>
            </a:pPr>
            <a:r>
              <a:rPr sz="1300" b="1" dirty="0">
                <a:latin typeface="Times New Roman"/>
                <a:cs typeface="Times New Roman"/>
              </a:rPr>
              <a:t>3.3.</a:t>
            </a:r>
            <a:r>
              <a:rPr sz="1300" b="1" spc="-15" dirty="0">
                <a:latin typeface="Times New Roman"/>
                <a:cs typeface="Times New Roman"/>
              </a:rPr>
              <a:t> </a:t>
            </a:r>
            <a:r>
              <a:rPr sz="1500" b="1" dirty="0">
                <a:latin typeface="Times New Roman"/>
                <a:cs typeface="Times New Roman"/>
              </a:rPr>
              <a:t>Design</a:t>
            </a:r>
            <a:r>
              <a:rPr sz="1500" b="1" spc="-15" dirty="0">
                <a:latin typeface="Times New Roman"/>
                <a:cs typeface="Times New Roman"/>
              </a:rPr>
              <a:t> </a:t>
            </a:r>
            <a:r>
              <a:rPr sz="1500" b="1" dirty="0">
                <a:latin typeface="Times New Roman"/>
                <a:cs typeface="Times New Roman"/>
              </a:rPr>
              <a:t>the</a:t>
            </a:r>
            <a:r>
              <a:rPr sz="1500" b="1" spc="-15" dirty="0">
                <a:latin typeface="Times New Roman"/>
                <a:cs typeface="Times New Roman"/>
              </a:rPr>
              <a:t> </a:t>
            </a:r>
            <a:r>
              <a:rPr sz="1500" b="1" dirty="0">
                <a:latin typeface="Times New Roman"/>
                <a:cs typeface="Times New Roman"/>
              </a:rPr>
              <a:t>Event </a:t>
            </a:r>
            <a:r>
              <a:rPr sz="1500" b="1" spc="-10" dirty="0">
                <a:latin typeface="Times New Roman"/>
                <a:cs typeface="Times New Roman"/>
              </a:rPr>
              <a:t>Information</a:t>
            </a:r>
            <a:r>
              <a:rPr sz="1500" b="1" spc="-15" dirty="0">
                <a:latin typeface="Times New Roman"/>
                <a:cs typeface="Times New Roman"/>
              </a:rPr>
              <a:t> </a:t>
            </a:r>
            <a:r>
              <a:rPr sz="1500" b="1" spc="-10" dirty="0">
                <a:latin typeface="Times New Roman"/>
                <a:cs typeface="Times New Roman"/>
              </a:rPr>
              <a:t>Section</a:t>
            </a:r>
            <a:endParaRPr sz="1500" dirty="0">
              <a:latin typeface="Times New Roman"/>
              <a:cs typeface="Times New Roman"/>
            </a:endParaRPr>
          </a:p>
          <a:p>
            <a:pPr marL="306070" marR="5080" indent="-285750">
              <a:lnSpc>
                <a:spcPts val="1380"/>
              </a:lnSpc>
              <a:spcBef>
                <a:spcPts val="1215"/>
              </a:spcBef>
              <a:buFont typeface="Arial" panose="020B0604020202020204" pitchFamily="34" charset="0"/>
              <a:buChar char="•"/>
            </a:pPr>
            <a:r>
              <a:rPr lang="en-US" sz="1300" b="1" dirty="0">
                <a:latin typeface="Times New Roman"/>
                <a:cs typeface="Times New Roman"/>
              </a:rPr>
              <a:t>Alignment:</a:t>
            </a:r>
            <a:r>
              <a:rPr lang="en-US" sz="1300" dirty="0">
                <a:latin typeface="Times New Roman"/>
                <a:cs typeface="Times New Roman"/>
              </a:rPr>
              <a:t> Centered the information table using margin: 20px auto.</a:t>
            </a:r>
          </a:p>
          <a:p>
            <a:pPr marL="306070" marR="5080" indent="-285750">
              <a:lnSpc>
                <a:spcPts val="1380"/>
              </a:lnSpc>
              <a:spcBef>
                <a:spcPts val="1215"/>
              </a:spcBef>
              <a:buFont typeface="Arial" panose="020B0604020202020204" pitchFamily="34" charset="0"/>
              <a:buChar char="•"/>
            </a:pPr>
            <a:r>
              <a:rPr lang="en-US" sz="1300" b="1" dirty="0">
                <a:latin typeface="Times New Roman"/>
                <a:cs typeface="Times New Roman"/>
              </a:rPr>
              <a:t>Table Structure:</a:t>
            </a:r>
            <a:r>
              <a:rPr lang="en-US" sz="1300" dirty="0">
                <a:latin typeface="Times New Roman"/>
                <a:cs typeface="Times New Roman"/>
              </a:rPr>
              <a:t> Applied border-collapse: collapse and added padding to the event data cells.</a:t>
            </a:r>
          </a:p>
        </p:txBody>
      </p:sp>
      <p:grpSp>
        <p:nvGrpSpPr>
          <p:cNvPr id="14" name="object 14"/>
          <p:cNvGrpSpPr/>
          <p:nvPr/>
        </p:nvGrpSpPr>
        <p:grpSpPr>
          <a:xfrm>
            <a:off x="801369" y="3702049"/>
            <a:ext cx="6402705" cy="20320"/>
            <a:chOff x="801369" y="3702049"/>
            <a:chExt cx="6402705" cy="20320"/>
          </a:xfrm>
        </p:grpSpPr>
        <p:sp>
          <p:nvSpPr>
            <p:cNvPr id="15" name="object 15"/>
            <p:cNvSpPr/>
            <p:nvPr/>
          </p:nvSpPr>
          <p:spPr>
            <a:xfrm>
              <a:off x="801370" y="3702049"/>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16" name="object 16"/>
            <p:cNvSpPr/>
            <p:nvPr/>
          </p:nvSpPr>
          <p:spPr>
            <a:xfrm>
              <a:off x="7200899" y="3702430"/>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17" name="object 17"/>
            <p:cNvSpPr/>
            <p:nvPr/>
          </p:nvSpPr>
          <p:spPr>
            <a:xfrm>
              <a:off x="801928" y="3702442"/>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18" name="object 18"/>
            <p:cNvSpPr/>
            <p:nvPr/>
          </p:nvSpPr>
          <p:spPr>
            <a:xfrm>
              <a:off x="7200899" y="3705478"/>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19" name="object 19"/>
            <p:cNvSpPr/>
            <p:nvPr/>
          </p:nvSpPr>
          <p:spPr>
            <a:xfrm>
              <a:off x="801928" y="3719194"/>
              <a:ext cx="3175" cy="3175"/>
            </a:xfrm>
            <a:custGeom>
              <a:avLst/>
              <a:gdLst/>
              <a:ahLst/>
              <a:cxnLst/>
              <a:rect l="l" t="t" r="r" b="b"/>
              <a:pathLst>
                <a:path w="3175" h="3175">
                  <a:moveTo>
                    <a:pt x="3048" y="0"/>
                  </a:moveTo>
                  <a:lnTo>
                    <a:pt x="0" y="0"/>
                  </a:lnTo>
                  <a:lnTo>
                    <a:pt x="0" y="3048"/>
                  </a:lnTo>
                  <a:lnTo>
                    <a:pt x="3048" y="3048"/>
                  </a:lnTo>
                  <a:lnTo>
                    <a:pt x="3048" y="0"/>
                  </a:lnTo>
                  <a:close/>
                </a:path>
              </a:pathLst>
            </a:custGeom>
            <a:solidFill>
              <a:srgbClr val="9F9F9F"/>
            </a:solidFill>
          </p:spPr>
          <p:txBody>
            <a:bodyPr wrap="square" lIns="0" tIns="0" rIns="0" bIns="0" rtlCol="0"/>
            <a:lstStyle/>
            <a:p>
              <a:endParaRPr/>
            </a:p>
          </p:txBody>
        </p:sp>
        <p:sp>
          <p:nvSpPr>
            <p:cNvPr id="20" name="object 20"/>
            <p:cNvSpPr/>
            <p:nvPr/>
          </p:nvSpPr>
          <p:spPr>
            <a:xfrm>
              <a:off x="801928" y="3719194"/>
              <a:ext cx="6402070" cy="3175"/>
            </a:xfrm>
            <a:custGeom>
              <a:avLst/>
              <a:gdLst/>
              <a:ahLst/>
              <a:cxnLst/>
              <a:rect l="l" t="t" r="r" b="b"/>
              <a:pathLst>
                <a:path w="6402070" h="3175">
                  <a:moveTo>
                    <a:pt x="6402006" y="0"/>
                  </a:moveTo>
                  <a:lnTo>
                    <a:pt x="6399022" y="0"/>
                  </a:lnTo>
                  <a:lnTo>
                    <a:pt x="3048" y="0"/>
                  </a:lnTo>
                  <a:lnTo>
                    <a:pt x="0" y="0"/>
                  </a:lnTo>
                  <a:lnTo>
                    <a:pt x="0" y="3048"/>
                  </a:lnTo>
                  <a:lnTo>
                    <a:pt x="3048" y="3048"/>
                  </a:lnTo>
                  <a:lnTo>
                    <a:pt x="6398971" y="3048"/>
                  </a:lnTo>
                  <a:lnTo>
                    <a:pt x="6402006" y="3048"/>
                  </a:lnTo>
                  <a:lnTo>
                    <a:pt x="6402006" y="0"/>
                  </a:lnTo>
                  <a:close/>
                </a:path>
              </a:pathLst>
            </a:custGeom>
            <a:solidFill>
              <a:srgbClr val="E2E2E2"/>
            </a:solidFill>
          </p:spPr>
          <p:txBody>
            <a:bodyPr wrap="square" lIns="0" tIns="0" rIns="0" bIns="0" rtlCol="0"/>
            <a:lstStyle/>
            <a:p>
              <a:endParaRPr/>
            </a:p>
          </p:txBody>
        </p:sp>
      </p:grpSp>
      <p:sp>
        <p:nvSpPr>
          <p:cNvPr id="21" name="object 21"/>
          <p:cNvSpPr txBox="1"/>
          <p:nvPr/>
        </p:nvSpPr>
        <p:spPr>
          <a:xfrm>
            <a:off x="825537" y="3759195"/>
            <a:ext cx="6282690" cy="1109278"/>
          </a:xfrm>
          <a:prstGeom prst="rect">
            <a:avLst/>
          </a:prstGeom>
        </p:spPr>
        <p:txBody>
          <a:bodyPr vert="horz" wrap="square" lIns="0" tIns="57150" rIns="0" bIns="0" rtlCol="0">
            <a:spAutoFit/>
          </a:bodyPr>
          <a:lstStyle/>
          <a:p>
            <a:pPr marL="12700">
              <a:lnSpc>
                <a:spcPct val="100000"/>
              </a:lnSpc>
              <a:spcBef>
                <a:spcPts val="450"/>
              </a:spcBef>
            </a:pPr>
            <a:r>
              <a:rPr sz="1500" b="1" dirty="0">
                <a:latin typeface="Times New Roman"/>
                <a:cs typeface="Times New Roman"/>
              </a:rPr>
              <a:t>3.4</a:t>
            </a:r>
            <a:r>
              <a:rPr sz="1500" b="1" spc="-25" dirty="0">
                <a:latin typeface="Times New Roman"/>
                <a:cs typeface="Times New Roman"/>
              </a:rPr>
              <a:t> </a:t>
            </a:r>
            <a:r>
              <a:rPr sz="1500" b="1" dirty="0">
                <a:latin typeface="Times New Roman"/>
                <a:cs typeface="Times New Roman"/>
              </a:rPr>
              <a:t>Enhance</a:t>
            </a:r>
            <a:r>
              <a:rPr sz="1500" b="1" spc="-25" dirty="0">
                <a:latin typeface="Times New Roman"/>
                <a:cs typeface="Times New Roman"/>
              </a:rPr>
              <a:t> </a:t>
            </a:r>
            <a:r>
              <a:rPr sz="1500" b="1" dirty="0">
                <a:latin typeface="Times New Roman"/>
                <a:cs typeface="Times New Roman"/>
              </a:rPr>
              <a:t>the</a:t>
            </a:r>
            <a:r>
              <a:rPr sz="1500" b="1" spc="-10" dirty="0">
                <a:latin typeface="Times New Roman"/>
                <a:cs typeface="Times New Roman"/>
              </a:rPr>
              <a:t> Registration</a:t>
            </a:r>
            <a:r>
              <a:rPr sz="1500" b="1" spc="-25" dirty="0">
                <a:latin typeface="Times New Roman"/>
                <a:cs typeface="Times New Roman"/>
              </a:rPr>
              <a:t> </a:t>
            </a:r>
            <a:r>
              <a:rPr sz="1500" b="1" dirty="0">
                <a:latin typeface="Times New Roman"/>
                <a:cs typeface="Times New Roman"/>
              </a:rPr>
              <a:t>Form</a:t>
            </a:r>
            <a:r>
              <a:rPr sz="1500" b="1" spc="-10" dirty="0">
                <a:latin typeface="Times New Roman"/>
                <a:cs typeface="Times New Roman"/>
              </a:rPr>
              <a:t> Layout:</a:t>
            </a:r>
            <a:endParaRPr sz="1500" dirty="0">
              <a:latin typeface="Times New Roman"/>
              <a:cs typeface="Times New Roman"/>
            </a:endParaRPr>
          </a:p>
          <a:p>
            <a:pPr marL="281305" marR="5080" indent="-171450">
              <a:lnSpc>
                <a:spcPts val="1380"/>
              </a:lnSpc>
              <a:spcBef>
                <a:spcPts val="425"/>
              </a:spcBef>
              <a:buFont typeface="Arial" panose="020B0604020202020204" pitchFamily="34" charset="0"/>
              <a:buChar char="•"/>
            </a:pPr>
            <a:r>
              <a:rPr lang="en-US" sz="1300" b="1" dirty="0">
                <a:latin typeface="Times New Roman"/>
                <a:cs typeface="Times New Roman"/>
              </a:rPr>
              <a:t>Card Layout:</a:t>
            </a:r>
            <a:r>
              <a:rPr lang="en-US" sz="1300" dirty="0">
                <a:latin typeface="Times New Roman"/>
                <a:cs typeface="Times New Roman"/>
              </a:rPr>
              <a:t> Placed the form in a centered container with a white background and 10px rounded corners.</a:t>
            </a:r>
          </a:p>
          <a:p>
            <a:pPr marL="281305" marR="5080" indent="-171450">
              <a:lnSpc>
                <a:spcPts val="1380"/>
              </a:lnSpc>
              <a:spcBef>
                <a:spcPts val="425"/>
              </a:spcBef>
              <a:buFont typeface="Arial" panose="020B0604020202020204" pitchFamily="34" charset="0"/>
              <a:buChar char="•"/>
            </a:pPr>
            <a:r>
              <a:rPr lang="en-US" sz="1300" b="1" dirty="0">
                <a:latin typeface="Times New Roman"/>
                <a:cs typeface="Times New Roman"/>
              </a:rPr>
              <a:t>Visual Depth:</a:t>
            </a:r>
            <a:r>
              <a:rPr lang="en-US" sz="1300" dirty="0">
                <a:latin typeface="Times New Roman"/>
                <a:cs typeface="Times New Roman"/>
              </a:rPr>
              <a:t> Added a light box-shadow to make the form stand out from the background.</a:t>
            </a:r>
            <a:endParaRPr sz="1300" dirty="0">
              <a:latin typeface="Times New Roman"/>
              <a:cs typeface="Times New Roman"/>
            </a:endParaRPr>
          </a:p>
        </p:txBody>
      </p:sp>
      <p:grpSp>
        <p:nvGrpSpPr>
          <p:cNvPr id="22" name="object 22"/>
          <p:cNvGrpSpPr/>
          <p:nvPr/>
        </p:nvGrpSpPr>
        <p:grpSpPr>
          <a:xfrm>
            <a:off x="801370" y="4981168"/>
            <a:ext cx="6402705" cy="20955"/>
            <a:chOff x="801369" y="5018404"/>
            <a:chExt cx="6402705" cy="20955"/>
          </a:xfrm>
        </p:grpSpPr>
        <p:sp>
          <p:nvSpPr>
            <p:cNvPr id="23" name="object 23"/>
            <p:cNvSpPr/>
            <p:nvPr/>
          </p:nvSpPr>
          <p:spPr>
            <a:xfrm>
              <a:off x="801370" y="5018404"/>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24" name="object 24"/>
            <p:cNvSpPr/>
            <p:nvPr/>
          </p:nvSpPr>
          <p:spPr>
            <a:xfrm>
              <a:off x="7200899" y="5019166"/>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25" name="object 25"/>
            <p:cNvSpPr/>
            <p:nvPr/>
          </p:nvSpPr>
          <p:spPr>
            <a:xfrm>
              <a:off x="801928" y="5019178"/>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26" name="object 26"/>
            <p:cNvSpPr/>
            <p:nvPr/>
          </p:nvSpPr>
          <p:spPr>
            <a:xfrm>
              <a:off x="7200899" y="5022214"/>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27" name="object 27"/>
            <p:cNvSpPr/>
            <p:nvPr/>
          </p:nvSpPr>
          <p:spPr>
            <a:xfrm>
              <a:off x="801928" y="5035930"/>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28" name="object 28"/>
            <p:cNvSpPr/>
            <p:nvPr/>
          </p:nvSpPr>
          <p:spPr>
            <a:xfrm>
              <a:off x="801928" y="5035942"/>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29" name="object 29"/>
          <p:cNvSpPr txBox="1"/>
          <p:nvPr/>
        </p:nvSpPr>
        <p:spPr>
          <a:xfrm>
            <a:off x="801370" y="5139865"/>
            <a:ext cx="6315710" cy="858568"/>
          </a:xfrm>
          <a:prstGeom prst="rect">
            <a:avLst/>
          </a:prstGeom>
        </p:spPr>
        <p:txBody>
          <a:bodyPr vert="horz" wrap="square" lIns="0" tIns="12065" rIns="0" bIns="0" rtlCol="0">
            <a:spAutoFit/>
          </a:bodyPr>
          <a:lstStyle/>
          <a:p>
            <a:pPr marL="12700">
              <a:lnSpc>
                <a:spcPct val="100000"/>
              </a:lnSpc>
              <a:spcBef>
                <a:spcPts val="95"/>
              </a:spcBef>
            </a:pPr>
            <a:r>
              <a:rPr sz="1500" b="1" dirty="0">
                <a:latin typeface="Times New Roman"/>
                <a:cs typeface="Times New Roman"/>
              </a:rPr>
              <a:t>3.5</a:t>
            </a:r>
            <a:r>
              <a:rPr sz="1500" b="1" spc="-35" dirty="0">
                <a:latin typeface="Times New Roman"/>
                <a:cs typeface="Times New Roman"/>
              </a:rPr>
              <a:t> </a:t>
            </a:r>
            <a:r>
              <a:rPr sz="1500" b="1" dirty="0">
                <a:latin typeface="Times New Roman"/>
                <a:cs typeface="Times New Roman"/>
              </a:rPr>
              <a:t>Style</a:t>
            </a:r>
            <a:r>
              <a:rPr sz="1500" b="1" spc="-30" dirty="0">
                <a:latin typeface="Times New Roman"/>
                <a:cs typeface="Times New Roman"/>
              </a:rPr>
              <a:t> </a:t>
            </a:r>
            <a:r>
              <a:rPr sz="1500" b="1" dirty="0">
                <a:latin typeface="Times New Roman"/>
                <a:cs typeface="Times New Roman"/>
              </a:rPr>
              <a:t>Fieldsets</a:t>
            </a:r>
            <a:r>
              <a:rPr sz="1500" b="1" spc="-30" dirty="0">
                <a:latin typeface="Times New Roman"/>
                <a:cs typeface="Times New Roman"/>
              </a:rPr>
              <a:t> </a:t>
            </a:r>
            <a:r>
              <a:rPr sz="1500" b="1" dirty="0">
                <a:latin typeface="Times New Roman"/>
                <a:cs typeface="Times New Roman"/>
              </a:rPr>
              <a:t>and</a:t>
            </a:r>
            <a:r>
              <a:rPr sz="1500" b="1" spc="-25" dirty="0">
                <a:latin typeface="Times New Roman"/>
                <a:cs typeface="Times New Roman"/>
              </a:rPr>
              <a:t> </a:t>
            </a:r>
            <a:r>
              <a:rPr sz="1500" b="1" spc="-10" dirty="0">
                <a:latin typeface="Times New Roman"/>
                <a:cs typeface="Times New Roman"/>
              </a:rPr>
              <a:t>Legends:</a:t>
            </a:r>
            <a:endParaRPr sz="1500" dirty="0">
              <a:latin typeface="Times New Roman"/>
              <a:cs typeface="Times New Roman"/>
            </a:endParaRPr>
          </a:p>
          <a:p>
            <a:pPr marL="273685" marR="5080" indent="-171450">
              <a:lnSpc>
                <a:spcPts val="1380"/>
              </a:lnSpc>
              <a:spcBef>
                <a:spcPts val="1025"/>
              </a:spcBef>
              <a:buFont typeface="Arial" panose="020B0604020202020204" pitchFamily="34" charset="0"/>
              <a:buChar char="•"/>
            </a:pPr>
            <a:r>
              <a:rPr lang="en-US" sz="1300" b="1" dirty="0">
                <a:latin typeface="Times New Roman"/>
                <a:cs typeface="Times New Roman"/>
              </a:rPr>
              <a:t>Structure:</a:t>
            </a:r>
            <a:r>
              <a:rPr lang="en-US" sz="1300" dirty="0">
                <a:latin typeface="Times New Roman"/>
                <a:cs typeface="Times New Roman"/>
              </a:rPr>
              <a:t> Applied light gray borders (#ddd) and internal padding to all </a:t>
            </a:r>
            <a:r>
              <a:rPr lang="en-US" sz="1300" dirty="0" err="1">
                <a:latin typeface="Times New Roman"/>
                <a:cs typeface="Times New Roman"/>
              </a:rPr>
              <a:t>fieldsets</a:t>
            </a:r>
            <a:r>
              <a:rPr lang="en-US" sz="1300" dirty="0">
                <a:latin typeface="Times New Roman"/>
                <a:cs typeface="Times New Roman"/>
              </a:rPr>
              <a:t>.</a:t>
            </a:r>
          </a:p>
          <a:p>
            <a:pPr marL="273685" marR="5080" indent="-171450">
              <a:lnSpc>
                <a:spcPts val="1380"/>
              </a:lnSpc>
              <a:spcBef>
                <a:spcPts val="1025"/>
              </a:spcBef>
              <a:buFont typeface="Arial" panose="020B0604020202020204" pitchFamily="34" charset="0"/>
              <a:buChar char="•"/>
            </a:pPr>
            <a:r>
              <a:rPr lang="en-US" sz="1300" b="1" dirty="0">
                <a:latin typeface="Times New Roman"/>
                <a:cs typeface="Times New Roman"/>
              </a:rPr>
              <a:t>Text Styling</a:t>
            </a:r>
            <a:r>
              <a:rPr lang="en-US" sz="1300" dirty="0">
                <a:latin typeface="Times New Roman"/>
                <a:cs typeface="Times New Roman"/>
              </a:rPr>
              <a:t>: Set the legends to bold to clearly identify each form section.</a:t>
            </a:r>
            <a:endParaRPr sz="1300" dirty="0">
              <a:latin typeface="Times New Roman"/>
              <a:cs typeface="Times New Roman"/>
            </a:endParaRPr>
          </a:p>
        </p:txBody>
      </p:sp>
      <p:grpSp>
        <p:nvGrpSpPr>
          <p:cNvPr id="30" name="object 30"/>
          <p:cNvGrpSpPr/>
          <p:nvPr/>
        </p:nvGrpSpPr>
        <p:grpSpPr>
          <a:xfrm>
            <a:off x="801369" y="6179819"/>
            <a:ext cx="6402705" cy="20955"/>
            <a:chOff x="801369" y="6179819"/>
            <a:chExt cx="6402705" cy="20955"/>
          </a:xfrm>
        </p:grpSpPr>
        <p:sp>
          <p:nvSpPr>
            <p:cNvPr id="31" name="object 31"/>
            <p:cNvSpPr/>
            <p:nvPr/>
          </p:nvSpPr>
          <p:spPr>
            <a:xfrm>
              <a:off x="801370" y="6179819"/>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32" name="object 32"/>
            <p:cNvSpPr/>
            <p:nvPr/>
          </p:nvSpPr>
          <p:spPr>
            <a:xfrm>
              <a:off x="7200899" y="6180708"/>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33" name="object 33"/>
            <p:cNvSpPr/>
            <p:nvPr/>
          </p:nvSpPr>
          <p:spPr>
            <a:xfrm>
              <a:off x="801928" y="6180708"/>
              <a:ext cx="6402070" cy="17145"/>
            </a:xfrm>
            <a:custGeom>
              <a:avLst/>
              <a:gdLst/>
              <a:ahLst/>
              <a:cxnLst/>
              <a:rect l="l" t="t" r="r" b="b"/>
              <a:pathLst>
                <a:path w="6402070" h="17145">
                  <a:moveTo>
                    <a:pt x="3048" y="3048"/>
                  </a:moveTo>
                  <a:lnTo>
                    <a:pt x="0" y="3048"/>
                  </a:lnTo>
                  <a:lnTo>
                    <a:pt x="0" y="16764"/>
                  </a:lnTo>
                  <a:lnTo>
                    <a:pt x="3048" y="16764"/>
                  </a:lnTo>
                  <a:lnTo>
                    <a:pt x="3048" y="3048"/>
                  </a:lnTo>
                  <a:close/>
                </a:path>
                <a:path w="6402070" h="17145">
                  <a:moveTo>
                    <a:pt x="6402006" y="0"/>
                  </a:moveTo>
                  <a:lnTo>
                    <a:pt x="6398971" y="0"/>
                  </a:lnTo>
                  <a:lnTo>
                    <a:pt x="6398971" y="3048"/>
                  </a:lnTo>
                  <a:lnTo>
                    <a:pt x="6402006" y="3048"/>
                  </a:lnTo>
                  <a:lnTo>
                    <a:pt x="6402006" y="0"/>
                  </a:lnTo>
                  <a:close/>
                </a:path>
              </a:pathLst>
            </a:custGeom>
            <a:solidFill>
              <a:srgbClr val="9F9F9F"/>
            </a:solidFill>
          </p:spPr>
          <p:txBody>
            <a:bodyPr wrap="square" lIns="0" tIns="0" rIns="0" bIns="0" rtlCol="0"/>
            <a:lstStyle/>
            <a:p>
              <a:endParaRPr/>
            </a:p>
          </p:txBody>
        </p:sp>
        <p:sp>
          <p:nvSpPr>
            <p:cNvPr id="34" name="object 34"/>
            <p:cNvSpPr/>
            <p:nvPr/>
          </p:nvSpPr>
          <p:spPr>
            <a:xfrm>
              <a:off x="7200899" y="6183756"/>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35" name="object 35"/>
            <p:cNvSpPr/>
            <p:nvPr/>
          </p:nvSpPr>
          <p:spPr>
            <a:xfrm>
              <a:off x="801928" y="6197472"/>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36" name="object 36"/>
            <p:cNvSpPr/>
            <p:nvPr/>
          </p:nvSpPr>
          <p:spPr>
            <a:xfrm>
              <a:off x="801928" y="6197485"/>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37" name="object 37"/>
          <p:cNvSpPr txBox="1"/>
          <p:nvPr/>
        </p:nvSpPr>
        <p:spPr>
          <a:xfrm>
            <a:off x="736587" y="6558285"/>
            <a:ext cx="6221095" cy="1038105"/>
          </a:xfrm>
          <a:prstGeom prst="rect">
            <a:avLst/>
          </a:prstGeom>
        </p:spPr>
        <p:txBody>
          <a:bodyPr vert="horz" wrap="square" lIns="0" tIns="12065" rIns="0" bIns="0" rtlCol="0">
            <a:spAutoFit/>
          </a:bodyPr>
          <a:lstStyle/>
          <a:p>
            <a:pPr marL="12700">
              <a:lnSpc>
                <a:spcPct val="100000"/>
              </a:lnSpc>
              <a:spcBef>
                <a:spcPts val="95"/>
              </a:spcBef>
            </a:pPr>
            <a:r>
              <a:rPr sz="1500" b="1" dirty="0">
                <a:latin typeface="Times New Roman"/>
                <a:cs typeface="Times New Roman"/>
              </a:rPr>
              <a:t>3.6</a:t>
            </a:r>
            <a:r>
              <a:rPr sz="1500" b="1" spc="-30" dirty="0">
                <a:latin typeface="Times New Roman"/>
                <a:cs typeface="Times New Roman"/>
              </a:rPr>
              <a:t> </a:t>
            </a:r>
            <a:r>
              <a:rPr sz="1500" b="1" dirty="0">
                <a:latin typeface="Times New Roman"/>
                <a:cs typeface="Times New Roman"/>
              </a:rPr>
              <a:t>Improve</a:t>
            </a:r>
            <a:r>
              <a:rPr sz="1500" b="1" spc="-30" dirty="0">
                <a:latin typeface="Times New Roman"/>
                <a:cs typeface="Times New Roman"/>
              </a:rPr>
              <a:t> </a:t>
            </a:r>
            <a:r>
              <a:rPr sz="1500" b="1" dirty="0">
                <a:latin typeface="Times New Roman"/>
                <a:cs typeface="Times New Roman"/>
              </a:rPr>
              <a:t>Input</a:t>
            </a:r>
            <a:r>
              <a:rPr sz="1500" b="1" spc="-15" dirty="0">
                <a:latin typeface="Times New Roman"/>
                <a:cs typeface="Times New Roman"/>
              </a:rPr>
              <a:t> </a:t>
            </a:r>
            <a:r>
              <a:rPr sz="1500" b="1" spc="-10" dirty="0">
                <a:latin typeface="Times New Roman"/>
                <a:cs typeface="Times New Roman"/>
              </a:rPr>
              <a:t>Elements:</a:t>
            </a:r>
            <a:endParaRPr sz="1500" dirty="0">
              <a:latin typeface="Times New Roman"/>
              <a:cs typeface="Times New Roman"/>
            </a:endParaRPr>
          </a:p>
          <a:p>
            <a:pPr marL="296545" marR="5080" indent="-171450">
              <a:lnSpc>
                <a:spcPts val="1380"/>
              </a:lnSpc>
              <a:spcBef>
                <a:spcPts val="1035"/>
              </a:spcBef>
              <a:buFont typeface="Arial" panose="020B0604020202020204" pitchFamily="34" charset="0"/>
              <a:buChar char="•"/>
            </a:pPr>
            <a:r>
              <a:rPr lang="en-US" sz="1300" b="1" dirty="0">
                <a:latin typeface="Times New Roman"/>
                <a:cs typeface="Times New Roman"/>
              </a:rPr>
              <a:t>Consistency</a:t>
            </a:r>
            <a:r>
              <a:rPr lang="en-US" sz="1300" dirty="0">
                <a:latin typeface="Times New Roman"/>
                <a:cs typeface="Times New Roman"/>
              </a:rPr>
              <a:t>: Removed default input lines and ensured inputs have uniform width within the form.</a:t>
            </a:r>
          </a:p>
          <a:p>
            <a:pPr marL="296545" marR="5080" indent="-171450">
              <a:lnSpc>
                <a:spcPts val="1380"/>
              </a:lnSpc>
              <a:spcBef>
                <a:spcPts val="1035"/>
              </a:spcBef>
              <a:buFont typeface="Arial" panose="020B0604020202020204" pitchFamily="34" charset="0"/>
              <a:buChar char="•"/>
            </a:pPr>
            <a:r>
              <a:rPr lang="en-US" sz="1300" b="1" dirty="0">
                <a:latin typeface="Times New Roman"/>
                <a:cs typeface="Times New Roman"/>
              </a:rPr>
              <a:t>Validation:</a:t>
            </a:r>
            <a:r>
              <a:rPr lang="en-US" sz="1300" dirty="0">
                <a:latin typeface="Times New Roman"/>
                <a:cs typeface="Times New Roman"/>
              </a:rPr>
              <a:t> Coded the borders to change to green for correct input and red for errors.</a:t>
            </a:r>
            <a:endParaRPr sz="1300" dirty="0">
              <a:latin typeface="Times New Roman"/>
              <a:cs typeface="Times New Roman"/>
            </a:endParaRPr>
          </a:p>
        </p:txBody>
      </p:sp>
      <p:grpSp>
        <p:nvGrpSpPr>
          <p:cNvPr id="38" name="object 38"/>
          <p:cNvGrpSpPr/>
          <p:nvPr/>
        </p:nvGrpSpPr>
        <p:grpSpPr>
          <a:xfrm>
            <a:off x="801369" y="7679689"/>
            <a:ext cx="6402705" cy="20955"/>
            <a:chOff x="801369" y="7679689"/>
            <a:chExt cx="6402705" cy="20955"/>
          </a:xfrm>
        </p:grpSpPr>
        <p:sp>
          <p:nvSpPr>
            <p:cNvPr id="39" name="object 39"/>
            <p:cNvSpPr/>
            <p:nvPr/>
          </p:nvSpPr>
          <p:spPr>
            <a:xfrm>
              <a:off x="801370" y="7679689"/>
              <a:ext cx="6400800" cy="19685"/>
            </a:xfrm>
            <a:custGeom>
              <a:avLst/>
              <a:gdLst/>
              <a:ahLst/>
              <a:cxnLst/>
              <a:rect l="l" t="t" r="r" b="b"/>
              <a:pathLst>
                <a:path w="6400800" h="19684">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40" name="object 40"/>
            <p:cNvSpPr/>
            <p:nvPr/>
          </p:nvSpPr>
          <p:spPr>
            <a:xfrm>
              <a:off x="7200899" y="7680324"/>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41" name="object 41"/>
            <p:cNvSpPr/>
            <p:nvPr/>
          </p:nvSpPr>
          <p:spPr>
            <a:xfrm>
              <a:off x="801928" y="7680336"/>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42" name="object 42"/>
            <p:cNvSpPr/>
            <p:nvPr/>
          </p:nvSpPr>
          <p:spPr>
            <a:xfrm>
              <a:off x="7200899" y="7683372"/>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43" name="object 43"/>
            <p:cNvSpPr/>
            <p:nvPr/>
          </p:nvSpPr>
          <p:spPr>
            <a:xfrm>
              <a:off x="801928" y="7697088"/>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44" name="object 44"/>
            <p:cNvSpPr/>
            <p:nvPr/>
          </p:nvSpPr>
          <p:spPr>
            <a:xfrm>
              <a:off x="801928" y="7697100"/>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45" name="object 45"/>
          <p:cNvSpPr txBox="1"/>
          <p:nvPr/>
        </p:nvSpPr>
        <p:spPr>
          <a:xfrm>
            <a:off x="750503" y="7900685"/>
            <a:ext cx="6390005" cy="1089401"/>
          </a:xfrm>
          <a:prstGeom prst="rect">
            <a:avLst/>
          </a:prstGeom>
        </p:spPr>
        <p:txBody>
          <a:bodyPr vert="horz" wrap="square" lIns="0" tIns="12065" rIns="0" bIns="0" rtlCol="0">
            <a:spAutoFit/>
          </a:bodyPr>
          <a:lstStyle/>
          <a:p>
            <a:pPr marL="12700">
              <a:lnSpc>
                <a:spcPct val="100000"/>
              </a:lnSpc>
              <a:spcBef>
                <a:spcPts val="95"/>
              </a:spcBef>
            </a:pPr>
            <a:r>
              <a:rPr sz="1500" b="1" dirty="0">
                <a:latin typeface="Times New Roman"/>
                <a:cs typeface="Times New Roman"/>
              </a:rPr>
              <a:t>3.7</a:t>
            </a:r>
            <a:r>
              <a:rPr sz="1500" b="1" spc="-35" dirty="0">
                <a:latin typeface="Times New Roman"/>
                <a:cs typeface="Times New Roman"/>
              </a:rPr>
              <a:t> </a:t>
            </a:r>
            <a:r>
              <a:rPr sz="1500" b="1" dirty="0">
                <a:latin typeface="Times New Roman"/>
                <a:cs typeface="Times New Roman"/>
              </a:rPr>
              <a:t>Button</a:t>
            </a:r>
            <a:r>
              <a:rPr sz="1500" b="1" spc="-35" dirty="0">
                <a:latin typeface="Times New Roman"/>
                <a:cs typeface="Times New Roman"/>
              </a:rPr>
              <a:t> </a:t>
            </a:r>
            <a:r>
              <a:rPr sz="1500" b="1" spc="-10" dirty="0">
                <a:latin typeface="Times New Roman"/>
                <a:cs typeface="Times New Roman"/>
              </a:rPr>
              <a:t>Styling</a:t>
            </a:r>
            <a:r>
              <a:rPr lang="en-US" sz="1500" b="1" spc="-10" dirty="0">
                <a:latin typeface="Times New Roman"/>
                <a:cs typeface="Times New Roman"/>
              </a:rPr>
              <a:t>:</a:t>
            </a:r>
          </a:p>
          <a:p>
            <a:pPr marL="410845" marR="5080" indent="-285750">
              <a:lnSpc>
                <a:spcPts val="1380"/>
              </a:lnSpc>
              <a:spcBef>
                <a:spcPts val="1225"/>
              </a:spcBef>
              <a:buFont typeface="Arial" panose="020B0604020202020204" pitchFamily="34" charset="0"/>
              <a:buChar char="•"/>
            </a:pPr>
            <a:r>
              <a:rPr lang="en-US" sz="1300" b="1" dirty="0">
                <a:latin typeface="Times New Roman"/>
                <a:cs typeface="Times New Roman"/>
              </a:rPr>
              <a:t>Visual Design:</a:t>
            </a:r>
            <a:r>
              <a:rPr lang="en-US" sz="1300" dirty="0">
                <a:latin typeface="Times New Roman"/>
                <a:cs typeface="Times New Roman"/>
              </a:rPr>
              <a:t> Styled the "Submit" button with a dark blue background and "Reset" with a red background.</a:t>
            </a:r>
          </a:p>
          <a:p>
            <a:pPr marL="410845" marR="5080" indent="-285750">
              <a:lnSpc>
                <a:spcPts val="1380"/>
              </a:lnSpc>
              <a:spcBef>
                <a:spcPts val="1225"/>
              </a:spcBef>
              <a:buFont typeface="Arial" panose="020B0604020202020204" pitchFamily="34" charset="0"/>
              <a:buChar char="•"/>
            </a:pPr>
            <a:r>
              <a:rPr lang="en-US" sz="1300" b="1" dirty="0">
                <a:latin typeface="Times New Roman"/>
                <a:cs typeface="Times New Roman"/>
              </a:rPr>
              <a:t>Interactivity:</a:t>
            </a:r>
            <a:r>
              <a:rPr lang="en-US" sz="1300" dirty="0">
                <a:latin typeface="Times New Roman"/>
                <a:cs typeface="Times New Roman"/>
              </a:rPr>
              <a:t> Added cursor: pointer and rounded edges for a modern feel.</a:t>
            </a:r>
          </a:p>
        </p:txBody>
      </p:sp>
      <p:grpSp>
        <p:nvGrpSpPr>
          <p:cNvPr id="46" name="object 46"/>
          <p:cNvGrpSpPr/>
          <p:nvPr/>
        </p:nvGrpSpPr>
        <p:grpSpPr>
          <a:xfrm>
            <a:off x="754697" y="9364401"/>
            <a:ext cx="6402705" cy="21590"/>
            <a:chOff x="801369" y="9038589"/>
            <a:chExt cx="6402705" cy="21590"/>
          </a:xfrm>
        </p:grpSpPr>
        <p:sp>
          <p:nvSpPr>
            <p:cNvPr id="47" name="object 47"/>
            <p:cNvSpPr/>
            <p:nvPr/>
          </p:nvSpPr>
          <p:spPr>
            <a:xfrm>
              <a:off x="801370" y="9038589"/>
              <a:ext cx="6400800" cy="20320"/>
            </a:xfrm>
            <a:custGeom>
              <a:avLst/>
              <a:gdLst/>
              <a:ahLst/>
              <a:cxnLst/>
              <a:rect l="l" t="t" r="r" b="b"/>
              <a:pathLst>
                <a:path w="6400800" h="20320">
                  <a:moveTo>
                    <a:pt x="6400800" y="0"/>
                  </a:moveTo>
                  <a:lnTo>
                    <a:pt x="0" y="0"/>
                  </a:lnTo>
                  <a:lnTo>
                    <a:pt x="0" y="20320"/>
                  </a:lnTo>
                  <a:lnTo>
                    <a:pt x="6400800" y="20320"/>
                  </a:lnTo>
                  <a:lnTo>
                    <a:pt x="6400800" y="0"/>
                  </a:lnTo>
                  <a:close/>
                </a:path>
              </a:pathLst>
            </a:custGeom>
            <a:solidFill>
              <a:srgbClr val="9F9F9F"/>
            </a:solidFill>
          </p:spPr>
          <p:txBody>
            <a:bodyPr wrap="square" lIns="0" tIns="0" rIns="0" bIns="0" rtlCol="0"/>
            <a:lstStyle/>
            <a:p>
              <a:endParaRPr/>
            </a:p>
          </p:txBody>
        </p:sp>
        <p:sp>
          <p:nvSpPr>
            <p:cNvPr id="48" name="object 48"/>
            <p:cNvSpPr/>
            <p:nvPr/>
          </p:nvSpPr>
          <p:spPr>
            <a:xfrm>
              <a:off x="7200899" y="9040112"/>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49" name="object 49"/>
            <p:cNvSpPr/>
            <p:nvPr/>
          </p:nvSpPr>
          <p:spPr>
            <a:xfrm>
              <a:off x="801928" y="9040113"/>
              <a:ext cx="6402070" cy="17145"/>
            </a:xfrm>
            <a:custGeom>
              <a:avLst/>
              <a:gdLst/>
              <a:ahLst/>
              <a:cxnLst/>
              <a:rect l="l" t="t" r="r" b="b"/>
              <a:pathLst>
                <a:path w="6402070" h="17145">
                  <a:moveTo>
                    <a:pt x="3048" y="3048"/>
                  </a:moveTo>
                  <a:lnTo>
                    <a:pt x="0" y="3048"/>
                  </a:lnTo>
                  <a:lnTo>
                    <a:pt x="0" y="16764"/>
                  </a:lnTo>
                  <a:lnTo>
                    <a:pt x="3048" y="16764"/>
                  </a:lnTo>
                  <a:lnTo>
                    <a:pt x="3048" y="3048"/>
                  </a:lnTo>
                  <a:close/>
                </a:path>
                <a:path w="6402070" h="17145">
                  <a:moveTo>
                    <a:pt x="6402006" y="0"/>
                  </a:moveTo>
                  <a:lnTo>
                    <a:pt x="6398971" y="0"/>
                  </a:lnTo>
                  <a:lnTo>
                    <a:pt x="6398971" y="3060"/>
                  </a:lnTo>
                  <a:lnTo>
                    <a:pt x="6402006" y="3060"/>
                  </a:lnTo>
                  <a:lnTo>
                    <a:pt x="6402006" y="0"/>
                  </a:lnTo>
                  <a:close/>
                </a:path>
              </a:pathLst>
            </a:custGeom>
            <a:solidFill>
              <a:srgbClr val="9F9F9F"/>
            </a:solidFill>
          </p:spPr>
          <p:txBody>
            <a:bodyPr wrap="square" lIns="0" tIns="0" rIns="0" bIns="0" rtlCol="0"/>
            <a:lstStyle/>
            <a:p>
              <a:endParaRPr/>
            </a:p>
          </p:txBody>
        </p:sp>
        <p:sp>
          <p:nvSpPr>
            <p:cNvPr id="50" name="object 50"/>
            <p:cNvSpPr/>
            <p:nvPr/>
          </p:nvSpPr>
          <p:spPr>
            <a:xfrm>
              <a:off x="7200899" y="9043161"/>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51" name="object 51"/>
            <p:cNvSpPr/>
            <p:nvPr/>
          </p:nvSpPr>
          <p:spPr>
            <a:xfrm>
              <a:off x="801928" y="9056877"/>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52" name="object 52"/>
            <p:cNvSpPr/>
            <p:nvPr/>
          </p:nvSpPr>
          <p:spPr>
            <a:xfrm>
              <a:off x="801928" y="9056890"/>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pic>
        <p:nvPicPr>
          <p:cNvPr id="53" name="object 53"/>
          <p:cNvPicPr/>
          <p:nvPr/>
        </p:nvPicPr>
        <p:blipFill>
          <a:blip r:embed="rId4" cstate="print"/>
          <a:stretch>
            <a:fillRect/>
          </a:stretch>
        </p:blipFill>
        <p:spPr>
          <a:xfrm>
            <a:off x="683259" y="342899"/>
            <a:ext cx="1495933" cy="370204"/>
          </a:xfrm>
          <a:prstGeom prst="rect">
            <a:avLst/>
          </a:prstGeom>
        </p:spPr>
      </p:pic>
      <p:pic>
        <p:nvPicPr>
          <p:cNvPr id="54" name="object 54"/>
          <p:cNvPicPr/>
          <p:nvPr/>
        </p:nvPicPr>
        <p:blipFill>
          <a:blip r:embed="rId5" cstate="print"/>
          <a:stretch>
            <a:fillRect/>
          </a:stretch>
        </p:blipFill>
        <p:spPr>
          <a:xfrm>
            <a:off x="2749550" y="342899"/>
            <a:ext cx="1004798" cy="5664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6073775" y="344169"/>
            <a:ext cx="1074407" cy="401954"/>
          </a:xfrm>
          <a:prstGeom prst="rect">
            <a:avLst/>
          </a:prstGeom>
        </p:spPr>
      </p:pic>
      <p:sp>
        <p:nvSpPr>
          <p:cNvPr id="3" name="object 3"/>
          <p:cNvSpPr txBox="1"/>
          <p:nvPr/>
        </p:nvSpPr>
        <p:spPr>
          <a:xfrm>
            <a:off x="829501" y="1029413"/>
            <a:ext cx="6082665" cy="1186863"/>
          </a:xfrm>
          <a:prstGeom prst="rect">
            <a:avLst/>
          </a:prstGeom>
        </p:spPr>
        <p:txBody>
          <a:bodyPr vert="horz" wrap="square" lIns="0" tIns="12065" rIns="0" bIns="0" rtlCol="0">
            <a:spAutoFit/>
          </a:bodyPr>
          <a:lstStyle/>
          <a:p>
            <a:pPr marL="12700">
              <a:lnSpc>
                <a:spcPct val="100000"/>
              </a:lnSpc>
              <a:spcBef>
                <a:spcPts val="95"/>
              </a:spcBef>
            </a:pPr>
            <a:r>
              <a:rPr sz="1300" b="1" dirty="0">
                <a:latin typeface="Times New Roman"/>
                <a:cs typeface="Times New Roman"/>
              </a:rPr>
              <a:t>3.8</a:t>
            </a:r>
            <a:r>
              <a:rPr sz="1300" b="1" spc="-35" dirty="0">
                <a:latin typeface="Times New Roman"/>
                <a:cs typeface="Times New Roman"/>
              </a:rPr>
              <a:t> </a:t>
            </a:r>
            <a:r>
              <a:rPr sz="1300" b="1" dirty="0">
                <a:latin typeface="Times New Roman"/>
                <a:cs typeface="Times New Roman"/>
              </a:rPr>
              <a:t>Style</a:t>
            </a:r>
            <a:r>
              <a:rPr sz="1300" b="1" spc="-35" dirty="0">
                <a:latin typeface="Times New Roman"/>
                <a:cs typeface="Times New Roman"/>
              </a:rPr>
              <a:t> </a:t>
            </a:r>
            <a:r>
              <a:rPr sz="1300" b="1" dirty="0">
                <a:latin typeface="Times New Roman"/>
                <a:cs typeface="Times New Roman"/>
              </a:rPr>
              <a:t>the</a:t>
            </a:r>
            <a:r>
              <a:rPr sz="1300" b="1" spc="-35" dirty="0">
                <a:latin typeface="Times New Roman"/>
                <a:cs typeface="Times New Roman"/>
              </a:rPr>
              <a:t> </a:t>
            </a:r>
            <a:r>
              <a:rPr sz="1300" b="1" dirty="0">
                <a:latin typeface="Times New Roman"/>
                <a:cs typeface="Times New Roman"/>
              </a:rPr>
              <a:t>Participants</a:t>
            </a:r>
            <a:r>
              <a:rPr sz="1300" b="1" spc="-30" dirty="0">
                <a:latin typeface="Times New Roman"/>
                <a:cs typeface="Times New Roman"/>
              </a:rPr>
              <a:t> </a:t>
            </a:r>
            <a:r>
              <a:rPr sz="1300" b="1" spc="-10" dirty="0">
                <a:latin typeface="Times New Roman"/>
                <a:cs typeface="Times New Roman"/>
              </a:rPr>
              <a:t>Table:</a:t>
            </a:r>
            <a:endParaRPr sz="1300" dirty="0">
              <a:latin typeface="Times New Roman"/>
              <a:cs typeface="Times New Roman"/>
            </a:endParaRPr>
          </a:p>
          <a:p>
            <a:pPr marL="273685" marR="5080" indent="-171450">
              <a:lnSpc>
                <a:spcPts val="1380"/>
              </a:lnSpc>
              <a:spcBef>
                <a:spcPts val="1025"/>
              </a:spcBef>
              <a:buFont typeface="Arial" panose="020B0604020202020204" pitchFamily="34" charset="0"/>
              <a:buChar char="•"/>
            </a:pPr>
            <a:r>
              <a:rPr lang="en-US" sz="1400" b="1" dirty="0">
                <a:latin typeface="Times New Roman"/>
                <a:cs typeface="Times New Roman"/>
              </a:rPr>
              <a:t>Header Style</a:t>
            </a:r>
            <a:r>
              <a:rPr lang="en-US" sz="1400" dirty="0">
                <a:latin typeface="Times New Roman"/>
                <a:cs typeface="Times New Roman"/>
              </a:rPr>
              <a:t>: Highlighted the table headers &lt;</a:t>
            </a:r>
            <a:r>
              <a:rPr lang="en-US" sz="1400" dirty="0" err="1">
                <a:latin typeface="Times New Roman"/>
                <a:cs typeface="Times New Roman"/>
              </a:rPr>
              <a:t>th</a:t>
            </a:r>
            <a:r>
              <a:rPr lang="en-US" sz="1400" dirty="0">
                <a:latin typeface="Times New Roman"/>
                <a:cs typeface="Times New Roman"/>
              </a:rPr>
              <a:t>&gt; with a bright yellow background (#ffeb3b).</a:t>
            </a:r>
          </a:p>
          <a:p>
            <a:pPr marL="273685" marR="5080" indent="-171450">
              <a:lnSpc>
                <a:spcPts val="1380"/>
              </a:lnSpc>
              <a:spcBef>
                <a:spcPts val="1025"/>
              </a:spcBef>
              <a:buFont typeface="Arial" panose="020B0604020202020204" pitchFamily="34" charset="0"/>
              <a:buChar char="•"/>
            </a:pPr>
            <a:r>
              <a:rPr lang="en-US" sz="1400" b="1" dirty="0">
                <a:latin typeface="Times New Roman"/>
                <a:cs typeface="Times New Roman"/>
              </a:rPr>
              <a:t>Readability</a:t>
            </a:r>
            <a:r>
              <a:rPr lang="en-US" sz="1400" dirty="0">
                <a:latin typeface="Times New Roman"/>
                <a:cs typeface="Times New Roman"/>
              </a:rPr>
              <a:t>: Applied consistent borders and padding to ensure student data is easy to scan</a:t>
            </a:r>
            <a:endParaRPr lang="en-US" sz="1300" i="1" dirty="0">
              <a:latin typeface="Times New Roman"/>
              <a:cs typeface="Times New Roman"/>
            </a:endParaRPr>
          </a:p>
        </p:txBody>
      </p:sp>
      <p:grpSp>
        <p:nvGrpSpPr>
          <p:cNvPr id="4" name="object 4"/>
          <p:cNvGrpSpPr/>
          <p:nvPr/>
        </p:nvGrpSpPr>
        <p:grpSpPr>
          <a:xfrm>
            <a:off x="801370" y="2298481"/>
            <a:ext cx="6402705" cy="20320"/>
            <a:chOff x="801369" y="2552699"/>
            <a:chExt cx="6402705" cy="20320"/>
          </a:xfrm>
        </p:grpSpPr>
        <p:sp>
          <p:nvSpPr>
            <p:cNvPr id="5" name="object 5"/>
            <p:cNvSpPr/>
            <p:nvPr/>
          </p:nvSpPr>
          <p:spPr>
            <a:xfrm>
              <a:off x="801370" y="2552699"/>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6" name="object 6"/>
            <p:cNvSpPr/>
            <p:nvPr/>
          </p:nvSpPr>
          <p:spPr>
            <a:xfrm>
              <a:off x="7200899" y="2552953"/>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7" name="object 7"/>
            <p:cNvSpPr/>
            <p:nvPr/>
          </p:nvSpPr>
          <p:spPr>
            <a:xfrm>
              <a:off x="801928" y="2552953"/>
              <a:ext cx="6402070" cy="17145"/>
            </a:xfrm>
            <a:custGeom>
              <a:avLst/>
              <a:gdLst/>
              <a:ahLst/>
              <a:cxnLst/>
              <a:rect l="l" t="t" r="r" b="b"/>
              <a:pathLst>
                <a:path w="6402070" h="17144">
                  <a:moveTo>
                    <a:pt x="3048" y="3048"/>
                  </a:moveTo>
                  <a:lnTo>
                    <a:pt x="0" y="3048"/>
                  </a:lnTo>
                  <a:lnTo>
                    <a:pt x="0" y="16764"/>
                  </a:lnTo>
                  <a:lnTo>
                    <a:pt x="3048" y="16764"/>
                  </a:lnTo>
                  <a:lnTo>
                    <a:pt x="3048" y="3048"/>
                  </a:lnTo>
                  <a:close/>
                </a:path>
                <a:path w="6402070" h="17144">
                  <a:moveTo>
                    <a:pt x="6402006" y="0"/>
                  </a:moveTo>
                  <a:lnTo>
                    <a:pt x="6398971" y="0"/>
                  </a:lnTo>
                  <a:lnTo>
                    <a:pt x="6398971" y="3048"/>
                  </a:lnTo>
                  <a:lnTo>
                    <a:pt x="6402006" y="3048"/>
                  </a:lnTo>
                  <a:lnTo>
                    <a:pt x="6402006" y="0"/>
                  </a:lnTo>
                  <a:close/>
                </a:path>
              </a:pathLst>
            </a:custGeom>
            <a:solidFill>
              <a:srgbClr val="9F9F9F"/>
            </a:solidFill>
          </p:spPr>
          <p:txBody>
            <a:bodyPr wrap="square" lIns="0" tIns="0" rIns="0" bIns="0" rtlCol="0"/>
            <a:lstStyle/>
            <a:p>
              <a:endParaRPr/>
            </a:p>
          </p:txBody>
        </p:sp>
        <p:sp>
          <p:nvSpPr>
            <p:cNvPr id="8" name="object 8"/>
            <p:cNvSpPr/>
            <p:nvPr/>
          </p:nvSpPr>
          <p:spPr>
            <a:xfrm>
              <a:off x="7200899" y="2556001"/>
              <a:ext cx="3175" cy="13970"/>
            </a:xfrm>
            <a:custGeom>
              <a:avLst/>
              <a:gdLst/>
              <a:ahLst/>
              <a:cxnLst/>
              <a:rect l="l" t="t" r="r" b="b"/>
              <a:pathLst>
                <a:path w="3175" h="13969">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9" name="object 9"/>
            <p:cNvSpPr/>
            <p:nvPr/>
          </p:nvSpPr>
          <p:spPr>
            <a:xfrm>
              <a:off x="801928" y="2569717"/>
              <a:ext cx="3175" cy="3175"/>
            </a:xfrm>
            <a:custGeom>
              <a:avLst/>
              <a:gdLst/>
              <a:ahLst/>
              <a:cxnLst/>
              <a:rect l="l" t="t" r="r" b="b"/>
              <a:pathLst>
                <a:path w="3175" h="3175">
                  <a:moveTo>
                    <a:pt x="3048" y="0"/>
                  </a:moveTo>
                  <a:lnTo>
                    <a:pt x="0" y="0"/>
                  </a:lnTo>
                  <a:lnTo>
                    <a:pt x="0" y="3048"/>
                  </a:lnTo>
                  <a:lnTo>
                    <a:pt x="3048" y="3048"/>
                  </a:lnTo>
                  <a:lnTo>
                    <a:pt x="3048" y="0"/>
                  </a:lnTo>
                  <a:close/>
                </a:path>
              </a:pathLst>
            </a:custGeom>
            <a:solidFill>
              <a:srgbClr val="9F9F9F"/>
            </a:solidFill>
          </p:spPr>
          <p:txBody>
            <a:bodyPr wrap="square" lIns="0" tIns="0" rIns="0" bIns="0" rtlCol="0"/>
            <a:lstStyle/>
            <a:p>
              <a:endParaRPr/>
            </a:p>
          </p:txBody>
        </p:sp>
        <p:sp>
          <p:nvSpPr>
            <p:cNvPr id="10" name="object 10"/>
            <p:cNvSpPr/>
            <p:nvPr/>
          </p:nvSpPr>
          <p:spPr>
            <a:xfrm>
              <a:off x="801928" y="2569717"/>
              <a:ext cx="6402070" cy="3175"/>
            </a:xfrm>
            <a:custGeom>
              <a:avLst/>
              <a:gdLst/>
              <a:ahLst/>
              <a:cxnLst/>
              <a:rect l="l" t="t" r="r" b="b"/>
              <a:pathLst>
                <a:path w="6402070" h="3175">
                  <a:moveTo>
                    <a:pt x="6402006" y="0"/>
                  </a:moveTo>
                  <a:lnTo>
                    <a:pt x="6399022" y="0"/>
                  </a:lnTo>
                  <a:lnTo>
                    <a:pt x="3048" y="0"/>
                  </a:lnTo>
                  <a:lnTo>
                    <a:pt x="0" y="0"/>
                  </a:lnTo>
                  <a:lnTo>
                    <a:pt x="0" y="3048"/>
                  </a:lnTo>
                  <a:lnTo>
                    <a:pt x="3048" y="3048"/>
                  </a:lnTo>
                  <a:lnTo>
                    <a:pt x="6398971" y="3048"/>
                  </a:lnTo>
                  <a:lnTo>
                    <a:pt x="6402006" y="3048"/>
                  </a:lnTo>
                  <a:lnTo>
                    <a:pt x="6402006" y="0"/>
                  </a:lnTo>
                  <a:close/>
                </a:path>
              </a:pathLst>
            </a:custGeom>
            <a:solidFill>
              <a:srgbClr val="E2E2E2"/>
            </a:solidFill>
          </p:spPr>
          <p:txBody>
            <a:bodyPr wrap="square" lIns="0" tIns="0" rIns="0" bIns="0" rtlCol="0"/>
            <a:lstStyle/>
            <a:p>
              <a:endParaRPr/>
            </a:p>
          </p:txBody>
        </p:sp>
      </p:grpSp>
      <p:sp>
        <p:nvSpPr>
          <p:cNvPr id="11" name="object 11"/>
          <p:cNvSpPr txBox="1"/>
          <p:nvPr/>
        </p:nvSpPr>
        <p:spPr>
          <a:xfrm>
            <a:off x="805321" y="2410753"/>
            <a:ext cx="6006465" cy="827791"/>
          </a:xfrm>
          <a:prstGeom prst="rect">
            <a:avLst/>
          </a:prstGeom>
        </p:spPr>
        <p:txBody>
          <a:bodyPr vert="horz" wrap="square" lIns="0" tIns="12065" rIns="0" bIns="0" rtlCol="0">
            <a:spAutoFit/>
          </a:bodyPr>
          <a:lstStyle/>
          <a:p>
            <a:pPr marL="12700">
              <a:lnSpc>
                <a:spcPct val="100000"/>
              </a:lnSpc>
              <a:spcBef>
                <a:spcPts val="95"/>
              </a:spcBef>
            </a:pPr>
            <a:r>
              <a:rPr sz="1300" b="1" dirty="0">
                <a:latin typeface="Times New Roman"/>
                <a:cs typeface="Times New Roman"/>
              </a:rPr>
              <a:t>3.9</a:t>
            </a:r>
            <a:r>
              <a:rPr sz="1300" b="1" spc="-35" dirty="0">
                <a:latin typeface="Times New Roman"/>
                <a:cs typeface="Times New Roman"/>
              </a:rPr>
              <a:t> </a:t>
            </a:r>
            <a:r>
              <a:rPr sz="1300" b="1" dirty="0">
                <a:latin typeface="Times New Roman"/>
                <a:cs typeface="Times New Roman"/>
              </a:rPr>
              <a:t>Style</a:t>
            </a:r>
            <a:r>
              <a:rPr sz="1300" b="1" spc="-30" dirty="0">
                <a:latin typeface="Times New Roman"/>
                <a:cs typeface="Times New Roman"/>
              </a:rPr>
              <a:t> </a:t>
            </a:r>
            <a:r>
              <a:rPr sz="1300" b="1" dirty="0">
                <a:latin typeface="Times New Roman"/>
                <a:cs typeface="Times New Roman"/>
              </a:rPr>
              <a:t>the</a:t>
            </a:r>
            <a:r>
              <a:rPr sz="1300" b="1" spc="-30" dirty="0">
                <a:latin typeface="Times New Roman"/>
                <a:cs typeface="Times New Roman"/>
              </a:rPr>
              <a:t> </a:t>
            </a:r>
            <a:r>
              <a:rPr sz="1300" b="1" dirty="0">
                <a:latin typeface="Times New Roman"/>
                <a:cs typeface="Times New Roman"/>
              </a:rPr>
              <a:t>Declaration</a:t>
            </a:r>
            <a:r>
              <a:rPr sz="1300" b="1" spc="-35" dirty="0">
                <a:latin typeface="Times New Roman"/>
                <a:cs typeface="Times New Roman"/>
              </a:rPr>
              <a:t> </a:t>
            </a:r>
            <a:r>
              <a:rPr sz="1300" b="1" spc="-10" dirty="0">
                <a:latin typeface="Times New Roman"/>
                <a:cs typeface="Times New Roman"/>
              </a:rPr>
              <a:t>Section:</a:t>
            </a:r>
            <a:endParaRPr sz="1300" dirty="0">
              <a:latin typeface="Times New Roman"/>
              <a:cs typeface="Times New Roman"/>
            </a:endParaRPr>
          </a:p>
          <a:p>
            <a:pPr marL="273685" marR="5080" indent="-171450">
              <a:lnSpc>
                <a:spcPts val="1380"/>
              </a:lnSpc>
              <a:spcBef>
                <a:spcPts val="1025"/>
              </a:spcBef>
              <a:buFont typeface="Arial" panose="020B0604020202020204" pitchFamily="34" charset="0"/>
              <a:buChar char="•"/>
            </a:pPr>
            <a:r>
              <a:rPr lang="en-US" sz="1200" b="1" dirty="0">
                <a:latin typeface="Times New Roman"/>
                <a:cs typeface="Times New Roman"/>
              </a:rPr>
              <a:t>Alignment</a:t>
            </a:r>
            <a:r>
              <a:rPr lang="en-US" sz="1200" dirty="0">
                <a:latin typeface="Times New Roman"/>
                <a:cs typeface="Times New Roman"/>
              </a:rPr>
              <a:t>: Ensured the "I confirm" checkbox is properly aligned with the label text.</a:t>
            </a:r>
          </a:p>
          <a:p>
            <a:pPr marL="273685" marR="5080" indent="-171450">
              <a:lnSpc>
                <a:spcPts val="1380"/>
              </a:lnSpc>
              <a:spcBef>
                <a:spcPts val="1025"/>
              </a:spcBef>
              <a:buFont typeface="Arial" panose="020B0604020202020204" pitchFamily="34" charset="0"/>
              <a:buChar char="•"/>
            </a:pPr>
            <a:r>
              <a:rPr lang="en-US" sz="1200" b="1" dirty="0">
                <a:latin typeface="Times New Roman"/>
                <a:cs typeface="Times New Roman"/>
              </a:rPr>
              <a:t>Spacing</a:t>
            </a:r>
            <a:r>
              <a:rPr lang="en-US" sz="1200" dirty="0">
                <a:latin typeface="Times New Roman"/>
                <a:cs typeface="Times New Roman"/>
              </a:rPr>
              <a:t>: Added a bottom margin to separate the checkbox from the action buttons.</a:t>
            </a:r>
          </a:p>
        </p:txBody>
      </p:sp>
      <p:grpSp>
        <p:nvGrpSpPr>
          <p:cNvPr id="12" name="object 12"/>
          <p:cNvGrpSpPr/>
          <p:nvPr/>
        </p:nvGrpSpPr>
        <p:grpSpPr>
          <a:xfrm>
            <a:off x="812360" y="3360672"/>
            <a:ext cx="6402705" cy="20320"/>
            <a:chOff x="801369" y="3790314"/>
            <a:chExt cx="6402705" cy="20320"/>
          </a:xfrm>
        </p:grpSpPr>
        <p:sp>
          <p:nvSpPr>
            <p:cNvPr id="13" name="object 13"/>
            <p:cNvSpPr/>
            <p:nvPr/>
          </p:nvSpPr>
          <p:spPr>
            <a:xfrm>
              <a:off x="801370" y="3790327"/>
              <a:ext cx="6400800" cy="19685"/>
            </a:xfrm>
            <a:custGeom>
              <a:avLst/>
              <a:gdLst/>
              <a:ahLst/>
              <a:cxnLst/>
              <a:rect l="l" t="t" r="r" b="b"/>
              <a:pathLst>
                <a:path w="6400800" h="19685">
                  <a:moveTo>
                    <a:pt x="6400800" y="0"/>
                  </a:moveTo>
                  <a:lnTo>
                    <a:pt x="0" y="0"/>
                  </a:lnTo>
                  <a:lnTo>
                    <a:pt x="0" y="19672"/>
                  </a:lnTo>
                  <a:lnTo>
                    <a:pt x="6400800" y="19672"/>
                  </a:lnTo>
                  <a:lnTo>
                    <a:pt x="6400800" y="0"/>
                  </a:lnTo>
                  <a:close/>
                </a:path>
              </a:pathLst>
            </a:custGeom>
            <a:solidFill>
              <a:srgbClr val="9F9F9F"/>
            </a:solidFill>
          </p:spPr>
          <p:txBody>
            <a:bodyPr wrap="square" lIns="0" tIns="0" rIns="0" bIns="0" rtlCol="0"/>
            <a:lstStyle/>
            <a:p>
              <a:endParaRPr/>
            </a:p>
          </p:txBody>
        </p:sp>
        <p:sp>
          <p:nvSpPr>
            <p:cNvPr id="14" name="object 14"/>
            <p:cNvSpPr/>
            <p:nvPr/>
          </p:nvSpPr>
          <p:spPr>
            <a:xfrm>
              <a:off x="7200899" y="3790822"/>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15" name="object 15"/>
            <p:cNvSpPr/>
            <p:nvPr/>
          </p:nvSpPr>
          <p:spPr>
            <a:xfrm>
              <a:off x="801928" y="3790835"/>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16" name="object 16"/>
            <p:cNvSpPr/>
            <p:nvPr/>
          </p:nvSpPr>
          <p:spPr>
            <a:xfrm>
              <a:off x="7200899" y="3793870"/>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17" name="object 17"/>
            <p:cNvSpPr/>
            <p:nvPr/>
          </p:nvSpPr>
          <p:spPr>
            <a:xfrm>
              <a:off x="801928" y="3807586"/>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18" name="object 18"/>
            <p:cNvSpPr/>
            <p:nvPr/>
          </p:nvSpPr>
          <p:spPr>
            <a:xfrm>
              <a:off x="801928" y="3807599"/>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19" name="object 19"/>
          <p:cNvSpPr txBox="1"/>
          <p:nvPr/>
        </p:nvSpPr>
        <p:spPr>
          <a:xfrm>
            <a:off x="830136" y="3539606"/>
            <a:ext cx="6082030" cy="1058623"/>
          </a:xfrm>
          <a:prstGeom prst="rect">
            <a:avLst/>
          </a:prstGeom>
        </p:spPr>
        <p:txBody>
          <a:bodyPr vert="horz" wrap="square" lIns="0" tIns="12065" rIns="0" bIns="0" rtlCol="0">
            <a:spAutoFit/>
          </a:bodyPr>
          <a:lstStyle/>
          <a:p>
            <a:pPr marL="12700">
              <a:lnSpc>
                <a:spcPct val="100000"/>
              </a:lnSpc>
              <a:spcBef>
                <a:spcPts val="95"/>
              </a:spcBef>
            </a:pPr>
            <a:r>
              <a:rPr sz="1300" b="1" dirty="0">
                <a:latin typeface="Times New Roman"/>
                <a:cs typeface="Times New Roman"/>
              </a:rPr>
              <a:t>3.10</a:t>
            </a:r>
            <a:r>
              <a:rPr sz="1300" b="1" spc="-35" dirty="0">
                <a:latin typeface="Times New Roman"/>
                <a:cs typeface="Times New Roman"/>
              </a:rPr>
              <a:t> </a:t>
            </a:r>
            <a:r>
              <a:rPr sz="1300" b="1" dirty="0">
                <a:latin typeface="Times New Roman"/>
                <a:cs typeface="Times New Roman"/>
              </a:rPr>
              <a:t>Footer</a:t>
            </a:r>
            <a:r>
              <a:rPr sz="1300" b="1" spc="-20" dirty="0">
                <a:latin typeface="Times New Roman"/>
                <a:cs typeface="Times New Roman"/>
              </a:rPr>
              <a:t> </a:t>
            </a:r>
            <a:r>
              <a:rPr sz="1300" b="1" spc="-10" dirty="0">
                <a:latin typeface="Times New Roman"/>
                <a:cs typeface="Times New Roman"/>
              </a:rPr>
              <a:t>Design:</a:t>
            </a:r>
            <a:endParaRPr sz="1300" dirty="0">
              <a:latin typeface="Times New Roman"/>
              <a:cs typeface="Times New Roman"/>
            </a:endParaRPr>
          </a:p>
          <a:p>
            <a:pPr marL="273685" marR="5080" indent="-171450">
              <a:lnSpc>
                <a:spcPts val="1380"/>
              </a:lnSpc>
              <a:spcBef>
                <a:spcPts val="1230"/>
              </a:spcBef>
              <a:buFont typeface="Arial" panose="020B0604020202020204" pitchFamily="34" charset="0"/>
              <a:buChar char="•"/>
            </a:pPr>
            <a:r>
              <a:rPr lang="en-US" sz="1200" b="1" dirty="0">
                <a:latin typeface="Times New Roman"/>
                <a:cs typeface="Times New Roman"/>
              </a:rPr>
              <a:t>Separation</a:t>
            </a:r>
            <a:r>
              <a:rPr lang="en-US" sz="1200" dirty="0">
                <a:latin typeface="Times New Roman"/>
                <a:cs typeface="Times New Roman"/>
              </a:rPr>
              <a:t>: Added a large top margin (50px) to clearly separate contact info from the form.</a:t>
            </a:r>
          </a:p>
          <a:p>
            <a:pPr marL="273685" marR="5080" indent="-171450">
              <a:lnSpc>
                <a:spcPts val="1380"/>
              </a:lnSpc>
              <a:spcBef>
                <a:spcPts val="1230"/>
              </a:spcBef>
              <a:buFont typeface="Arial" panose="020B0604020202020204" pitchFamily="34" charset="0"/>
              <a:buChar char="•"/>
            </a:pPr>
            <a:r>
              <a:rPr lang="en-US" sz="1200" b="1" dirty="0">
                <a:latin typeface="Times New Roman"/>
                <a:cs typeface="Times New Roman"/>
              </a:rPr>
              <a:t>Subtlety</a:t>
            </a:r>
            <a:r>
              <a:rPr lang="en-US" sz="1200" dirty="0">
                <a:latin typeface="Times New Roman"/>
                <a:cs typeface="Times New Roman"/>
              </a:rPr>
              <a:t>: Reduced the font size to 0.9em and used a different text color (#555) for a professional finish.</a:t>
            </a:r>
            <a:endParaRPr sz="1200" dirty="0">
              <a:latin typeface="Times New Roman"/>
              <a:cs typeface="Times New Roman"/>
            </a:endParaRPr>
          </a:p>
        </p:txBody>
      </p:sp>
      <p:grpSp>
        <p:nvGrpSpPr>
          <p:cNvPr id="20" name="object 20"/>
          <p:cNvGrpSpPr/>
          <p:nvPr/>
        </p:nvGrpSpPr>
        <p:grpSpPr>
          <a:xfrm>
            <a:off x="829501" y="4704415"/>
            <a:ext cx="6402705" cy="20955"/>
            <a:chOff x="801369" y="5076189"/>
            <a:chExt cx="6402705" cy="20955"/>
          </a:xfrm>
        </p:grpSpPr>
        <p:sp>
          <p:nvSpPr>
            <p:cNvPr id="21" name="object 21"/>
            <p:cNvSpPr/>
            <p:nvPr/>
          </p:nvSpPr>
          <p:spPr>
            <a:xfrm>
              <a:off x="801370" y="5076189"/>
              <a:ext cx="6400800" cy="20320"/>
            </a:xfrm>
            <a:custGeom>
              <a:avLst/>
              <a:gdLst/>
              <a:ahLst/>
              <a:cxnLst/>
              <a:rect l="l" t="t" r="r" b="b"/>
              <a:pathLst>
                <a:path w="6400800" h="20320">
                  <a:moveTo>
                    <a:pt x="6400800" y="0"/>
                  </a:moveTo>
                  <a:lnTo>
                    <a:pt x="0" y="0"/>
                  </a:lnTo>
                  <a:lnTo>
                    <a:pt x="0" y="20320"/>
                  </a:lnTo>
                  <a:lnTo>
                    <a:pt x="6400800" y="20320"/>
                  </a:lnTo>
                  <a:lnTo>
                    <a:pt x="6400800" y="0"/>
                  </a:lnTo>
                  <a:close/>
                </a:path>
              </a:pathLst>
            </a:custGeom>
            <a:solidFill>
              <a:srgbClr val="9F9F9F"/>
            </a:solidFill>
          </p:spPr>
          <p:txBody>
            <a:bodyPr wrap="square" lIns="0" tIns="0" rIns="0" bIns="0" rtlCol="0"/>
            <a:lstStyle/>
            <a:p>
              <a:endParaRPr/>
            </a:p>
          </p:txBody>
        </p:sp>
        <p:sp>
          <p:nvSpPr>
            <p:cNvPr id="22" name="object 22"/>
            <p:cNvSpPr/>
            <p:nvPr/>
          </p:nvSpPr>
          <p:spPr>
            <a:xfrm>
              <a:off x="7200899" y="5077078"/>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23" name="object 23"/>
            <p:cNvSpPr/>
            <p:nvPr/>
          </p:nvSpPr>
          <p:spPr>
            <a:xfrm>
              <a:off x="801928" y="5077091"/>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24" name="object 24"/>
            <p:cNvSpPr/>
            <p:nvPr/>
          </p:nvSpPr>
          <p:spPr>
            <a:xfrm>
              <a:off x="7200899" y="5080126"/>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25" name="object 25"/>
            <p:cNvSpPr/>
            <p:nvPr/>
          </p:nvSpPr>
          <p:spPr>
            <a:xfrm>
              <a:off x="801928" y="5093842"/>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26" name="object 26"/>
            <p:cNvSpPr/>
            <p:nvPr/>
          </p:nvSpPr>
          <p:spPr>
            <a:xfrm>
              <a:off x="801928" y="5093855"/>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27" name="object 27"/>
          <p:cNvSpPr txBox="1"/>
          <p:nvPr/>
        </p:nvSpPr>
        <p:spPr>
          <a:xfrm>
            <a:off x="829501" y="4786141"/>
            <a:ext cx="6561021" cy="2434641"/>
          </a:xfrm>
          <a:prstGeom prst="rect">
            <a:avLst/>
          </a:prstGeom>
        </p:spPr>
        <p:txBody>
          <a:bodyPr vert="horz" wrap="square" lIns="0" tIns="13335" rIns="0" bIns="0" rtlCol="0">
            <a:spAutoFit/>
          </a:bodyPr>
          <a:lstStyle/>
          <a:p>
            <a:pPr marL="12700">
              <a:lnSpc>
                <a:spcPct val="100000"/>
              </a:lnSpc>
              <a:spcBef>
                <a:spcPts val="105"/>
              </a:spcBef>
            </a:pPr>
            <a:r>
              <a:rPr sz="1400" b="1" dirty="0">
                <a:solidFill>
                  <a:srgbClr val="3B78D7"/>
                </a:solidFill>
                <a:latin typeface="Times New Roman"/>
                <a:cs typeface="Times New Roman"/>
              </a:rPr>
              <a:t>4.CSS</a:t>
            </a:r>
            <a:r>
              <a:rPr sz="1400" b="1" spc="-25" dirty="0">
                <a:solidFill>
                  <a:srgbClr val="3B78D7"/>
                </a:solidFill>
                <a:latin typeface="Times New Roman"/>
                <a:cs typeface="Times New Roman"/>
              </a:rPr>
              <a:t> </a:t>
            </a:r>
            <a:r>
              <a:rPr sz="1400" b="1" dirty="0">
                <a:solidFill>
                  <a:srgbClr val="3B78D7"/>
                </a:solidFill>
                <a:latin typeface="Times New Roman"/>
                <a:cs typeface="Times New Roman"/>
              </a:rPr>
              <a:t>Concepts</a:t>
            </a:r>
            <a:r>
              <a:rPr sz="1400" b="1" spc="-40" dirty="0">
                <a:solidFill>
                  <a:srgbClr val="3B78D7"/>
                </a:solidFill>
                <a:latin typeface="Times New Roman"/>
                <a:cs typeface="Times New Roman"/>
              </a:rPr>
              <a:t> </a:t>
            </a:r>
            <a:r>
              <a:rPr sz="1400" b="1" spc="-20" dirty="0">
                <a:solidFill>
                  <a:srgbClr val="3B78D7"/>
                </a:solidFill>
                <a:latin typeface="Times New Roman"/>
                <a:cs typeface="Times New Roman"/>
              </a:rPr>
              <a:t>Used:</a:t>
            </a:r>
            <a:endParaRPr sz="1400" dirty="0">
              <a:latin typeface="Times New Roman"/>
              <a:cs typeface="Times New Roman"/>
            </a:endParaRPr>
          </a:p>
          <a:p>
            <a:pPr marL="17145" marR="5080" indent="38100">
              <a:lnSpc>
                <a:spcPts val="1390"/>
              </a:lnSpc>
              <a:spcBef>
                <a:spcPts val="1015"/>
              </a:spcBef>
            </a:pPr>
            <a:r>
              <a:rPr lang="en-US" sz="1200" spc="-10" dirty="0">
                <a:latin typeface="Times New Roman"/>
                <a:cs typeface="Times New Roman"/>
              </a:rPr>
              <a:t>To transform the page, I utilized the following core CSS principles:</a:t>
            </a:r>
          </a:p>
          <a:p>
            <a:pPr marL="188595" marR="5080" indent="-171450">
              <a:lnSpc>
                <a:spcPts val="1390"/>
              </a:lnSpc>
              <a:spcBef>
                <a:spcPts val="1015"/>
              </a:spcBef>
              <a:buFont typeface="Arial" panose="020B0604020202020204" pitchFamily="34" charset="0"/>
              <a:buChar char="•"/>
            </a:pPr>
            <a:r>
              <a:rPr lang="en-US" sz="1200" b="1" spc="-10" dirty="0">
                <a:latin typeface="Times New Roman"/>
                <a:cs typeface="Times New Roman"/>
              </a:rPr>
              <a:t>Selectors:</a:t>
            </a:r>
            <a:r>
              <a:rPr lang="en-US" sz="1200" spc="-10" dirty="0">
                <a:latin typeface="Times New Roman"/>
                <a:cs typeface="Times New Roman"/>
              </a:rPr>
              <a:t> Used element (body, form), ID (#regForm, #pTable), and class (.info) selectors to apply specific styles.</a:t>
            </a:r>
          </a:p>
          <a:p>
            <a:pPr marL="188595" marR="5080" indent="-171450">
              <a:lnSpc>
                <a:spcPts val="1390"/>
              </a:lnSpc>
              <a:spcBef>
                <a:spcPts val="1015"/>
              </a:spcBef>
              <a:buFont typeface="Arial" panose="020B0604020202020204" pitchFamily="34" charset="0"/>
              <a:buChar char="•"/>
            </a:pPr>
            <a:r>
              <a:rPr lang="en-US" sz="1200" b="1" spc="-10" dirty="0">
                <a:latin typeface="Times New Roman"/>
                <a:cs typeface="Times New Roman"/>
              </a:rPr>
              <a:t>Box Model:</a:t>
            </a:r>
            <a:r>
              <a:rPr lang="en-US" sz="1200" spc="-10" dirty="0">
                <a:latin typeface="Times New Roman"/>
                <a:cs typeface="Times New Roman"/>
              </a:rPr>
              <a:t> Managed margin, border, and padding to control the spacing and size of every element.</a:t>
            </a:r>
            <a:endParaRPr lang="en-US" sz="1200" b="1" spc="-10" dirty="0">
              <a:latin typeface="Times New Roman"/>
              <a:cs typeface="Times New Roman"/>
            </a:endParaRPr>
          </a:p>
          <a:p>
            <a:pPr marL="188595" marR="5080" indent="-171450">
              <a:lnSpc>
                <a:spcPts val="1390"/>
              </a:lnSpc>
              <a:spcBef>
                <a:spcPts val="1015"/>
              </a:spcBef>
              <a:buFont typeface="Arial" panose="020B0604020202020204" pitchFamily="34" charset="0"/>
              <a:buChar char="•"/>
            </a:pPr>
            <a:r>
              <a:rPr lang="en-US" sz="1200" b="1" spc="-10" dirty="0">
                <a:latin typeface="Times New Roman"/>
                <a:cs typeface="Times New Roman"/>
              </a:rPr>
              <a:t>Typography: </a:t>
            </a:r>
            <a:r>
              <a:rPr lang="en-US" sz="1200" spc="-10" dirty="0">
                <a:latin typeface="Times New Roman"/>
                <a:cs typeface="Times New Roman"/>
              </a:rPr>
              <a:t>Applied font-family (Arial) and text-align to ensure a professional and readable look.</a:t>
            </a:r>
          </a:p>
          <a:p>
            <a:pPr marL="188595" marR="5080" indent="-171450">
              <a:lnSpc>
                <a:spcPts val="1390"/>
              </a:lnSpc>
              <a:spcBef>
                <a:spcPts val="1015"/>
              </a:spcBef>
              <a:buFont typeface="Arial" panose="020B0604020202020204" pitchFamily="34" charset="0"/>
              <a:buChar char="•"/>
            </a:pPr>
            <a:r>
              <a:rPr lang="en-US" sz="1200" b="1" spc="-10" dirty="0">
                <a:latin typeface="Times New Roman"/>
                <a:cs typeface="Times New Roman"/>
              </a:rPr>
              <a:t>Visual Effects:</a:t>
            </a:r>
            <a:r>
              <a:rPr lang="en-US" sz="1200" spc="-10" dirty="0">
                <a:latin typeface="Times New Roman"/>
                <a:cs typeface="Times New Roman"/>
              </a:rPr>
              <a:t> Implemented border-radius for rounded corners and box-shadow to give the form depth.</a:t>
            </a:r>
          </a:p>
          <a:p>
            <a:pPr marL="188595" marR="5080" indent="-171450">
              <a:lnSpc>
                <a:spcPts val="1390"/>
              </a:lnSpc>
              <a:spcBef>
                <a:spcPts val="1015"/>
              </a:spcBef>
              <a:buFont typeface="Arial" panose="020B0604020202020204" pitchFamily="34" charset="0"/>
              <a:buChar char="•"/>
            </a:pPr>
            <a:r>
              <a:rPr lang="en-US" sz="1200" b="1" spc="-10" dirty="0">
                <a:latin typeface="Times New Roman"/>
                <a:cs typeface="Times New Roman"/>
              </a:rPr>
              <a:t>Interactive States:</a:t>
            </a:r>
            <a:r>
              <a:rPr lang="en-US" sz="1200" spc="-10" dirty="0">
                <a:latin typeface="Times New Roman"/>
                <a:cs typeface="Times New Roman"/>
              </a:rPr>
              <a:t> Used pseudo-classes like :hover for buttons and :valid / :invalid for real-time input validation.</a:t>
            </a:r>
            <a:endParaRPr sz="1200" dirty="0">
              <a:latin typeface="Times New Roman"/>
              <a:cs typeface="Times New Roman"/>
            </a:endParaRPr>
          </a:p>
        </p:txBody>
      </p:sp>
      <p:grpSp>
        <p:nvGrpSpPr>
          <p:cNvPr id="28" name="object 28"/>
          <p:cNvGrpSpPr/>
          <p:nvPr/>
        </p:nvGrpSpPr>
        <p:grpSpPr>
          <a:xfrm>
            <a:off x="796665" y="7367866"/>
            <a:ext cx="6402705" cy="20955"/>
            <a:chOff x="801369" y="6544309"/>
            <a:chExt cx="6402705" cy="20955"/>
          </a:xfrm>
        </p:grpSpPr>
        <p:sp>
          <p:nvSpPr>
            <p:cNvPr id="29" name="object 29"/>
            <p:cNvSpPr/>
            <p:nvPr/>
          </p:nvSpPr>
          <p:spPr>
            <a:xfrm>
              <a:off x="801370" y="6544309"/>
              <a:ext cx="6400800" cy="19685"/>
            </a:xfrm>
            <a:custGeom>
              <a:avLst/>
              <a:gdLst/>
              <a:ahLst/>
              <a:cxnLst/>
              <a:rect l="l" t="t" r="r" b="b"/>
              <a:pathLst>
                <a:path w="6400800" h="19684">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30" name="object 30"/>
            <p:cNvSpPr/>
            <p:nvPr/>
          </p:nvSpPr>
          <p:spPr>
            <a:xfrm>
              <a:off x="7200899" y="6544944"/>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31" name="object 31"/>
            <p:cNvSpPr/>
            <p:nvPr/>
          </p:nvSpPr>
          <p:spPr>
            <a:xfrm>
              <a:off x="801928" y="6544957"/>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32" name="object 32"/>
            <p:cNvSpPr/>
            <p:nvPr/>
          </p:nvSpPr>
          <p:spPr>
            <a:xfrm>
              <a:off x="7200899" y="6547992"/>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33" name="object 33"/>
            <p:cNvSpPr/>
            <p:nvPr/>
          </p:nvSpPr>
          <p:spPr>
            <a:xfrm>
              <a:off x="801928" y="6561708"/>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34" name="object 34"/>
            <p:cNvSpPr/>
            <p:nvPr/>
          </p:nvSpPr>
          <p:spPr>
            <a:xfrm>
              <a:off x="801928" y="6561721"/>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35" name="object 35"/>
          <p:cNvSpPr txBox="1"/>
          <p:nvPr/>
        </p:nvSpPr>
        <p:spPr>
          <a:xfrm>
            <a:off x="796666" y="7435477"/>
            <a:ext cx="6733347" cy="2845010"/>
          </a:xfrm>
          <a:prstGeom prst="rect">
            <a:avLst/>
          </a:prstGeom>
        </p:spPr>
        <p:txBody>
          <a:bodyPr vert="horz" wrap="square" lIns="0" tIns="13335" rIns="0" bIns="0" rtlCol="0">
            <a:spAutoFit/>
          </a:bodyPr>
          <a:lstStyle/>
          <a:p>
            <a:pPr marL="45720">
              <a:lnSpc>
                <a:spcPct val="100000"/>
              </a:lnSpc>
              <a:spcBef>
                <a:spcPts val="105"/>
              </a:spcBef>
            </a:pPr>
            <a:r>
              <a:rPr sz="1400" b="1" dirty="0">
                <a:solidFill>
                  <a:srgbClr val="3B78D7"/>
                </a:solidFill>
                <a:latin typeface="Times New Roman"/>
                <a:cs typeface="Times New Roman"/>
              </a:rPr>
              <a:t>5.</a:t>
            </a:r>
            <a:r>
              <a:rPr sz="1400" b="1" spc="-35" dirty="0">
                <a:solidFill>
                  <a:srgbClr val="3B78D7"/>
                </a:solidFill>
                <a:latin typeface="Times New Roman"/>
                <a:cs typeface="Times New Roman"/>
              </a:rPr>
              <a:t> </a:t>
            </a:r>
            <a:r>
              <a:rPr sz="1400" b="1" dirty="0">
                <a:solidFill>
                  <a:srgbClr val="3B78D7"/>
                </a:solidFill>
                <a:latin typeface="Times New Roman"/>
                <a:cs typeface="Times New Roman"/>
              </a:rPr>
              <a:t>Implementation</a:t>
            </a:r>
            <a:r>
              <a:rPr sz="1400" b="1" spc="-30" dirty="0">
                <a:solidFill>
                  <a:srgbClr val="3B78D7"/>
                </a:solidFill>
                <a:latin typeface="Times New Roman"/>
                <a:cs typeface="Times New Roman"/>
              </a:rPr>
              <a:t> </a:t>
            </a:r>
            <a:r>
              <a:rPr sz="1400" b="1" spc="-10" dirty="0">
                <a:solidFill>
                  <a:srgbClr val="3B78D7"/>
                </a:solidFill>
                <a:latin typeface="Times New Roman"/>
                <a:cs typeface="Times New Roman"/>
              </a:rPr>
              <a:t>Steps:</a:t>
            </a:r>
            <a:endParaRPr sz="1400" dirty="0">
              <a:latin typeface="Times New Roman"/>
              <a:cs typeface="Times New Roman"/>
            </a:endParaRPr>
          </a:p>
          <a:p>
            <a:pPr marL="184150" indent="-171450">
              <a:lnSpc>
                <a:spcPct val="100000"/>
              </a:lnSpc>
              <a:spcBef>
                <a:spcPts val="955"/>
              </a:spcBef>
              <a:buFont typeface="Arial" panose="020B0604020202020204" pitchFamily="34" charset="0"/>
              <a:buChar char="•"/>
            </a:pPr>
            <a:r>
              <a:rPr lang="en-US" sz="1200" b="1" dirty="0">
                <a:latin typeface="Times New Roman"/>
                <a:cs typeface="Times New Roman"/>
              </a:rPr>
              <a:t>File Creation</a:t>
            </a:r>
            <a:r>
              <a:rPr lang="en-US" sz="1200" dirty="0">
                <a:latin typeface="Times New Roman"/>
                <a:cs typeface="Times New Roman"/>
              </a:rPr>
              <a:t>: Created an external style.css and linked it to index.html using the &lt;link&gt; tag in the head section.</a:t>
            </a:r>
          </a:p>
          <a:p>
            <a:pPr marL="184150" indent="-171450">
              <a:lnSpc>
                <a:spcPct val="100000"/>
              </a:lnSpc>
              <a:spcBef>
                <a:spcPts val="955"/>
              </a:spcBef>
              <a:buFont typeface="Arial" panose="020B0604020202020204" pitchFamily="34" charset="0"/>
              <a:buChar char="•"/>
            </a:pPr>
            <a:r>
              <a:rPr lang="en-US" sz="1200" b="1" dirty="0">
                <a:latin typeface="Times New Roman"/>
                <a:cs typeface="Times New Roman"/>
              </a:rPr>
              <a:t>Global Reset: </a:t>
            </a:r>
            <a:r>
              <a:rPr lang="en-US" sz="1200" dirty="0">
                <a:latin typeface="Times New Roman"/>
                <a:cs typeface="Times New Roman"/>
              </a:rPr>
              <a:t>Defined the body background color as #f0f8ff and set a consistent font style.</a:t>
            </a:r>
          </a:p>
          <a:p>
            <a:pPr marL="184150" indent="-171450">
              <a:lnSpc>
                <a:spcPct val="100000"/>
              </a:lnSpc>
              <a:spcBef>
                <a:spcPts val="955"/>
              </a:spcBef>
              <a:buFont typeface="Arial" panose="020B0604020202020204" pitchFamily="34" charset="0"/>
              <a:buChar char="•"/>
            </a:pPr>
            <a:r>
              <a:rPr lang="en-US" sz="1200" b="1" dirty="0">
                <a:latin typeface="Times New Roman"/>
                <a:cs typeface="Times New Roman"/>
              </a:rPr>
              <a:t>Form Structuring: </a:t>
            </a:r>
            <a:r>
              <a:rPr lang="en-US" sz="1200" dirty="0">
                <a:latin typeface="Times New Roman"/>
                <a:cs typeface="Times New Roman"/>
              </a:rPr>
              <a:t>Wrapped the registration fields in a card-style layout with a white background and centered it on the page.</a:t>
            </a:r>
          </a:p>
          <a:p>
            <a:pPr marL="184150" indent="-171450">
              <a:lnSpc>
                <a:spcPct val="100000"/>
              </a:lnSpc>
              <a:spcBef>
                <a:spcPts val="955"/>
              </a:spcBef>
              <a:buFont typeface="Arial" panose="020B0604020202020204" pitchFamily="34" charset="0"/>
              <a:buChar char="•"/>
            </a:pPr>
            <a:r>
              <a:rPr lang="en-US" sz="1200" b="1" dirty="0">
                <a:latin typeface="Times New Roman"/>
                <a:cs typeface="Times New Roman"/>
              </a:rPr>
              <a:t>Field &amp; Label Tuning:</a:t>
            </a:r>
            <a:r>
              <a:rPr lang="en-US" sz="1200" dirty="0">
                <a:latin typeface="Times New Roman"/>
                <a:cs typeface="Times New Roman"/>
              </a:rPr>
              <a:t> Adjusted input widths and added padding to make text entry comfortable for the user.</a:t>
            </a:r>
          </a:p>
          <a:p>
            <a:pPr marL="184150" indent="-171450">
              <a:lnSpc>
                <a:spcPct val="100000"/>
              </a:lnSpc>
              <a:spcBef>
                <a:spcPts val="955"/>
              </a:spcBef>
              <a:buFont typeface="Arial" panose="020B0604020202020204" pitchFamily="34" charset="0"/>
              <a:buChar char="•"/>
            </a:pPr>
            <a:r>
              <a:rPr lang="en-US" sz="1200" b="1" dirty="0">
                <a:latin typeface="Times New Roman"/>
                <a:cs typeface="Times New Roman"/>
              </a:rPr>
              <a:t>Validation Logic:</a:t>
            </a:r>
            <a:r>
              <a:rPr lang="en-US" sz="1200" dirty="0">
                <a:latin typeface="Times New Roman"/>
                <a:cs typeface="Times New Roman"/>
              </a:rPr>
              <a:t> Added CSS rules to change input borders to Green for correct data and Red for errors.</a:t>
            </a:r>
          </a:p>
          <a:p>
            <a:pPr marL="184150" indent="-171450">
              <a:lnSpc>
                <a:spcPct val="100000"/>
              </a:lnSpc>
              <a:spcBef>
                <a:spcPts val="955"/>
              </a:spcBef>
              <a:buFont typeface="Arial" panose="020B0604020202020204" pitchFamily="34" charset="0"/>
              <a:buChar char="•"/>
            </a:pPr>
            <a:r>
              <a:rPr lang="en-US" sz="1200" b="1" dirty="0">
                <a:latin typeface="Times New Roman"/>
                <a:cs typeface="Times New Roman"/>
              </a:rPr>
              <a:t>Table &amp; Footer Polish:</a:t>
            </a:r>
            <a:r>
              <a:rPr lang="en-US" sz="1200" dirty="0">
                <a:latin typeface="Times New Roman"/>
                <a:cs typeface="Times New Roman"/>
              </a:rPr>
              <a:t> Styled the participants table with a yellow header and defined a separate background for the contact footer.</a:t>
            </a:r>
            <a:endParaRPr sz="1200" dirty="0">
              <a:latin typeface="Times New Roman"/>
              <a:cs typeface="Times New Roman"/>
            </a:endParaRPr>
          </a:p>
        </p:txBody>
      </p:sp>
      <p:grpSp>
        <p:nvGrpSpPr>
          <p:cNvPr id="36" name="object 36"/>
          <p:cNvGrpSpPr/>
          <p:nvPr/>
        </p:nvGrpSpPr>
        <p:grpSpPr>
          <a:xfrm>
            <a:off x="812359" y="10239356"/>
            <a:ext cx="6402705" cy="20955"/>
            <a:chOff x="801369" y="7750809"/>
            <a:chExt cx="6402705" cy="20955"/>
          </a:xfrm>
        </p:grpSpPr>
        <p:sp>
          <p:nvSpPr>
            <p:cNvPr id="37" name="object 37"/>
            <p:cNvSpPr/>
            <p:nvPr/>
          </p:nvSpPr>
          <p:spPr>
            <a:xfrm>
              <a:off x="801370" y="7750822"/>
              <a:ext cx="6400800" cy="20320"/>
            </a:xfrm>
            <a:custGeom>
              <a:avLst/>
              <a:gdLst/>
              <a:ahLst/>
              <a:cxnLst/>
              <a:rect l="l" t="t" r="r" b="b"/>
              <a:pathLst>
                <a:path w="6400800" h="20320">
                  <a:moveTo>
                    <a:pt x="6400800" y="0"/>
                  </a:moveTo>
                  <a:lnTo>
                    <a:pt x="0" y="0"/>
                  </a:lnTo>
                  <a:lnTo>
                    <a:pt x="0" y="20307"/>
                  </a:lnTo>
                  <a:lnTo>
                    <a:pt x="6400800" y="20307"/>
                  </a:lnTo>
                  <a:lnTo>
                    <a:pt x="6400800" y="0"/>
                  </a:lnTo>
                  <a:close/>
                </a:path>
              </a:pathLst>
            </a:custGeom>
            <a:solidFill>
              <a:srgbClr val="9F9F9F"/>
            </a:solidFill>
          </p:spPr>
          <p:txBody>
            <a:bodyPr wrap="square" lIns="0" tIns="0" rIns="0" bIns="0" rtlCol="0"/>
            <a:lstStyle/>
            <a:p>
              <a:endParaRPr/>
            </a:p>
          </p:txBody>
        </p:sp>
        <p:sp>
          <p:nvSpPr>
            <p:cNvPr id="38" name="object 38"/>
            <p:cNvSpPr/>
            <p:nvPr/>
          </p:nvSpPr>
          <p:spPr>
            <a:xfrm>
              <a:off x="7200899" y="7751952"/>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39" name="object 39"/>
            <p:cNvSpPr/>
            <p:nvPr/>
          </p:nvSpPr>
          <p:spPr>
            <a:xfrm>
              <a:off x="801928" y="7751965"/>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40" name="object 40"/>
            <p:cNvSpPr/>
            <p:nvPr/>
          </p:nvSpPr>
          <p:spPr>
            <a:xfrm>
              <a:off x="7200899" y="7755000"/>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41" name="object 41"/>
            <p:cNvSpPr/>
            <p:nvPr/>
          </p:nvSpPr>
          <p:spPr>
            <a:xfrm>
              <a:off x="801928" y="7768716"/>
              <a:ext cx="3175" cy="3175"/>
            </a:xfrm>
            <a:custGeom>
              <a:avLst/>
              <a:gdLst/>
              <a:ahLst/>
              <a:cxnLst/>
              <a:rect l="l" t="t" r="r" b="b"/>
              <a:pathLst>
                <a:path w="3175" h="3175">
                  <a:moveTo>
                    <a:pt x="3048" y="0"/>
                  </a:moveTo>
                  <a:lnTo>
                    <a:pt x="0" y="0"/>
                  </a:lnTo>
                  <a:lnTo>
                    <a:pt x="0" y="3048"/>
                  </a:lnTo>
                  <a:lnTo>
                    <a:pt x="3048" y="3048"/>
                  </a:lnTo>
                  <a:lnTo>
                    <a:pt x="3048" y="0"/>
                  </a:lnTo>
                  <a:close/>
                </a:path>
              </a:pathLst>
            </a:custGeom>
            <a:solidFill>
              <a:srgbClr val="9F9F9F"/>
            </a:solidFill>
          </p:spPr>
          <p:txBody>
            <a:bodyPr wrap="square" lIns="0" tIns="0" rIns="0" bIns="0" rtlCol="0"/>
            <a:lstStyle/>
            <a:p>
              <a:endParaRPr/>
            </a:p>
          </p:txBody>
        </p:sp>
        <p:sp>
          <p:nvSpPr>
            <p:cNvPr id="42" name="object 42"/>
            <p:cNvSpPr/>
            <p:nvPr/>
          </p:nvSpPr>
          <p:spPr>
            <a:xfrm>
              <a:off x="801928" y="7768716"/>
              <a:ext cx="6402070" cy="3175"/>
            </a:xfrm>
            <a:custGeom>
              <a:avLst/>
              <a:gdLst/>
              <a:ahLst/>
              <a:cxnLst/>
              <a:rect l="l" t="t" r="r" b="b"/>
              <a:pathLst>
                <a:path w="6402070" h="3175">
                  <a:moveTo>
                    <a:pt x="6402006" y="0"/>
                  </a:moveTo>
                  <a:lnTo>
                    <a:pt x="6399022" y="0"/>
                  </a:lnTo>
                  <a:lnTo>
                    <a:pt x="3048" y="0"/>
                  </a:lnTo>
                  <a:lnTo>
                    <a:pt x="0" y="0"/>
                  </a:lnTo>
                  <a:lnTo>
                    <a:pt x="0" y="3048"/>
                  </a:lnTo>
                  <a:lnTo>
                    <a:pt x="3048" y="3048"/>
                  </a:lnTo>
                  <a:lnTo>
                    <a:pt x="6398971" y="3048"/>
                  </a:lnTo>
                  <a:lnTo>
                    <a:pt x="6402006" y="3048"/>
                  </a:lnTo>
                  <a:lnTo>
                    <a:pt x="6402006" y="0"/>
                  </a:lnTo>
                  <a:close/>
                </a:path>
              </a:pathLst>
            </a:custGeom>
            <a:solidFill>
              <a:srgbClr val="E2E2E2"/>
            </a:solidFill>
          </p:spPr>
          <p:txBody>
            <a:bodyPr wrap="square" lIns="0" tIns="0" rIns="0" bIns="0" rtlCol="0"/>
            <a:lstStyle/>
            <a:p>
              <a:endParaRPr/>
            </a:p>
          </p:txBody>
        </p:sp>
      </p:grpSp>
      <p:pic>
        <p:nvPicPr>
          <p:cNvPr id="55" name="object 55"/>
          <p:cNvPicPr/>
          <p:nvPr/>
        </p:nvPicPr>
        <p:blipFill>
          <a:blip r:embed="rId3" cstate="print"/>
          <a:stretch>
            <a:fillRect/>
          </a:stretch>
        </p:blipFill>
        <p:spPr>
          <a:xfrm>
            <a:off x="801370" y="340996"/>
            <a:ext cx="1495933" cy="370205"/>
          </a:xfrm>
          <a:prstGeom prst="rect">
            <a:avLst/>
          </a:prstGeom>
        </p:spPr>
      </p:pic>
      <p:pic>
        <p:nvPicPr>
          <p:cNvPr id="51" name="object 4"/>
          <p:cNvPicPr/>
          <p:nvPr/>
        </p:nvPicPr>
        <p:blipFill>
          <a:blip r:embed="rId4" cstate="print"/>
          <a:stretch>
            <a:fillRect/>
          </a:stretch>
        </p:blipFill>
        <p:spPr>
          <a:xfrm>
            <a:off x="4514469" y="329185"/>
            <a:ext cx="996314" cy="434174"/>
          </a:xfrm>
          <a:prstGeom prst="rect">
            <a:avLst/>
          </a:prstGeom>
        </p:spPr>
      </p:pic>
      <p:pic>
        <p:nvPicPr>
          <p:cNvPr id="56" name="object 56"/>
          <p:cNvPicPr/>
          <p:nvPr/>
        </p:nvPicPr>
        <p:blipFill>
          <a:blip r:embed="rId5" cstate="print"/>
          <a:stretch>
            <a:fillRect/>
          </a:stretch>
        </p:blipFill>
        <p:spPr>
          <a:xfrm>
            <a:off x="2847594" y="262510"/>
            <a:ext cx="1004798" cy="5664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953797" y="359009"/>
            <a:ext cx="1074407" cy="401954"/>
          </a:xfrm>
          <a:prstGeom prst="rect">
            <a:avLst/>
          </a:prstGeom>
        </p:spPr>
      </p:pic>
      <p:pic>
        <p:nvPicPr>
          <p:cNvPr id="3" name="object 3"/>
          <p:cNvPicPr/>
          <p:nvPr/>
        </p:nvPicPr>
        <p:blipFill>
          <a:blip r:embed="rId3" cstate="print"/>
          <a:stretch>
            <a:fillRect/>
          </a:stretch>
        </p:blipFill>
        <p:spPr>
          <a:xfrm>
            <a:off x="4188074" y="342899"/>
            <a:ext cx="996314" cy="434174"/>
          </a:xfrm>
          <a:prstGeom prst="rect">
            <a:avLst/>
          </a:prstGeom>
        </p:spPr>
      </p:pic>
      <p:sp>
        <p:nvSpPr>
          <p:cNvPr id="4" name="object 4"/>
          <p:cNvSpPr txBox="1"/>
          <p:nvPr/>
        </p:nvSpPr>
        <p:spPr>
          <a:xfrm>
            <a:off x="616586" y="6395219"/>
            <a:ext cx="6021705" cy="2177519"/>
          </a:xfrm>
          <a:prstGeom prst="rect">
            <a:avLst/>
          </a:prstGeom>
        </p:spPr>
        <p:txBody>
          <a:bodyPr vert="horz" wrap="square" lIns="0" tIns="12700" rIns="0" bIns="0" rtlCol="0">
            <a:spAutoFit/>
          </a:bodyPr>
          <a:lstStyle/>
          <a:p>
            <a:pPr marL="12700">
              <a:lnSpc>
                <a:spcPct val="100000"/>
              </a:lnSpc>
              <a:spcBef>
                <a:spcPts val="100"/>
              </a:spcBef>
            </a:pPr>
            <a:r>
              <a:rPr sz="1400" b="1" dirty="0">
                <a:solidFill>
                  <a:srgbClr val="3B78D7"/>
                </a:solidFill>
                <a:latin typeface="Times New Roman"/>
                <a:cs typeface="Times New Roman"/>
              </a:rPr>
              <a:t>7.Learning</a:t>
            </a:r>
            <a:r>
              <a:rPr sz="1400" b="1" spc="-55" dirty="0">
                <a:solidFill>
                  <a:srgbClr val="3B78D7"/>
                </a:solidFill>
                <a:latin typeface="Times New Roman"/>
                <a:cs typeface="Times New Roman"/>
              </a:rPr>
              <a:t> </a:t>
            </a:r>
            <a:r>
              <a:rPr sz="1400" b="1" spc="-10" dirty="0">
                <a:solidFill>
                  <a:srgbClr val="3B78D7"/>
                </a:solidFill>
                <a:latin typeface="Times New Roman"/>
                <a:cs typeface="Times New Roman"/>
              </a:rPr>
              <a:t>Outcome:</a:t>
            </a:r>
            <a:endParaRPr sz="1400" dirty="0">
              <a:latin typeface="Times New Roman"/>
              <a:cs typeface="Times New Roman"/>
            </a:endParaRPr>
          </a:p>
          <a:p>
            <a:pPr marL="108585" marR="5080">
              <a:lnSpc>
                <a:spcPts val="1390"/>
              </a:lnSpc>
              <a:spcBef>
                <a:spcPts val="1019"/>
              </a:spcBef>
            </a:pPr>
            <a:r>
              <a:rPr lang="en-US" sz="1300" b="1" dirty="0">
                <a:latin typeface="Times New Roman"/>
                <a:cs typeface="Times New Roman"/>
              </a:rPr>
              <a:t>Layout Mastery</a:t>
            </a:r>
            <a:r>
              <a:rPr lang="en-US" sz="1300" dirty="0">
                <a:latin typeface="Times New Roman"/>
                <a:cs typeface="Times New Roman"/>
              </a:rPr>
              <a:t>: I learned how to use the CSS Box Model to turn a vertical list of HTML tags into a balanced, centered interface.</a:t>
            </a:r>
          </a:p>
          <a:p>
            <a:pPr marL="108585" marR="5080">
              <a:lnSpc>
                <a:spcPts val="1390"/>
              </a:lnSpc>
              <a:spcBef>
                <a:spcPts val="1019"/>
              </a:spcBef>
            </a:pPr>
            <a:r>
              <a:rPr lang="en-US" sz="1300" b="1" dirty="0">
                <a:latin typeface="Times New Roman"/>
                <a:cs typeface="Times New Roman"/>
              </a:rPr>
              <a:t>Visual Design</a:t>
            </a:r>
            <a:r>
              <a:rPr lang="en-US" sz="1300" dirty="0">
                <a:latin typeface="Times New Roman"/>
                <a:cs typeface="Times New Roman"/>
              </a:rPr>
              <a:t>: I understood how small details like border-radius and box-shadow can make a website look modern rather than basic.</a:t>
            </a:r>
          </a:p>
          <a:p>
            <a:pPr marL="108585" marR="5080">
              <a:lnSpc>
                <a:spcPts val="1390"/>
              </a:lnSpc>
              <a:spcBef>
                <a:spcPts val="1019"/>
              </a:spcBef>
            </a:pPr>
            <a:r>
              <a:rPr lang="en-US" sz="1300" b="1" dirty="0">
                <a:latin typeface="Times New Roman"/>
                <a:cs typeface="Times New Roman"/>
              </a:rPr>
              <a:t>User Feedback: </a:t>
            </a:r>
            <a:r>
              <a:rPr lang="en-US" sz="1300" dirty="0">
                <a:latin typeface="Times New Roman"/>
                <a:cs typeface="Times New Roman"/>
              </a:rPr>
              <a:t>I discovered how to use CSS validation to provide instant visual feedback to users without needing complex scripts.</a:t>
            </a:r>
          </a:p>
          <a:p>
            <a:pPr marL="108585" marR="5080">
              <a:lnSpc>
                <a:spcPts val="1390"/>
              </a:lnSpc>
              <a:spcBef>
                <a:spcPts val="1019"/>
              </a:spcBef>
            </a:pPr>
            <a:r>
              <a:rPr lang="en-US" sz="1300" b="1" dirty="0">
                <a:latin typeface="Times New Roman"/>
                <a:cs typeface="Times New Roman"/>
              </a:rPr>
              <a:t>Organization:</a:t>
            </a:r>
            <a:r>
              <a:rPr lang="en-US" sz="1300" dirty="0">
                <a:latin typeface="Times New Roman"/>
                <a:cs typeface="Times New Roman"/>
              </a:rPr>
              <a:t> I learned the importance of using an external stylesheet (style.css) to keep my project code clean and manageable.</a:t>
            </a:r>
            <a:endParaRPr sz="1300" dirty="0">
              <a:latin typeface="Times New Roman"/>
              <a:cs typeface="Times New Roman"/>
            </a:endParaRPr>
          </a:p>
        </p:txBody>
      </p:sp>
      <p:grpSp>
        <p:nvGrpSpPr>
          <p:cNvPr id="5" name="object 5"/>
          <p:cNvGrpSpPr/>
          <p:nvPr/>
        </p:nvGrpSpPr>
        <p:grpSpPr>
          <a:xfrm>
            <a:off x="493079" y="8702675"/>
            <a:ext cx="6402704" cy="20193"/>
            <a:chOff x="801370" y="2019299"/>
            <a:chExt cx="6402704" cy="20193"/>
          </a:xfrm>
        </p:grpSpPr>
        <p:sp>
          <p:nvSpPr>
            <p:cNvPr id="6" name="object 6"/>
            <p:cNvSpPr/>
            <p:nvPr/>
          </p:nvSpPr>
          <p:spPr>
            <a:xfrm>
              <a:off x="801370" y="2019299"/>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7" name="object 7"/>
            <p:cNvSpPr/>
            <p:nvPr/>
          </p:nvSpPr>
          <p:spPr>
            <a:xfrm>
              <a:off x="7200899" y="2019553"/>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8" name="object 8"/>
            <p:cNvSpPr/>
            <p:nvPr/>
          </p:nvSpPr>
          <p:spPr>
            <a:xfrm>
              <a:off x="801928" y="2019553"/>
              <a:ext cx="6402070" cy="17145"/>
            </a:xfrm>
            <a:custGeom>
              <a:avLst/>
              <a:gdLst/>
              <a:ahLst/>
              <a:cxnLst/>
              <a:rect l="l" t="t" r="r" b="b"/>
              <a:pathLst>
                <a:path w="6402070" h="17144">
                  <a:moveTo>
                    <a:pt x="3048" y="3048"/>
                  </a:moveTo>
                  <a:lnTo>
                    <a:pt x="0" y="3048"/>
                  </a:lnTo>
                  <a:lnTo>
                    <a:pt x="0" y="16764"/>
                  </a:lnTo>
                  <a:lnTo>
                    <a:pt x="3048" y="16764"/>
                  </a:lnTo>
                  <a:lnTo>
                    <a:pt x="3048" y="3048"/>
                  </a:lnTo>
                  <a:close/>
                </a:path>
                <a:path w="6402070" h="17144">
                  <a:moveTo>
                    <a:pt x="6402006" y="0"/>
                  </a:moveTo>
                  <a:lnTo>
                    <a:pt x="6398971" y="0"/>
                  </a:lnTo>
                  <a:lnTo>
                    <a:pt x="6398971" y="3048"/>
                  </a:lnTo>
                  <a:lnTo>
                    <a:pt x="6402006" y="3048"/>
                  </a:lnTo>
                  <a:lnTo>
                    <a:pt x="6402006" y="0"/>
                  </a:lnTo>
                  <a:close/>
                </a:path>
              </a:pathLst>
            </a:custGeom>
            <a:solidFill>
              <a:srgbClr val="9F9F9F"/>
            </a:solidFill>
          </p:spPr>
          <p:txBody>
            <a:bodyPr wrap="square" lIns="0" tIns="0" rIns="0" bIns="0" rtlCol="0"/>
            <a:lstStyle/>
            <a:p>
              <a:endParaRPr/>
            </a:p>
          </p:txBody>
        </p:sp>
        <p:sp>
          <p:nvSpPr>
            <p:cNvPr id="9" name="object 9"/>
            <p:cNvSpPr/>
            <p:nvPr/>
          </p:nvSpPr>
          <p:spPr>
            <a:xfrm>
              <a:off x="7200899" y="2022601"/>
              <a:ext cx="3175" cy="13970"/>
            </a:xfrm>
            <a:custGeom>
              <a:avLst/>
              <a:gdLst/>
              <a:ahLst/>
              <a:cxnLst/>
              <a:rect l="l" t="t" r="r" b="b"/>
              <a:pathLst>
                <a:path w="3175" h="13969">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10" name="object 10"/>
            <p:cNvSpPr/>
            <p:nvPr/>
          </p:nvSpPr>
          <p:spPr>
            <a:xfrm>
              <a:off x="801928" y="2036317"/>
              <a:ext cx="3175" cy="3175"/>
            </a:xfrm>
            <a:custGeom>
              <a:avLst/>
              <a:gdLst/>
              <a:ahLst/>
              <a:cxnLst/>
              <a:rect l="l" t="t" r="r" b="b"/>
              <a:pathLst>
                <a:path w="3175" h="3175">
                  <a:moveTo>
                    <a:pt x="3048" y="0"/>
                  </a:moveTo>
                  <a:lnTo>
                    <a:pt x="0" y="0"/>
                  </a:lnTo>
                  <a:lnTo>
                    <a:pt x="0" y="3048"/>
                  </a:lnTo>
                  <a:lnTo>
                    <a:pt x="3048" y="3048"/>
                  </a:lnTo>
                  <a:lnTo>
                    <a:pt x="3048" y="0"/>
                  </a:lnTo>
                  <a:close/>
                </a:path>
              </a:pathLst>
            </a:custGeom>
            <a:solidFill>
              <a:srgbClr val="9F9F9F"/>
            </a:solidFill>
          </p:spPr>
          <p:txBody>
            <a:bodyPr wrap="square" lIns="0" tIns="0" rIns="0" bIns="0" rtlCol="0"/>
            <a:lstStyle/>
            <a:p>
              <a:endParaRPr/>
            </a:p>
          </p:txBody>
        </p:sp>
        <p:sp>
          <p:nvSpPr>
            <p:cNvPr id="11" name="object 11"/>
            <p:cNvSpPr/>
            <p:nvPr/>
          </p:nvSpPr>
          <p:spPr>
            <a:xfrm>
              <a:off x="801928" y="2036317"/>
              <a:ext cx="6402070" cy="3175"/>
            </a:xfrm>
            <a:custGeom>
              <a:avLst/>
              <a:gdLst/>
              <a:ahLst/>
              <a:cxnLst/>
              <a:rect l="l" t="t" r="r" b="b"/>
              <a:pathLst>
                <a:path w="6402070" h="3175">
                  <a:moveTo>
                    <a:pt x="6402006" y="0"/>
                  </a:moveTo>
                  <a:lnTo>
                    <a:pt x="6399022" y="0"/>
                  </a:lnTo>
                  <a:lnTo>
                    <a:pt x="3048" y="0"/>
                  </a:lnTo>
                  <a:lnTo>
                    <a:pt x="0" y="0"/>
                  </a:lnTo>
                  <a:lnTo>
                    <a:pt x="0" y="3048"/>
                  </a:lnTo>
                  <a:lnTo>
                    <a:pt x="3048" y="3048"/>
                  </a:lnTo>
                  <a:lnTo>
                    <a:pt x="6398971" y="3048"/>
                  </a:lnTo>
                  <a:lnTo>
                    <a:pt x="6402006" y="3048"/>
                  </a:lnTo>
                  <a:lnTo>
                    <a:pt x="6402006" y="0"/>
                  </a:lnTo>
                  <a:close/>
                </a:path>
              </a:pathLst>
            </a:custGeom>
            <a:solidFill>
              <a:srgbClr val="E2E2E2"/>
            </a:solidFill>
          </p:spPr>
          <p:txBody>
            <a:bodyPr wrap="square" lIns="0" tIns="0" rIns="0" bIns="0" rtlCol="0"/>
            <a:lstStyle/>
            <a:p>
              <a:endParaRPr/>
            </a:p>
          </p:txBody>
        </p:sp>
      </p:grpSp>
      <p:sp>
        <p:nvSpPr>
          <p:cNvPr id="12" name="object 12"/>
          <p:cNvSpPr txBox="1"/>
          <p:nvPr/>
        </p:nvSpPr>
        <p:spPr>
          <a:xfrm>
            <a:off x="616586" y="8852805"/>
            <a:ext cx="6155690" cy="1100301"/>
          </a:xfrm>
          <a:prstGeom prst="rect">
            <a:avLst/>
          </a:prstGeom>
        </p:spPr>
        <p:txBody>
          <a:bodyPr vert="horz" wrap="square" lIns="0" tIns="12700" rIns="0" bIns="0" rtlCol="0">
            <a:spAutoFit/>
          </a:bodyPr>
          <a:lstStyle/>
          <a:p>
            <a:pPr marL="12700">
              <a:lnSpc>
                <a:spcPct val="100000"/>
              </a:lnSpc>
              <a:spcBef>
                <a:spcPts val="100"/>
              </a:spcBef>
            </a:pPr>
            <a:r>
              <a:rPr sz="1400" b="1" dirty="0">
                <a:solidFill>
                  <a:srgbClr val="3B78D7"/>
                </a:solidFill>
                <a:latin typeface="Times New Roman"/>
                <a:cs typeface="Times New Roman"/>
              </a:rPr>
              <a:t>8.</a:t>
            </a:r>
            <a:r>
              <a:rPr sz="1400" b="1" spc="-5" dirty="0">
                <a:solidFill>
                  <a:srgbClr val="3B78D7"/>
                </a:solidFill>
                <a:latin typeface="Times New Roman"/>
                <a:cs typeface="Times New Roman"/>
              </a:rPr>
              <a:t> </a:t>
            </a:r>
            <a:r>
              <a:rPr sz="1400" b="1" spc="-10" dirty="0">
                <a:solidFill>
                  <a:srgbClr val="3B78D7"/>
                </a:solidFill>
                <a:latin typeface="Times New Roman"/>
                <a:cs typeface="Times New Roman"/>
              </a:rPr>
              <a:t>Conclusion:</a:t>
            </a:r>
            <a:endParaRPr sz="1400" dirty="0">
              <a:latin typeface="Times New Roman"/>
              <a:cs typeface="Times New Roman"/>
            </a:endParaRPr>
          </a:p>
          <a:p>
            <a:pPr marL="249555" marR="5080" indent="-171450">
              <a:lnSpc>
                <a:spcPts val="1380"/>
              </a:lnSpc>
              <a:spcBef>
                <a:spcPts val="1235"/>
              </a:spcBef>
              <a:buFont typeface="Arial" panose="020B0604020202020204" pitchFamily="34" charset="0"/>
              <a:buChar char="•"/>
            </a:pPr>
            <a:r>
              <a:rPr lang="en-US" sz="1300" dirty="0">
                <a:latin typeface="Times New Roman"/>
                <a:cs typeface="Times New Roman"/>
              </a:rPr>
              <a:t>The project successfully meets all requirements for Assignment-2. By applying CSS, I have transformed a plain HTML structure into a clean, professional-looking event registration portal. The final result is visually appealing, easy to navigate, and demonstrates a solid understanding of presentation-layer design.</a:t>
            </a:r>
            <a:endParaRPr sz="1300" dirty="0">
              <a:latin typeface="Times New Roman"/>
              <a:cs typeface="Times New Roman"/>
            </a:endParaRPr>
          </a:p>
        </p:txBody>
      </p:sp>
      <p:pic>
        <p:nvPicPr>
          <p:cNvPr id="13" name="object 13"/>
          <p:cNvPicPr/>
          <p:nvPr/>
        </p:nvPicPr>
        <p:blipFill>
          <a:blip r:embed="rId4" cstate="print"/>
          <a:stretch>
            <a:fillRect/>
          </a:stretch>
        </p:blipFill>
        <p:spPr>
          <a:xfrm>
            <a:off x="749997" y="441007"/>
            <a:ext cx="1495933" cy="370204"/>
          </a:xfrm>
          <a:prstGeom prst="rect">
            <a:avLst/>
          </a:prstGeom>
        </p:spPr>
      </p:pic>
      <p:pic>
        <p:nvPicPr>
          <p:cNvPr id="14" name="object 14"/>
          <p:cNvPicPr/>
          <p:nvPr/>
        </p:nvPicPr>
        <p:blipFill>
          <a:blip r:embed="rId5" cstate="print"/>
          <a:stretch>
            <a:fillRect/>
          </a:stretch>
        </p:blipFill>
        <p:spPr>
          <a:xfrm>
            <a:off x="2567078" y="342899"/>
            <a:ext cx="1004798" cy="566420"/>
          </a:xfrm>
          <a:prstGeom prst="rect">
            <a:avLst/>
          </a:prstGeom>
        </p:spPr>
      </p:pic>
      <p:sp>
        <p:nvSpPr>
          <p:cNvPr id="16" name="object 43">
            <a:extLst>
              <a:ext uri="{FF2B5EF4-FFF2-40B4-BE49-F238E27FC236}">
                <a16:creationId xmlns:a16="http://schemas.microsoft.com/office/drawing/2014/main" id="{2D6B3F04-0ECB-0810-3C39-9B2DEAD0C874}"/>
              </a:ext>
            </a:extLst>
          </p:cNvPr>
          <p:cNvSpPr txBox="1"/>
          <p:nvPr/>
        </p:nvSpPr>
        <p:spPr>
          <a:xfrm>
            <a:off x="747620" y="892191"/>
            <a:ext cx="6421120" cy="456535"/>
          </a:xfrm>
          <a:prstGeom prst="rect">
            <a:avLst/>
          </a:prstGeom>
        </p:spPr>
        <p:txBody>
          <a:bodyPr vert="horz" wrap="square" lIns="0" tIns="12700" rIns="0" bIns="0" rtlCol="0">
            <a:spAutoFit/>
          </a:bodyPr>
          <a:lstStyle/>
          <a:p>
            <a:pPr marL="12700">
              <a:lnSpc>
                <a:spcPct val="100000"/>
              </a:lnSpc>
              <a:spcBef>
                <a:spcPts val="100"/>
              </a:spcBef>
            </a:pPr>
            <a:r>
              <a:rPr lang="en-US" sz="1400" b="1" spc="-10" dirty="0">
                <a:solidFill>
                  <a:srgbClr val="3B78D7"/>
                </a:solidFill>
                <a:latin typeface="Cambria"/>
                <a:cs typeface="Cambria"/>
              </a:rPr>
              <a:t>6.Output:</a:t>
            </a:r>
          </a:p>
          <a:p>
            <a:pPr marL="12700">
              <a:lnSpc>
                <a:spcPct val="100000"/>
              </a:lnSpc>
              <a:spcBef>
                <a:spcPts val="100"/>
              </a:spcBef>
            </a:pPr>
            <a:endParaRPr lang="en-US" sz="1400" dirty="0">
              <a:latin typeface="Cambria"/>
              <a:cs typeface="Cambria"/>
            </a:endParaRPr>
          </a:p>
        </p:txBody>
      </p:sp>
      <p:grpSp>
        <p:nvGrpSpPr>
          <p:cNvPr id="44" name="object 44"/>
          <p:cNvGrpSpPr/>
          <p:nvPr/>
        </p:nvGrpSpPr>
        <p:grpSpPr>
          <a:xfrm>
            <a:off x="583247" y="6261456"/>
            <a:ext cx="6402705" cy="20955"/>
            <a:chOff x="801369" y="9223375"/>
            <a:chExt cx="6402705" cy="20955"/>
          </a:xfrm>
        </p:grpSpPr>
        <p:sp>
          <p:nvSpPr>
            <p:cNvPr id="45" name="object 45"/>
            <p:cNvSpPr/>
            <p:nvPr/>
          </p:nvSpPr>
          <p:spPr>
            <a:xfrm>
              <a:off x="801370" y="9223387"/>
              <a:ext cx="6400800" cy="19685"/>
            </a:xfrm>
            <a:custGeom>
              <a:avLst/>
              <a:gdLst/>
              <a:ahLst/>
              <a:cxnLst/>
              <a:rect l="l" t="t" r="r" b="b"/>
              <a:pathLst>
                <a:path w="6400800" h="19684">
                  <a:moveTo>
                    <a:pt x="6400800" y="0"/>
                  </a:moveTo>
                  <a:lnTo>
                    <a:pt x="0" y="0"/>
                  </a:lnTo>
                  <a:lnTo>
                    <a:pt x="0" y="19672"/>
                  </a:lnTo>
                  <a:lnTo>
                    <a:pt x="6400800" y="19672"/>
                  </a:lnTo>
                  <a:lnTo>
                    <a:pt x="6400800" y="0"/>
                  </a:lnTo>
                  <a:close/>
                </a:path>
              </a:pathLst>
            </a:custGeom>
            <a:solidFill>
              <a:srgbClr val="9F9F9F"/>
            </a:solidFill>
          </p:spPr>
          <p:txBody>
            <a:bodyPr wrap="square" lIns="0" tIns="0" rIns="0" bIns="0" rtlCol="0"/>
            <a:lstStyle/>
            <a:p>
              <a:endParaRPr/>
            </a:p>
          </p:txBody>
        </p:sp>
        <p:sp>
          <p:nvSpPr>
            <p:cNvPr id="46" name="object 46"/>
            <p:cNvSpPr/>
            <p:nvPr/>
          </p:nvSpPr>
          <p:spPr>
            <a:xfrm>
              <a:off x="7200899" y="9224518"/>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47" name="object 47"/>
            <p:cNvSpPr/>
            <p:nvPr/>
          </p:nvSpPr>
          <p:spPr>
            <a:xfrm>
              <a:off x="801928" y="9224530"/>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48" name="object 48"/>
            <p:cNvSpPr/>
            <p:nvPr/>
          </p:nvSpPr>
          <p:spPr>
            <a:xfrm>
              <a:off x="7200899" y="9227566"/>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49" name="object 49"/>
            <p:cNvSpPr/>
            <p:nvPr/>
          </p:nvSpPr>
          <p:spPr>
            <a:xfrm>
              <a:off x="801928" y="9241282"/>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50" name="object 50"/>
            <p:cNvSpPr/>
            <p:nvPr/>
          </p:nvSpPr>
          <p:spPr>
            <a:xfrm>
              <a:off x="801928" y="9241294"/>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66</TotalTime>
  <Words>1044</Words>
  <Application>Microsoft Office PowerPoint</Application>
  <PresentationFormat>Custom</PresentationFormat>
  <Paragraphs>78</Paragraphs>
  <Slides>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Cambria</vt:lpstr>
      <vt:lpstr>Times New Roman</vt:lpstr>
      <vt:lpstr>Office Theme</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Senthur Siva Sakthivel C</dc:creator>
  <cp:lastModifiedBy>HARIHARAN TAGORE</cp:lastModifiedBy>
  <cp:revision>5</cp:revision>
  <dcterms:created xsi:type="dcterms:W3CDTF">2026-03-04T05:00:29Z</dcterms:created>
  <dcterms:modified xsi:type="dcterms:W3CDTF">2026-03-10T05:01:15Z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2026-02-17T00:00:00Z</vt:filetime>
  </property>
  <property fmtid="{D5CDD505-2E9C-101B-9397-08002B2CF9AE}" pid="3" name="Creator">
    <vt:lpwstr>Microsoft® Word 2021</vt:lpwstr>
  </property>
  <property fmtid="{D5CDD505-2E9C-101B-9397-08002B2CF9AE}" pid="4" name="LastSaved">
    <vt:filetime>2026-03-04T00:00:00Z</vt:filetime>
  </property>
  <property fmtid="{D5CDD505-2E9C-101B-9397-08002B2CF9AE}" pid="5" name="Producer">
    <vt:lpwstr>3-Heights(TM) PDF Security Shell 4.8.25.2 (http://www.pdf-tools.com)</vt:lpwstr>
  </property>
</Properties>
</file>