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00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228" y="4968875"/>
            <a:ext cx="6402705" cy="20955"/>
            <a:chOff x="801369" y="5121909"/>
            <a:chExt cx="6402705" cy="20955"/>
          </a:xfrm>
        </p:grpSpPr>
        <p:sp>
          <p:nvSpPr>
            <p:cNvPr id="3" name="object 3"/>
            <p:cNvSpPr/>
            <p:nvPr/>
          </p:nvSpPr>
          <p:spPr>
            <a:xfrm>
              <a:off x="801370" y="512190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899" y="51227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1928" y="512281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0899" y="512584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928" y="51395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513956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8080" y="1053451"/>
            <a:ext cx="6301740" cy="525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7160" algn="ctr"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latin typeface="Times New Roman"/>
                <a:cs typeface="Times New Roman"/>
              </a:rPr>
              <a:t>FRONT-</a:t>
            </a:r>
            <a:r>
              <a:rPr sz="2100" b="1" dirty="0">
                <a:latin typeface="Times New Roman"/>
                <a:cs typeface="Times New Roman"/>
              </a:rPr>
              <a:t>END</a:t>
            </a:r>
            <a:r>
              <a:rPr sz="2100" b="1" spc="5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DEVELOPMENT</a:t>
            </a:r>
            <a:endParaRPr sz="2100" dirty="0">
              <a:latin typeface="Times New Roman"/>
              <a:cs typeface="Times New Roman"/>
            </a:endParaRPr>
          </a:p>
          <a:p>
            <a:pPr marR="136525" algn="ctr">
              <a:lnSpc>
                <a:spcPct val="100000"/>
              </a:lnSpc>
              <a:spcBef>
                <a:spcPts val="2100"/>
              </a:spcBef>
            </a:pPr>
            <a:r>
              <a:rPr sz="1500" b="1" dirty="0">
                <a:latin typeface="Times New Roman"/>
                <a:cs typeface="Times New Roman"/>
              </a:rPr>
              <a:t>ASSIGNMENT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TEMPLATE</a:t>
            </a: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STUDENT</a:t>
            </a:r>
            <a:r>
              <a:rPr sz="1200" b="1" spc="-10" dirty="0">
                <a:latin typeface="Times New Roman"/>
                <a:cs typeface="Times New Roman"/>
              </a:rPr>
              <a:t> NAME</a:t>
            </a:r>
            <a:r>
              <a:rPr lang="en-IN" sz="1200" b="1" spc="-10" dirty="0">
                <a:latin typeface="Times New Roman"/>
                <a:cs typeface="Times New Roman"/>
              </a:rPr>
              <a:t>:</a:t>
            </a:r>
            <a:r>
              <a:rPr lang="en-US" sz="1200" b="1" spc="-10" dirty="0">
                <a:latin typeface="Times New Roman"/>
                <a:cs typeface="Times New Roman"/>
              </a:rPr>
              <a:t> Hariharan S</a:t>
            </a:r>
            <a:endParaRPr lang="en-US"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40"/>
              </a:spcBef>
            </a:pPr>
            <a:r>
              <a:rPr lang="en-US" sz="1200" b="1" spc="-10" dirty="0">
                <a:latin typeface="Times New Roman"/>
                <a:cs typeface="Times New Roman"/>
              </a:rPr>
              <a:t>YEAR: II</a:t>
            </a:r>
            <a:endParaRPr lang="en-US"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CODE:</a:t>
            </a:r>
            <a:r>
              <a:rPr lang="en-US" sz="1200" b="1" spc="-10" dirty="0">
                <a:latin typeface="Times New Roman"/>
                <a:cs typeface="Times New Roman"/>
              </a:rPr>
              <a:t>1455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NAME:</a:t>
            </a:r>
            <a:r>
              <a:rPr lang="en-US" sz="1200" b="1" spc="-20" dirty="0">
                <a:latin typeface="Times New Roman"/>
                <a:cs typeface="Times New Roman"/>
              </a:rPr>
              <a:t> Tagore College of Arts and Science 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50"/>
              </a:spcBef>
            </a:pPr>
            <a:r>
              <a:rPr sz="1200" b="1" spc="-10" dirty="0">
                <a:latin typeface="Times New Roman"/>
                <a:cs typeface="Times New Roman"/>
              </a:rPr>
              <a:t>DEPARTMENT:</a:t>
            </a:r>
            <a:r>
              <a:rPr lang="en-US" sz="1200" b="1" spc="-10" dirty="0">
                <a:latin typeface="Times New Roman"/>
                <a:cs typeface="Times New Roman"/>
              </a:rPr>
              <a:t> Computer Science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925"/>
              </a:spcBef>
            </a:pPr>
            <a:r>
              <a:rPr sz="1200" b="1" spc="-10" dirty="0">
                <a:latin typeface="Times New Roman"/>
                <a:cs typeface="Times New Roman"/>
              </a:rPr>
              <a:t>SEMESTER:</a:t>
            </a:r>
            <a:r>
              <a:rPr lang="en-US" sz="1200" b="1" spc="-10" dirty="0">
                <a:latin typeface="Times New Roman"/>
                <a:cs typeface="Times New Roman"/>
              </a:rPr>
              <a:t> IV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925"/>
              </a:spcBef>
            </a:pPr>
            <a:r>
              <a:rPr sz="1200" b="1" dirty="0">
                <a:latin typeface="Times New Roman"/>
                <a:cs typeface="Times New Roman"/>
              </a:rPr>
              <a:t>ROLL </a:t>
            </a:r>
            <a:r>
              <a:rPr sz="1200" b="1" spc="-25" dirty="0">
                <a:latin typeface="Times New Roman"/>
                <a:cs typeface="Times New Roman"/>
              </a:rPr>
              <a:t>NO:</a:t>
            </a:r>
            <a:r>
              <a:rPr lang="en-US" sz="1200" b="1" spc="-25" dirty="0">
                <a:latin typeface="Times New Roman"/>
                <a:cs typeface="Times New Roman"/>
              </a:rPr>
              <a:t> unm1455222407723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latin typeface="Times New Roman"/>
                <a:cs typeface="Times New Roman"/>
              </a:rPr>
              <a:t>NMID:</a:t>
            </a:r>
            <a:r>
              <a:rPr lang="en-US" sz="1200" b="1" spc="-10" dirty="0">
                <a:latin typeface="Times New Roman"/>
                <a:cs typeface="Times New Roman"/>
              </a:rPr>
              <a:t> 614D89761591EB584744FC4BCEE6FE5F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25"/>
              </a:spcBef>
            </a:pPr>
            <a:r>
              <a:rPr sz="1200" b="1" spc="-10" dirty="0">
                <a:latin typeface="Times New Roman"/>
                <a:cs typeface="Times New Roman"/>
              </a:rPr>
              <a:t>DATE:</a:t>
            </a:r>
            <a:r>
              <a:rPr lang="en-US" sz="1200" b="1" spc="-10" dirty="0">
                <a:latin typeface="Times New Roman"/>
                <a:cs typeface="Times New Roman"/>
              </a:rPr>
              <a:t> 10/03/2026</a:t>
            </a:r>
            <a:endParaRPr sz="1200" dirty="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TITLE:</a:t>
            </a:r>
            <a:r>
              <a:rPr lang="en-US" sz="1200" b="1" spc="-10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JavaScript Interactivity for Event Registration</a:t>
            </a:r>
            <a:endParaRPr sz="1400" b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cs typeface="Times New Roman"/>
              </a:rPr>
              <a:t> 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1.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Problem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 Statement:</a:t>
            </a:r>
            <a:endParaRPr sz="1400" dirty="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840"/>
              </a:spcBef>
            </a:pPr>
            <a:r>
              <a:rPr lang="en-US" sz="1300" dirty="0">
                <a:latin typeface="Times New Roman"/>
                <a:cs typeface="Times New Roman"/>
              </a:rPr>
              <a:t>Small event organizers need a way to ensure the data they collect is accurate and to see registrations update instantly without refreshing the page. While Assignment-2 focused on look and feel, this assignment adds functionality to validate user input and dynamically manage participant lists.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8087" y="6362317"/>
            <a:ext cx="6395085" cy="20955"/>
            <a:chOff x="808990" y="6226809"/>
            <a:chExt cx="6395085" cy="20955"/>
          </a:xfrm>
        </p:grpSpPr>
        <p:sp>
          <p:nvSpPr>
            <p:cNvPr id="11" name="object 11"/>
            <p:cNvSpPr/>
            <p:nvPr/>
          </p:nvSpPr>
          <p:spPr>
            <a:xfrm>
              <a:off x="808990" y="6226809"/>
              <a:ext cx="6393180" cy="20320"/>
            </a:xfrm>
            <a:custGeom>
              <a:avLst/>
              <a:gdLst/>
              <a:ahLst/>
              <a:cxnLst/>
              <a:rect l="l" t="t" r="r" b="b"/>
              <a:pathLst>
                <a:path w="6393180" h="20320">
                  <a:moveTo>
                    <a:pt x="639318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393180" y="20320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0899" y="62279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548" y="6227952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9" y="623100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548" y="624471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548" y="6244729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9228" y="6463664"/>
            <a:ext cx="6288405" cy="8957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2.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Objective:</a:t>
            </a:r>
            <a:endParaRPr sz="1400" dirty="0">
              <a:latin typeface="Times New Roman"/>
              <a:cs typeface="Times New Roman"/>
            </a:endParaRPr>
          </a:p>
          <a:p>
            <a:pPr marL="20320" marR="5080">
              <a:lnSpc>
                <a:spcPts val="1380"/>
              </a:lnSpc>
              <a:spcBef>
                <a:spcPts val="1025"/>
              </a:spcBef>
            </a:pPr>
            <a:r>
              <a:rPr lang="en-US" sz="1300" dirty="0">
                <a:latin typeface="Times New Roman"/>
                <a:cs typeface="Times New Roman"/>
              </a:rPr>
              <a:t>To implement JavaScript for client-side validation and DOM manipulation. The goal is to ensure only correct data is submitted and to provide immediate visual feedback by updating the "Registered Students" table automatically.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7035" y="7492810"/>
            <a:ext cx="6402705" cy="20955"/>
            <a:chOff x="801369" y="7613650"/>
            <a:chExt cx="6402705" cy="20955"/>
          </a:xfrm>
        </p:grpSpPr>
        <p:sp>
          <p:nvSpPr>
            <p:cNvPr id="19" name="object 19"/>
            <p:cNvSpPr/>
            <p:nvPr/>
          </p:nvSpPr>
          <p:spPr>
            <a:xfrm>
              <a:off x="801370" y="761364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00899" y="761479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1928" y="761479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0899" y="761784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1928" y="763155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1928" y="763156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8080" y="7564678"/>
            <a:ext cx="6418485" cy="223009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46050" indent="-136525">
              <a:lnSpc>
                <a:spcPct val="100000"/>
              </a:lnSpc>
              <a:spcBef>
                <a:spcPts val="730"/>
              </a:spcBef>
              <a:buSzPct val="92857"/>
              <a:buAutoNum type="arabicPeriod" startAt="3"/>
              <a:tabLst>
                <a:tab pos="146050" algn="l"/>
              </a:tabLst>
            </a:pP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Requirements:</a:t>
            </a:r>
            <a:endParaRPr lang="en-US" sz="1400" b="1" spc="-10" dirty="0">
              <a:solidFill>
                <a:srgbClr val="3B78D7"/>
              </a:solidFill>
              <a:latin typeface="Times New Roman"/>
              <a:cs typeface="Times New Roman"/>
            </a:endParaRPr>
          </a:p>
          <a:p>
            <a:pPr marL="9525">
              <a:lnSpc>
                <a:spcPct val="100000"/>
              </a:lnSpc>
              <a:spcBef>
                <a:spcPts val="730"/>
              </a:spcBef>
              <a:buSzPct val="92857"/>
              <a:tabLst>
                <a:tab pos="146050" algn="l"/>
              </a:tabLst>
            </a:pPr>
            <a:r>
              <a:rPr lang="en-US" sz="1300" dirty="0">
                <a:latin typeface="Times New Roman"/>
                <a:cs typeface="Times New Roman"/>
              </a:rPr>
              <a:t>This section details the functional requirements implemented to move the project from a static design to an interactive web application:</a:t>
            </a:r>
            <a:endParaRPr sz="1300" dirty="0">
              <a:latin typeface="Times New Roman"/>
              <a:cs typeface="Times New Roman"/>
            </a:endParaRPr>
          </a:p>
          <a:p>
            <a:pPr marL="304165" lvl="1" indent="-24637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04165" algn="l"/>
              </a:tabLst>
            </a:pPr>
            <a:r>
              <a:rPr sz="1300" b="1" dirty="0">
                <a:latin typeface="Times New Roman"/>
                <a:cs typeface="Times New Roman"/>
              </a:rPr>
              <a:t>Form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Validation:</a:t>
            </a:r>
            <a:endParaRPr sz="1300" dirty="0">
              <a:latin typeface="Times New Roman"/>
              <a:cs typeface="Times New Roman"/>
            </a:endParaRPr>
          </a:p>
          <a:p>
            <a:pPr marL="322580" marR="5080" indent="-171450">
              <a:lnSpc>
                <a:spcPts val="138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Mandatory Checks</a:t>
            </a:r>
            <a:r>
              <a:rPr lang="en-US" sz="1200" dirty="0">
                <a:latin typeface="Times New Roman"/>
                <a:cs typeface="Times New Roman"/>
              </a:rPr>
              <a:t>: Wrote conditional logic in script.js to verify that Name, Date of Birth, and College fields are not empty.</a:t>
            </a:r>
          </a:p>
          <a:p>
            <a:pPr marL="322580" marR="5080" indent="-171450">
              <a:lnSpc>
                <a:spcPts val="138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Format Verification</a:t>
            </a:r>
            <a:r>
              <a:rPr lang="en-US" sz="1200" dirty="0">
                <a:latin typeface="Times New Roman"/>
                <a:cs typeface="Times New Roman"/>
              </a:rPr>
              <a:t>: Used string methods to check for the presence of the "@" symbol in the Email field and ensured the Phone number contains exactly 10 digits.</a:t>
            </a:r>
          </a:p>
          <a:p>
            <a:pPr marL="322580" marR="5080" indent="-171450">
              <a:lnSpc>
                <a:spcPts val="138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Selection Logic</a:t>
            </a:r>
            <a:r>
              <a:rPr lang="en-US" sz="1200" dirty="0">
                <a:latin typeface="Times New Roman"/>
                <a:cs typeface="Times New Roman"/>
              </a:rPr>
              <a:t>: Added checks to confirm that an event has been chosen from the dropdown and that both Gender and Mode radio buttons have a "checked" status.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9228" y="10144071"/>
            <a:ext cx="6399530" cy="21590"/>
            <a:chOff x="806450" y="9537064"/>
            <a:chExt cx="6399530" cy="21590"/>
          </a:xfrm>
        </p:grpSpPr>
        <p:sp>
          <p:nvSpPr>
            <p:cNvPr id="27" name="object 27"/>
            <p:cNvSpPr/>
            <p:nvPr/>
          </p:nvSpPr>
          <p:spPr>
            <a:xfrm>
              <a:off x="806450" y="9537064"/>
              <a:ext cx="6397625" cy="19685"/>
            </a:xfrm>
            <a:custGeom>
              <a:avLst/>
              <a:gdLst/>
              <a:ahLst/>
              <a:cxnLst/>
              <a:rect l="l" t="t" r="r" b="b"/>
              <a:pathLst>
                <a:path w="6397625" h="19684">
                  <a:moveTo>
                    <a:pt x="6397625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7625" y="19685"/>
                  </a:lnTo>
                  <a:lnTo>
                    <a:pt x="639762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02423" y="95384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6500" y="9538423"/>
              <a:ext cx="6399530" cy="17145"/>
            </a:xfrm>
            <a:custGeom>
              <a:avLst/>
              <a:gdLst/>
              <a:ahLst/>
              <a:cxnLst/>
              <a:rect l="l" t="t" r="r" b="b"/>
              <a:pathLst>
                <a:path w="639953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9530" h="17145">
                  <a:moveTo>
                    <a:pt x="6398958" y="0"/>
                  </a:moveTo>
                  <a:lnTo>
                    <a:pt x="6395923" y="0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02423" y="95414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6500" y="955517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6500" y="9555174"/>
              <a:ext cx="6399530" cy="3175"/>
            </a:xfrm>
            <a:custGeom>
              <a:avLst/>
              <a:gdLst/>
              <a:ahLst/>
              <a:cxnLst/>
              <a:rect l="l" t="t" r="r" b="b"/>
              <a:pathLst>
                <a:path w="6399530" h="3175">
                  <a:moveTo>
                    <a:pt x="6398958" y="0"/>
                  </a:moveTo>
                  <a:lnTo>
                    <a:pt x="6395974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5923" y="3048"/>
                  </a:lnTo>
                  <a:lnTo>
                    <a:pt x="6398958" y="3048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150" y="428624"/>
            <a:ext cx="1268095" cy="57124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75" y="528319"/>
            <a:ext cx="1495933" cy="3702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7550" y="514349"/>
            <a:ext cx="1074407" cy="40195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4025" y="495337"/>
            <a:ext cx="996314" cy="434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470" y="655992"/>
            <a:ext cx="996314" cy="434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275" y="675004"/>
            <a:ext cx="1074407" cy="4019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9228" y="1223723"/>
            <a:ext cx="6409843" cy="1073371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300" b="1" dirty="0">
                <a:latin typeface="Times New Roman"/>
                <a:cs typeface="Times New Roman"/>
              </a:rPr>
              <a:t>3.2</a:t>
            </a:r>
            <a:r>
              <a:rPr sz="1300" b="1" spc="-5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Confirmation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Checkbox</a:t>
            </a:r>
            <a:r>
              <a:rPr sz="1300" b="1" spc="-5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Validation:</a:t>
            </a:r>
            <a:endParaRPr sz="1300" dirty="0">
              <a:latin typeface="Times New Roman"/>
              <a:cs typeface="Times New Roman"/>
            </a:endParaRPr>
          </a:p>
          <a:p>
            <a:pPr marL="229869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Prerequisite Check</a:t>
            </a:r>
            <a:r>
              <a:rPr lang="en-US" sz="1200" dirty="0">
                <a:latin typeface="Times New Roman"/>
                <a:cs typeface="Times New Roman"/>
              </a:rPr>
              <a:t>: Implemented an if statement to check the .checked property of the declaration checkbox.</a:t>
            </a:r>
          </a:p>
          <a:p>
            <a:pPr marL="229869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Error Prevention</a:t>
            </a:r>
            <a:r>
              <a:rPr lang="en-US" sz="1200" dirty="0">
                <a:latin typeface="Times New Roman"/>
                <a:cs typeface="Times New Roman"/>
              </a:rPr>
              <a:t>: If the checkbox is unselected, the script triggers a warning alert and halts the submission process to ensure user agreement.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0648" y="2335119"/>
            <a:ext cx="6402705" cy="20320"/>
            <a:chOff x="801369" y="2490469"/>
            <a:chExt cx="6402705" cy="20320"/>
          </a:xfrm>
        </p:grpSpPr>
        <p:sp>
          <p:nvSpPr>
            <p:cNvPr id="6" name="object 6"/>
            <p:cNvSpPr/>
            <p:nvPr/>
          </p:nvSpPr>
          <p:spPr>
            <a:xfrm>
              <a:off x="801370" y="2490482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6399581" y="0"/>
                  </a:lnTo>
                  <a:lnTo>
                    <a:pt x="3606" y="0"/>
                  </a:lnTo>
                  <a:lnTo>
                    <a:pt x="558" y="0"/>
                  </a:ln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0899" y="24904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249048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0899" y="249351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1928" y="25072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1928" y="2507233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6848" y="2545002"/>
            <a:ext cx="6407225" cy="1238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3.3.Dynamic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Display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Registered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Participants:</a:t>
            </a:r>
            <a:endParaRPr sz="1300" dirty="0">
              <a:latin typeface="Times New Roman"/>
              <a:cs typeface="Times New Roman"/>
            </a:endParaRPr>
          </a:p>
          <a:p>
            <a:pPr marL="306070" marR="5080" indent="-285750">
              <a:lnSpc>
                <a:spcPts val="1380"/>
              </a:lnSpc>
              <a:spcBef>
                <a:spcPts val="12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Data Extraction</a:t>
            </a:r>
            <a:r>
              <a:rPr lang="en-US" sz="1300" dirty="0">
                <a:latin typeface="Times New Roman"/>
                <a:cs typeface="Times New Roman"/>
              </a:rPr>
              <a:t>: Programmed the script to capture values from textboxes, selected radio buttons, and the dropdown menu simultaneously upon submission.</a:t>
            </a:r>
          </a:p>
          <a:p>
            <a:pPr marL="306070" marR="5080" indent="-285750">
              <a:lnSpc>
                <a:spcPts val="1380"/>
              </a:lnSpc>
              <a:spcBef>
                <a:spcPts val="12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DOM Table Updates</a:t>
            </a:r>
            <a:r>
              <a:rPr lang="en-US" sz="1300" dirty="0">
                <a:latin typeface="Times New Roman"/>
                <a:cs typeface="Times New Roman"/>
              </a:rPr>
              <a:t>: Used the </a:t>
            </a:r>
            <a:r>
              <a:rPr lang="en-US" sz="1300" dirty="0" err="1">
                <a:latin typeface="Times New Roman"/>
                <a:cs typeface="Times New Roman"/>
              </a:rPr>
              <a:t>insertRow</a:t>
            </a:r>
            <a:r>
              <a:rPr lang="en-US" sz="1300" dirty="0">
                <a:latin typeface="Times New Roman"/>
                <a:cs typeface="Times New Roman"/>
              </a:rPr>
              <a:t>() and </a:t>
            </a:r>
            <a:r>
              <a:rPr lang="en-US" sz="1300" dirty="0" err="1">
                <a:latin typeface="Times New Roman"/>
                <a:cs typeface="Times New Roman"/>
              </a:rPr>
              <a:t>insertCell</a:t>
            </a:r>
            <a:r>
              <a:rPr lang="en-US" sz="1300" dirty="0">
                <a:latin typeface="Times New Roman"/>
                <a:cs typeface="Times New Roman"/>
              </a:rPr>
              <a:t>() methods to create a new row at the bottom of the existing table for every successful registration.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1369" y="3917949"/>
            <a:ext cx="6402705" cy="20955"/>
            <a:chOff x="801369" y="3917949"/>
            <a:chExt cx="6402705" cy="20955"/>
          </a:xfrm>
        </p:grpSpPr>
        <p:sp>
          <p:nvSpPr>
            <p:cNvPr id="14" name="object 14"/>
            <p:cNvSpPr/>
            <p:nvPr/>
          </p:nvSpPr>
          <p:spPr>
            <a:xfrm>
              <a:off x="801370" y="391794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00899" y="39188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1928" y="391883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0899" y="39218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1928" y="39356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1928" y="393561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89228" y="4043425"/>
            <a:ext cx="6414049" cy="125803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300" b="1" dirty="0">
                <a:latin typeface="Times New Roman"/>
                <a:cs typeface="Times New Roman"/>
              </a:rPr>
              <a:t>3.4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Prevent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Page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Reload:</a:t>
            </a:r>
            <a:endParaRPr sz="1300" dirty="0">
              <a:latin typeface="Times New Roman"/>
              <a:cs typeface="Times New Roman"/>
            </a:endParaRPr>
          </a:p>
          <a:p>
            <a:pPr marL="395605" marR="5080" indent="-285750">
              <a:lnSpc>
                <a:spcPts val="138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Event Interception</a:t>
            </a:r>
            <a:r>
              <a:rPr lang="en-US" sz="1300" dirty="0">
                <a:latin typeface="Times New Roman"/>
                <a:cs typeface="Times New Roman"/>
              </a:rPr>
              <a:t>: Utilized the </a:t>
            </a:r>
            <a:r>
              <a:rPr lang="en-US" sz="1300" dirty="0" err="1">
                <a:latin typeface="Times New Roman"/>
                <a:cs typeface="Times New Roman"/>
              </a:rPr>
              <a:t>e.preventDefault</a:t>
            </a:r>
            <a:r>
              <a:rPr lang="en-US" sz="1300" dirty="0">
                <a:latin typeface="Times New Roman"/>
                <a:cs typeface="Times New Roman"/>
              </a:rPr>
              <a:t>() method within the form's </a:t>
            </a:r>
            <a:r>
              <a:rPr lang="en-US" sz="1300" dirty="0" err="1">
                <a:latin typeface="Times New Roman"/>
                <a:cs typeface="Times New Roman"/>
              </a:rPr>
              <a:t>onsubmit</a:t>
            </a:r>
            <a:r>
              <a:rPr lang="en-US" sz="1300" dirty="0">
                <a:latin typeface="Times New Roman"/>
                <a:cs typeface="Times New Roman"/>
              </a:rPr>
              <a:t> function.</a:t>
            </a:r>
          </a:p>
          <a:p>
            <a:pPr marL="395605" marR="5080" indent="-285750">
              <a:lnSpc>
                <a:spcPts val="138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Seamless Experience</a:t>
            </a:r>
            <a:r>
              <a:rPr lang="en-US" sz="1300" dirty="0">
                <a:latin typeface="Times New Roman"/>
                <a:cs typeface="Times New Roman"/>
              </a:rPr>
              <a:t>: This prevents the browser from refreshing or navigating away, allowing the participant table to update instantly while keeping all current session data intact.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1369" y="5281929"/>
            <a:ext cx="6402705" cy="20955"/>
            <a:chOff x="801369" y="5281929"/>
            <a:chExt cx="6402705" cy="20955"/>
          </a:xfrm>
        </p:grpSpPr>
        <p:sp>
          <p:nvSpPr>
            <p:cNvPr id="22" name="object 22"/>
            <p:cNvSpPr/>
            <p:nvPr/>
          </p:nvSpPr>
          <p:spPr>
            <a:xfrm>
              <a:off x="801370" y="528192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0899" y="52828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1928" y="52828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00899" y="52858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928" y="52995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1928" y="529958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86221" y="5345652"/>
            <a:ext cx="6243955" cy="103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3.5</a:t>
            </a:r>
            <a:r>
              <a:rPr sz="1300" b="1" spc="26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Clear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Form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After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Successful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Submission:</a:t>
            </a:r>
            <a:endParaRPr lang="en-US" sz="1300" b="1" spc="-1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State Reset</a:t>
            </a:r>
            <a:r>
              <a:rPr lang="en-US" sz="1300" dirty="0">
                <a:latin typeface="Times New Roman"/>
                <a:cs typeface="Times New Roman"/>
              </a:rPr>
              <a:t>: Used the .reset() method on the form object to clear all input fields after the data has been safely moved to the table.</a:t>
            </a: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Validation Cleanup:</a:t>
            </a:r>
            <a:r>
              <a:rPr lang="en-US" sz="1300" dirty="0">
                <a:latin typeface="Times New Roman"/>
                <a:cs typeface="Times New Roman"/>
              </a:rPr>
              <a:t> Added a loop to remove "</a:t>
            </a:r>
            <a:r>
              <a:rPr lang="en-US" sz="1300" dirty="0" err="1">
                <a:latin typeface="Times New Roman"/>
                <a:cs typeface="Times New Roman"/>
              </a:rPr>
              <a:t>redBorder</a:t>
            </a:r>
            <a:r>
              <a:rPr lang="en-US" sz="1300" dirty="0">
                <a:latin typeface="Times New Roman"/>
                <a:cs typeface="Times New Roman"/>
              </a:rPr>
              <a:t>" or "</a:t>
            </a:r>
            <a:r>
              <a:rPr lang="en-US" sz="1300" dirty="0" err="1">
                <a:latin typeface="Times New Roman"/>
                <a:cs typeface="Times New Roman"/>
              </a:rPr>
              <a:t>greenBorder</a:t>
            </a:r>
            <a:r>
              <a:rPr lang="en-US" sz="1300" dirty="0">
                <a:latin typeface="Times New Roman"/>
                <a:cs typeface="Times New Roman"/>
              </a:rPr>
              <a:t>" CSS classes from all inputs, returning the form to its original blank state.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1369" y="6606540"/>
            <a:ext cx="6402705" cy="20955"/>
            <a:chOff x="801369" y="6606540"/>
            <a:chExt cx="6402705" cy="20955"/>
          </a:xfrm>
        </p:grpSpPr>
        <p:sp>
          <p:nvSpPr>
            <p:cNvPr id="30" name="object 30"/>
            <p:cNvSpPr/>
            <p:nvPr/>
          </p:nvSpPr>
          <p:spPr>
            <a:xfrm>
              <a:off x="801370" y="6606552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00899" y="660742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1928" y="660744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00899" y="661047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928" y="662419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1928" y="662419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8397" y="6680495"/>
            <a:ext cx="6219825" cy="9483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25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3.6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Display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Success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Message:</a:t>
            </a:r>
            <a:endParaRPr sz="1300" dirty="0">
              <a:latin typeface="Times New Roman"/>
              <a:cs typeface="Times New Roman"/>
            </a:endParaRPr>
          </a:p>
          <a:p>
            <a:pPr marL="434975" marR="5080" indent="-285750">
              <a:lnSpc>
                <a:spcPts val="1380"/>
              </a:lnSpc>
              <a:spcBef>
                <a:spcPts val="6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Visual Confirmation: </a:t>
            </a:r>
            <a:r>
              <a:rPr lang="en-US" sz="1300" dirty="0">
                <a:latin typeface="Times New Roman"/>
                <a:cs typeface="Times New Roman"/>
              </a:rPr>
              <a:t>Directed a "Registration Successful!" message to a dedicated </a:t>
            </a:r>
            <a:r>
              <a:rPr lang="en-US" sz="1300" dirty="0" err="1">
                <a:latin typeface="Times New Roman"/>
                <a:cs typeface="Times New Roman"/>
              </a:rPr>
              <a:t>statusMsg</a:t>
            </a:r>
            <a:r>
              <a:rPr lang="en-US" sz="1300" dirty="0">
                <a:latin typeface="Times New Roman"/>
                <a:cs typeface="Times New Roman"/>
              </a:rPr>
              <a:t> div with green text styling.</a:t>
            </a:r>
            <a:endParaRPr lang="en-US" sz="400" dirty="0">
              <a:latin typeface="Times New Roman"/>
              <a:cs typeface="Times New Roman"/>
            </a:endParaRPr>
          </a:p>
          <a:p>
            <a:pPr marL="434975" marR="5080" indent="-285750">
              <a:lnSpc>
                <a:spcPts val="1380"/>
              </a:lnSpc>
              <a:spcBef>
                <a:spcPts val="6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Auto-Removal</a:t>
            </a:r>
            <a:r>
              <a:rPr lang="en-US" sz="1300" dirty="0">
                <a:latin typeface="Times New Roman"/>
                <a:cs typeface="Times New Roman"/>
              </a:rPr>
              <a:t>: Applied </a:t>
            </a:r>
            <a:r>
              <a:rPr lang="en-US" sz="1300" dirty="0" err="1">
                <a:latin typeface="Times New Roman"/>
                <a:cs typeface="Times New Roman"/>
              </a:rPr>
              <a:t>setTimeout</a:t>
            </a:r>
            <a:r>
              <a:rPr lang="en-US" sz="1300" dirty="0">
                <a:latin typeface="Times New Roman"/>
                <a:cs typeface="Times New Roman"/>
              </a:rPr>
              <a:t>() to automatically clear the success message after 3 seconds to keep the interface clean.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2796" y="7760911"/>
            <a:ext cx="6402705" cy="20955"/>
            <a:chOff x="801369" y="7851775"/>
            <a:chExt cx="6402705" cy="20955"/>
          </a:xfrm>
        </p:grpSpPr>
        <p:sp>
          <p:nvSpPr>
            <p:cNvPr id="38" name="object 38"/>
            <p:cNvSpPr/>
            <p:nvPr/>
          </p:nvSpPr>
          <p:spPr>
            <a:xfrm>
              <a:off x="801370" y="785177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00899" y="78529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1928" y="78529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00899" y="78559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1928" y="78696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1928" y="78696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49604" y="7930032"/>
            <a:ext cx="6280572" cy="1294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3.7</a:t>
            </a:r>
            <a:r>
              <a:rPr sz="1300" b="1" spc="-5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Input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Field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Feedback:</a:t>
            </a:r>
            <a:endParaRPr sz="1300" dirty="0">
              <a:latin typeface="Times New Roman"/>
              <a:cs typeface="Times New Roman"/>
            </a:endParaRPr>
          </a:p>
          <a:p>
            <a:pPr marL="387985" indent="-28575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Visual Cues</a:t>
            </a:r>
            <a:r>
              <a:rPr lang="en-US" sz="1300" dirty="0">
                <a:latin typeface="Times New Roman"/>
                <a:cs typeface="Times New Roman"/>
              </a:rPr>
              <a:t>: Programmed the script to dynamically assign CSS classes (</a:t>
            </a:r>
            <a:r>
              <a:rPr lang="en-US" sz="1300" dirty="0" err="1">
                <a:latin typeface="Times New Roman"/>
                <a:cs typeface="Times New Roman"/>
              </a:rPr>
              <a:t>redBorder</a:t>
            </a:r>
            <a:r>
              <a:rPr lang="en-US" sz="1300" dirty="0">
                <a:latin typeface="Times New Roman"/>
                <a:cs typeface="Times New Roman"/>
              </a:rPr>
              <a:t> for errors or </a:t>
            </a:r>
            <a:r>
              <a:rPr lang="en-US" sz="1300" dirty="0" err="1">
                <a:latin typeface="Times New Roman"/>
                <a:cs typeface="Times New Roman"/>
              </a:rPr>
              <a:t>greenBorder</a:t>
            </a:r>
            <a:r>
              <a:rPr lang="en-US" sz="1300" dirty="0">
                <a:latin typeface="Times New Roman"/>
                <a:cs typeface="Times New Roman"/>
              </a:rPr>
              <a:t> for valid data) based on validation results.</a:t>
            </a:r>
          </a:p>
          <a:p>
            <a:pPr marL="387985" indent="-28575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Instant Correction</a:t>
            </a:r>
            <a:r>
              <a:rPr lang="en-US" sz="1300" dirty="0">
                <a:latin typeface="Times New Roman"/>
                <a:cs typeface="Times New Roman"/>
              </a:rPr>
              <a:t>: This provides the user with immediate visual confirmation of which fields need correction before they can proceed.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1844" y="9453405"/>
            <a:ext cx="6402705" cy="21590"/>
            <a:chOff x="801369" y="9290050"/>
            <a:chExt cx="6402705" cy="21590"/>
          </a:xfrm>
        </p:grpSpPr>
        <p:sp>
          <p:nvSpPr>
            <p:cNvPr id="46" name="object 46"/>
            <p:cNvSpPr/>
            <p:nvPr/>
          </p:nvSpPr>
          <p:spPr>
            <a:xfrm>
              <a:off x="801370" y="9290062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07"/>
                  </a:lnTo>
                  <a:lnTo>
                    <a:pt x="6400800" y="20307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00899" y="929157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1928" y="9291586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00899" y="929462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1928" y="93083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1928" y="930835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259" y="503554"/>
            <a:ext cx="1495933" cy="36969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503554"/>
            <a:ext cx="1004798" cy="566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644562"/>
            <a:ext cx="996314" cy="434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775" y="665479"/>
            <a:ext cx="1074407" cy="4019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1934" y="1284550"/>
            <a:ext cx="6291580" cy="11868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3.8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Optional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Enhancements:</a:t>
            </a:r>
            <a:endParaRPr sz="1300" dirty="0">
              <a:latin typeface="Times New Roman"/>
              <a:cs typeface="Times New Roman"/>
            </a:endParaRPr>
          </a:p>
          <a:p>
            <a:pPr marL="387985" marR="5080" indent="-285750">
              <a:lnSpc>
                <a:spcPts val="138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File Upload Validation</a:t>
            </a:r>
            <a:r>
              <a:rPr lang="en-US" sz="1300" dirty="0">
                <a:latin typeface="Times New Roman"/>
                <a:cs typeface="Times New Roman"/>
              </a:rPr>
              <a:t>: Included a check to ensure an ID proof file has been selected before the form is considered complete.</a:t>
            </a:r>
          </a:p>
          <a:p>
            <a:pPr marL="387985" marR="5080" indent="-285750">
              <a:lnSpc>
                <a:spcPts val="138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Consistent Formatting</a:t>
            </a:r>
            <a:r>
              <a:rPr lang="en-US" sz="1300" dirty="0">
                <a:latin typeface="Times New Roman"/>
                <a:cs typeface="Times New Roman"/>
              </a:rPr>
              <a:t>: Ensured that the dynamically added data in the table maintains the same professional alignment and styling as the header row.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1370" y="2526792"/>
            <a:ext cx="6402705" cy="20320"/>
            <a:chOff x="801369" y="2663824"/>
            <a:chExt cx="6402705" cy="20320"/>
          </a:xfrm>
        </p:grpSpPr>
        <p:sp>
          <p:nvSpPr>
            <p:cNvPr id="6" name="object 6"/>
            <p:cNvSpPr/>
            <p:nvPr/>
          </p:nvSpPr>
          <p:spPr>
            <a:xfrm>
              <a:off x="801370" y="266382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0899" y="26642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266420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0899" y="266725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1928" y="26809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1928" y="268096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0810" y="2683305"/>
            <a:ext cx="7016204" cy="17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4.JavaScript</a:t>
            </a:r>
            <a:r>
              <a:rPr sz="1400" b="1" spc="-4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Concepts</a:t>
            </a:r>
            <a:r>
              <a:rPr sz="1400" b="1" spc="-5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Used:</a:t>
            </a:r>
            <a:endParaRPr sz="1400" dirty="0">
              <a:latin typeface="Times New Roman"/>
              <a:cs typeface="Times New Roman"/>
            </a:endParaRPr>
          </a:p>
          <a:p>
            <a:pPr marL="346710" marR="5080" indent="-285750">
              <a:lnSpc>
                <a:spcPts val="1390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DOM Selection</a:t>
            </a:r>
            <a:r>
              <a:rPr lang="en-US" sz="1300" dirty="0">
                <a:latin typeface="Times New Roman"/>
                <a:cs typeface="Times New Roman"/>
              </a:rPr>
              <a:t>: Used </a:t>
            </a:r>
            <a:r>
              <a:rPr lang="en-US" sz="1300" dirty="0" err="1">
                <a:latin typeface="Times New Roman"/>
                <a:cs typeface="Times New Roman"/>
              </a:rPr>
              <a:t>document.getElementById</a:t>
            </a:r>
            <a:r>
              <a:rPr lang="en-US" sz="1300" dirty="0">
                <a:latin typeface="Times New Roman"/>
                <a:cs typeface="Times New Roman"/>
              </a:rPr>
              <a:t> to access form inputs and the table.</a:t>
            </a:r>
          </a:p>
          <a:p>
            <a:pPr marL="346710" marR="5080" indent="-285750">
              <a:lnSpc>
                <a:spcPts val="1390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Event Listeners</a:t>
            </a:r>
            <a:r>
              <a:rPr lang="en-US" sz="1300" dirty="0">
                <a:latin typeface="Times New Roman"/>
                <a:cs typeface="Times New Roman"/>
              </a:rPr>
              <a:t>: Applied .</a:t>
            </a:r>
            <a:r>
              <a:rPr lang="en-US" sz="1300" dirty="0" err="1">
                <a:latin typeface="Times New Roman"/>
                <a:cs typeface="Times New Roman"/>
              </a:rPr>
              <a:t>addEventListener</a:t>
            </a:r>
            <a:r>
              <a:rPr lang="en-US" sz="1300" dirty="0">
                <a:latin typeface="Times New Roman"/>
                <a:cs typeface="Times New Roman"/>
              </a:rPr>
              <a:t>('submit', ...) to handle user actions.</a:t>
            </a:r>
          </a:p>
          <a:p>
            <a:pPr marL="346710" marR="5080" indent="-285750">
              <a:lnSpc>
                <a:spcPts val="1390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Conditional Logic</a:t>
            </a:r>
            <a:r>
              <a:rPr lang="en-US" sz="1300" dirty="0">
                <a:latin typeface="Times New Roman"/>
                <a:cs typeface="Times New Roman"/>
              </a:rPr>
              <a:t>: Used if-else statements to check for valid input formats.</a:t>
            </a:r>
          </a:p>
          <a:p>
            <a:pPr marL="346710" marR="5080" indent="-285750">
              <a:lnSpc>
                <a:spcPts val="1390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Array/Object Handling</a:t>
            </a:r>
            <a:r>
              <a:rPr lang="en-US" sz="1300" dirty="0">
                <a:latin typeface="Times New Roman"/>
                <a:cs typeface="Times New Roman"/>
              </a:rPr>
              <a:t>: Captured form values into variables before inserting them into the table.</a:t>
            </a:r>
            <a:endParaRPr lang="en-US" sz="1300" b="1" dirty="0">
              <a:latin typeface="Times New Roman"/>
              <a:cs typeface="Times New Roman"/>
            </a:endParaRPr>
          </a:p>
          <a:p>
            <a:pPr marL="346710" marR="5080" indent="-285750">
              <a:lnSpc>
                <a:spcPts val="1390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/>
                <a:cs typeface="Times New Roman"/>
              </a:rPr>
              <a:t>Function Definitions:</a:t>
            </a:r>
            <a:r>
              <a:rPr lang="en-US" sz="1300" dirty="0">
                <a:latin typeface="Times New Roman"/>
                <a:cs typeface="Times New Roman"/>
              </a:rPr>
              <a:t> Created reusable functions for validation and table updates.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0809" y="4507732"/>
            <a:ext cx="6402705" cy="20320"/>
            <a:chOff x="801369" y="4133214"/>
            <a:chExt cx="6402705" cy="20320"/>
          </a:xfrm>
        </p:grpSpPr>
        <p:sp>
          <p:nvSpPr>
            <p:cNvPr id="14" name="object 14"/>
            <p:cNvSpPr/>
            <p:nvPr/>
          </p:nvSpPr>
          <p:spPr>
            <a:xfrm>
              <a:off x="801370" y="413322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00899" y="41337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1928" y="41337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0899" y="41367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1928" y="41504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1928" y="41504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5885" y="4589025"/>
            <a:ext cx="6575015" cy="22063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5.</a:t>
            </a:r>
            <a:r>
              <a:rPr sz="1400" b="1" spc="-3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Implementation</a:t>
            </a:r>
            <a:r>
              <a:rPr sz="1400" b="1" spc="-3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Steps:</a:t>
            </a:r>
            <a:endParaRPr sz="1400" dirty="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lang="en-US" sz="1300" b="1" dirty="0">
                <a:latin typeface="Times New Roman"/>
                <a:cs typeface="Times New Roman"/>
              </a:rPr>
              <a:t>Script Link</a:t>
            </a:r>
            <a:r>
              <a:rPr lang="en-US" sz="1300" dirty="0">
                <a:latin typeface="Times New Roman"/>
                <a:cs typeface="Times New Roman"/>
              </a:rPr>
              <a:t>: Connected the external script.js to the HTML file.</a:t>
            </a: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lang="en-US" sz="1300" b="1" dirty="0">
                <a:latin typeface="Times New Roman"/>
                <a:cs typeface="Times New Roman"/>
              </a:rPr>
              <a:t>Validation Logic</a:t>
            </a:r>
            <a:r>
              <a:rPr lang="en-US" sz="1300" dirty="0">
                <a:latin typeface="Times New Roman"/>
                <a:cs typeface="Times New Roman"/>
              </a:rPr>
              <a:t>: Wrote functions to verify email patterns and phone number lengths.</a:t>
            </a: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lang="en-US" sz="1300" b="1" dirty="0">
                <a:latin typeface="Times New Roman"/>
                <a:cs typeface="Times New Roman"/>
              </a:rPr>
              <a:t>Submission Handler</a:t>
            </a:r>
            <a:r>
              <a:rPr lang="en-US" sz="1300" dirty="0">
                <a:latin typeface="Times New Roman"/>
                <a:cs typeface="Times New Roman"/>
              </a:rPr>
              <a:t>: Prevented the form's default reload behavior to keep the dynamic data visible.</a:t>
            </a: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lang="en-US" sz="1300" b="1" dirty="0">
                <a:latin typeface="Times New Roman"/>
                <a:cs typeface="Times New Roman"/>
              </a:rPr>
              <a:t>Table Insertion</a:t>
            </a:r>
            <a:r>
              <a:rPr lang="en-US" sz="1300" dirty="0">
                <a:latin typeface="Times New Roman"/>
                <a:cs typeface="Times New Roman"/>
              </a:rPr>
              <a:t>: Used </a:t>
            </a:r>
            <a:r>
              <a:rPr lang="en-US" sz="1300" dirty="0" err="1">
                <a:latin typeface="Times New Roman"/>
                <a:cs typeface="Times New Roman"/>
              </a:rPr>
              <a:t>insertRow</a:t>
            </a:r>
            <a:r>
              <a:rPr lang="en-US" sz="1300" dirty="0">
                <a:latin typeface="Times New Roman"/>
                <a:cs typeface="Times New Roman"/>
              </a:rPr>
              <a:t>() and </a:t>
            </a:r>
            <a:r>
              <a:rPr lang="en-US" sz="1300" dirty="0" err="1">
                <a:latin typeface="Times New Roman"/>
                <a:cs typeface="Times New Roman"/>
              </a:rPr>
              <a:t>insertCell</a:t>
            </a:r>
            <a:r>
              <a:rPr lang="en-US" sz="1300" dirty="0">
                <a:latin typeface="Times New Roman"/>
                <a:cs typeface="Times New Roman"/>
              </a:rPr>
              <a:t>() to add the new participant details to the bottom table.</a:t>
            </a: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lang="en-US" sz="1300" b="1" dirty="0">
                <a:latin typeface="Times New Roman"/>
                <a:cs typeface="Times New Roman"/>
              </a:rPr>
              <a:t>Cleanup:</a:t>
            </a:r>
            <a:r>
              <a:rPr lang="en-US" sz="1300" dirty="0">
                <a:latin typeface="Times New Roman"/>
                <a:cs typeface="Times New Roman"/>
              </a:rPr>
              <a:t> Triggered the reset() method to prepare the form for the next user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9218" y="6923808"/>
            <a:ext cx="6402705" cy="20320"/>
            <a:chOff x="801369" y="5309869"/>
            <a:chExt cx="6402705" cy="20320"/>
          </a:xfrm>
        </p:grpSpPr>
        <p:sp>
          <p:nvSpPr>
            <p:cNvPr id="22" name="object 22"/>
            <p:cNvSpPr/>
            <p:nvPr/>
          </p:nvSpPr>
          <p:spPr>
            <a:xfrm>
              <a:off x="801370" y="530986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0899" y="53102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1928" y="531025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00899" y="531329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928" y="53270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1928" y="532701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85710" y="7070125"/>
            <a:ext cx="61372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6.Output: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9550" y="577849"/>
            <a:ext cx="1004798" cy="56642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775" y="615949"/>
            <a:ext cx="1495933" cy="370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39EB024-B0B1-2FC8-4946-3FFB52C6E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2" t="3590" r="6220"/>
          <a:stretch>
            <a:fillRect/>
          </a:stretch>
        </p:blipFill>
        <p:spPr>
          <a:xfrm>
            <a:off x="57899" y="7288351"/>
            <a:ext cx="3194050" cy="33842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7C2844-B6D8-20A6-E3DE-5B5C2B1CDA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-1478" r="5164" b="1478"/>
          <a:stretch>
            <a:fillRect/>
          </a:stretch>
        </p:blipFill>
        <p:spPr>
          <a:xfrm>
            <a:off x="3194050" y="7648276"/>
            <a:ext cx="4351087" cy="30465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27968FB-4570-BB83-F934-0CC4F00E077E}"/>
              </a:ext>
            </a:extLst>
          </p:cNvPr>
          <p:cNvSpPr txBox="1"/>
          <p:nvPr/>
        </p:nvSpPr>
        <p:spPr>
          <a:xfrm>
            <a:off x="2908202" y="7232523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3FE77E-7EE4-F4F4-D268-3DB849A7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68A265A-5D75-9E93-05F0-0A4991858B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644562"/>
            <a:ext cx="996314" cy="434174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1AFAD15F-13D7-4028-B2D9-B86DB395AD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775" y="665479"/>
            <a:ext cx="1074407" cy="401954"/>
          </a:xfrm>
          <a:prstGeom prst="rect">
            <a:avLst/>
          </a:prstGeom>
        </p:spPr>
      </p:pic>
      <p:grpSp>
        <p:nvGrpSpPr>
          <p:cNvPr id="29" name="object 29">
            <a:extLst>
              <a:ext uri="{FF2B5EF4-FFF2-40B4-BE49-F238E27FC236}">
                <a16:creationId xmlns:a16="http://schemas.microsoft.com/office/drawing/2014/main" id="{DCA6F22D-D77C-5273-0949-BE61BCD13369}"/>
              </a:ext>
            </a:extLst>
          </p:cNvPr>
          <p:cNvGrpSpPr/>
          <p:nvPr/>
        </p:nvGrpSpPr>
        <p:grpSpPr>
          <a:xfrm>
            <a:off x="801369" y="6473824"/>
            <a:ext cx="6402705" cy="20955"/>
            <a:chOff x="801369" y="6473824"/>
            <a:chExt cx="6402705" cy="20955"/>
          </a:xfrm>
        </p:grpSpPr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909C0050-DF1A-8B01-7227-DAB5A6C65112}"/>
                </a:ext>
              </a:extLst>
            </p:cNvPr>
            <p:cNvSpPr/>
            <p:nvPr/>
          </p:nvSpPr>
          <p:spPr>
            <a:xfrm>
              <a:off x="801370" y="647382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C14D2F1-540D-A978-0F33-6394DD8544A0}"/>
                </a:ext>
              </a:extLst>
            </p:cNvPr>
            <p:cNvSpPr/>
            <p:nvPr/>
          </p:nvSpPr>
          <p:spPr>
            <a:xfrm>
              <a:off x="7200899" y="647484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B4BF53A2-9AD3-61DB-03CB-189AF93F3632}"/>
                </a:ext>
              </a:extLst>
            </p:cNvPr>
            <p:cNvSpPr/>
            <p:nvPr/>
          </p:nvSpPr>
          <p:spPr>
            <a:xfrm>
              <a:off x="801928" y="64748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D499D1B-EA34-984D-D9F3-F881955FF615}"/>
                </a:ext>
              </a:extLst>
            </p:cNvPr>
            <p:cNvSpPr/>
            <p:nvPr/>
          </p:nvSpPr>
          <p:spPr>
            <a:xfrm>
              <a:off x="7200899" y="647788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C1370C6-0E18-BEC3-6A9E-25A57A75A21B}"/>
                </a:ext>
              </a:extLst>
            </p:cNvPr>
            <p:cNvSpPr/>
            <p:nvPr/>
          </p:nvSpPr>
          <p:spPr>
            <a:xfrm>
              <a:off x="801928" y="64916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B927645-12B5-283F-73E0-0B56C6709D9C}"/>
                </a:ext>
              </a:extLst>
            </p:cNvPr>
            <p:cNvSpPr/>
            <p:nvPr/>
          </p:nvSpPr>
          <p:spPr>
            <a:xfrm>
              <a:off x="801928" y="64916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>
            <a:extLst>
              <a:ext uri="{FF2B5EF4-FFF2-40B4-BE49-F238E27FC236}">
                <a16:creationId xmlns:a16="http://schemas.microsoft.com/office/drawing/2014/main" id="{C6F8C91A-DE82-E27A-9F35-97C92F7E9BB8}"/>
              </a:ext>
            </a:extLst>
          </p:cNvPr>
          <p:cNvSpPr txBox="1"/>
          <p:nvPr/>
        </p:nvSpPr>
        <p:spPr>
          <a:xfrm>
            <a:off x="789228" y="6661784"/>
            <a:ext cx="5911850" cy="16908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7.Learning</a:t>
            </a:r>
            <a:r>
              <a:rPr sz="1400" b="1" spc="-4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Outcome:</a:t>
            </a:r>
            <a:endParaRPr sz="1400" dirty="0">
              <a:latin typeface="Times New Roman"/>
              <a:cs typeface="Times New Roman"/>
            </a:endParaRPr>
          </a:p>
          <a:p>
            <a:pPr marL="109855" marR="5080">
              <a:lnSpc>
                <a:spcPts val="1380"/>
              </a:lnSpc>
              <a:spcBef>
                <a:spcPts val="1025"/>
              </a:spcBef>
            </a:pPr>
            <a:r>
              <a:rPr lang="en-US" sz="1300" b="1" dirty="0">
                <a:latin typeface="Times New Roman"/>
                <a:cs typeface="Times New Roman"/>
              </a:rPr>
              <a:t>Interactivity</a:t>
            </a:r>
            <a:r>
              <a:rPr lang="en-US" sz="1300" dirty="0">
                <a:latin typeface="Times New Roman"/>
                <a:cs typeface="Times New Roman"/>
              </a:rPr>
              <a:t>: I learned how to move beyond static styling and create a functional web application using JavaScript.</a:t>
            </a:r>
          </a:p>
          <a:p>
            <a:pPr marL="109855" marR="5080">
              <a:lnSpc>
                <a:spcPts val="1380"/>
              </a:lnSpc>
              <a:spcBef>
                <a:spcPts val="1025"/>
              </a:spcBef>
            </a:pPr>
            <a:r>
              <a:rPr lang="en-US" sz="1300" b="1" dirty="0">
                <a:latin typeface="Times New Roman"/>
                <a:cs typeface="Times New Roman"/>
              </a:rPr>
              <a:t>Data Integrity</a:t>
            </a:r>
            <a:r>
              <a:rPr lang="en-US" sz="1300" dirty="0">
                <a:latin typeface="Times New Roman"/>
                <a:cs typeface="Times New Roman"/>
              </a:rPr>
              <a:t>: I understood how to enforce rules on user input to ensure the database (or table) only receives correctly formatted information.</a:t>
            </a:r>
          </a:p>
          <a:p>
            <a:pPr marL="109855" marR="5080">
              <a:lnSpc>
                <a:spcPts val="1380"/>
              </a:lnSpc>
              <a:spcBef>
                <a:spcPts val="1025"/>
              </a:spcBef>
            </a:pPr>
            <a:r>
              <a:rPr lang="en-US" sz="1300" b="1" dirty="0">
                <a:latin typeface="Times New Roman"/>
                <a:cs typeface="Times New Roman"/>
              </a:rPr>
              <a:t>DOM Skills</a:t>
            </a:r>
            <a:r>
              <a:rPr lang="en-US" sz="1300" dirty="0">
                <a:latin typeface="Times New Roman"/>
                <a:cs typeface="Times New Roman"/>
              </a:rPr>
              <a:t>: I gained confidence in manipulating the Document Object Model to change page content dynamically without a server.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37" name="object 37">
            <a:extLst>
              <a:ext uri="{FF2B5EF4-FFF2-40B4-BE49-F238E27FC236}">
                <a16:creationId xmlns:a16="http://schemas.microsoft.com/office/drawing/2014/main" id="{F73209A1-B658-BB94-8DE9-97B9BAAF9651}"/>
              </a:ext>
            </a:extLst>
          </p:cNvPr>
          <p:cNvGrpSpPr/>
          <p:nvPr/>
        </p:nvGrpSpPr>
        <p:grpSpPr>
          <a:xfrm>
            <a:off x="789228" y="8778875"/>
            <a:ext cx="6402705" cy="20955"/>
            <a:chOff x="801369" y="7811769"/>
            <a:chExt cx="6402705" cy="20955"/>
          </a:xfrm>
        </p:grpSpPr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030DE98A-A045-F160-2CDB-9FED1A919A79}"/>
                </a:ext>
              </a:extLst>
            </p:cNvPr>
            <p:cNvSpPr/>
            <p:nvPr/>
          </p:nvSpPr>
          <p:spPr>
            <a:xfrm>
              <a:off x="801370" y="781176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1540B0B7-F66A-09A9-CEA7-C7BB52369222}"/>
                </a:ext>
              </a:extLst>
            </p:cNvPr>
            <p:cNvSpPr/>
            <p:nvPr/>
          </p:nvSpPr>
          <p:spPr>
            <a:xfrm>
              <a:off x="7200899" y="78129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87BDBD3E-C8C7-D992-85CD-1D77F69529EA}"/>
                </a:ext>
              </a:extLst>
            </p:cNvPr>
            <p:cNvSpPr/>
            <p:nvPr/>
          </p:nvSpPr>
          <p:spPr>
            <a:xfrm>
              <a:off x="801928" y="781292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1CB04381-D201-EF29-AD41-3AFB9B108ABB}"/>
                </a:ext>
              </a:extLst>
            </p:cNvPr>
            <p:cNvSpPr/>
            <p:nvPr/>
          </p:nvSpPr>
          <p:spPr>
            <a:xfrm>
              <a:off x="7200899" y="781596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211F987A-1E45-144C-781C-439392BB5503}"/>
                </a:ext>
              </a:extLst>
            </p:cNvPr>
            <p:cNvSpPr/>
            <p:nvPr/>
          </p:nvSpPr>
          <p:spPr>
            <a:xfrm>
              <a:off x="801928" y="782967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36F1915D-3794-8E80-8F51-6CFCAAD8563D}"/>
                </a:ext>
              </a:extLst>
            </p:cNvPr>
            <p:cNvSpPr/>
            <p:nvPr/>
          </p:nvSpPr>
          <p:spPr>
            <a:xfrm>
              <a:off x="801928" y="782968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>
            <a:extLst>
              <a:ext uri="{FF2B5EF4-FFF2-40B4-BE49-F238E27FC236}">
                <a16:creationId xmlns:a16="http://schemas.microsoft.com/office/drawing/2014/main" id="{A8350C30-62E4-4069-0527-5B936BEB3002}"/>
              </a:ext>
            </a:extLst>
          </p:cNvPr>
          <p:cNvSpPr txBox="1"/>
          <p:nvPr/>
        </p:nvSpPr>
        <p:spPr>
          <a:xfrm>
            <a:off x="734047" y="8921270"/>
            <a:ext cx="6414135" cy="1100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8.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Conclusion:</a:t>
            </a:r>
            <a:endParaRPr sz="1400" dirty="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1235"/>
              </a:spcBef>
            </a:pPr>
            <a:r>
              <a:rPr lang="en-US" sz="1300" dirty="0">
                <a:latin typeface="Times New Roman"/>
                <a:cs typeface="Times New Roman"/>
              </a:rPr>
              <a:t>The project successfully integrates HTML, CSS, and JavaScript to form a complete registration system. The validation logic ensures data quality, while the dynamic table update provides immediate satisfaction to the user, proving that client-side scripting is essential for a modern web experience.</a:t>
            </a:r>
            <a:endParaRPr sz="1300" dirty="0">
              <a:latin typeface="Times New Roman"/>
              <a:cs typeface="Times New Roman"/>
            </a:endParaRPr>
          </a:p>
        </p:txBody>
      </p:sp>
      <p:pic>
        <p:nvPicPr>
          <p:cNvPr id="45" name="object 45">
            <a:extLst>
              <a:ext uri="{FF2B5EF4-FFF2-40B4-BE49-F238E27FC236}">
                <a16:creationId xmlns:a16="http://schemas.microsoft.com/office/drawing/2014/main" id="{EBE6FF45-A380-CB68-3163-0588E2059FB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9550" y="577849"/>
            <a:ext cx="1004798" cy="566420"/>
          </a:xfrm>
          <a:prstGeom prst="rect">
            <a:avLst/>
          </a:prstGeom>
        </p:spPr>
      </p:pic>
      <p:pic>
        <p:nvPicPr>
          <p:cNvPr id="46" name="object 46">
            <a:extLst>
              <a:ext uri="{FF2B5EF4-FFF2-40B4-BE49-F238E27FC236}">
                <a16:creationId xmlns:a16="http://schemas.microsoft.com/office/drawing/2014/main" id="{0592D040-D651-8779-7850-B45BC49D5A2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775" y="615949"/>
            <a:ext cx="1495933" cy="370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183A41-7022-1A96-B9FC-B2F9FAF945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29" y="1835281"/>
            <a:ext cx="3041379" cy="2904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5180CA-F9E0-B35A-6A06-E1F76EAF74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195" y="3369187"/>
            <a:ext cx="3668687" cy="3135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FFF8F5-F465-EEAD-94F2-DFE71FD159EF}"/>
              </a:ext>
            </a:extLst>
          </p:cNvPr>
          <p:cNvSpPr txBox="1"/>
          <p:nvPr/>
        </p:nvSpPr>
        <p:spPr>
          <a:xfrm>
            <a:off x="508000" y="4971988"/>
            <a:ext cx="135646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submit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78DB6-42BB-7613-22CF-59752FF4090D}"/>
              </a:ext>
            </a:extLst>
          </p:cNvPr>
          <p:cNvSpPr txBox="1"/>
          <p:nvPr/>
        </p:nvSpPr>
        <p:spPr>
          <a:xfrm>
            <a:off x="5080000" y="2463007"/>
            <a:ext cx="123142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39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923</Words>
  <Application>Microsoft Office PowerPoint</Application>
  <PresentationFormat>Custom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Senthur Siva Sakthivel C</dc:creator>
  <cp:lastModifiedBy>S0805844</cp:lastModifiedBy>
  <cp:revision>8</cp:revision>
  <dcterms:created xsi:type="dcterms:W3CDTF">2026-03-04T05:00:28Z</dcterms:created>
  <dcterms:modified xsi:type="dcterms:W3CDTF">2026-03-10T15:16:06Z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2026-03-04T00:00:00Z</vt:filetime>
  </property>
  <property fmtid="{D5CDD505-2E9C-101B-9397-08002B2CF9AE}" pid="5" name="Producer">
    <vt:lpwstr>3-Heights(TM) PDF Security Shell 4.8.25.2 (http://www.pdf-tools.com)</vt:lpwstr>
  </property>
</Properties>
</file>