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Lst>
  <p:sldSz cx="7569200" cy="10693400"/>
  <p:notesSz cx="7569200" cy="106934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926" autoAdjust="0"/>
    <p:restoredTop sz="93969" autoAdjust="0"/>
  </p:normalViewPr>
  <p:slideViewPr>
    <p:cSldViewPr>
      <p:cViewPr>
        <p:scale>
          <a:sx n="100" d="100"/>
          <a:sy n="100" d="100"/>
        </p:scale>
        <p:origin x="1242" y="-3912"/>
      </p:cViewPr>
      <p:guideLst>
        <p:guide orient="horz" pos="2880"/>
        <p:guide pos="2160"/>
      </p:guideLst>
    </p:cSldViewPr>
  </p:slideViewPr>
  <p:outlineViewPr>
    <p:cViewPr>
      <p:scale>
        <a:sx n="33" d="100"/>
        <a:sy n="33" d="100"/>
      </p:scale>
      <p:origin x="0" y="-1356"/>
    </p:cViewPr>
  </p:outlineViewPr>
  <p:notesTextViewPr>
    <p:cViewPr>
      <p:scale>
        <a:sx n="100" d="100"/>
        <a:sy n="10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67690" y="3314954"/>
            <a:ext cx="6433820" cy="2245614"/>
          </a:xfrm>
          <a:prstGeom prst="rect">
            <a:avLst/>
          </a:prstGeom>
        </p:spPr>
        <p:txBody>
          <a:bodyPr wrap="square" lIns="0" tIns="0" rIns="0" bIns="0">
            <a:spAutoFit/>
          </a:bodyPr>
          <a:lstStyle>
            <a:lvl1pPr>
              <a:defRPr sz="2300" b="1" i="0">
                <a:solidFill>
                  <a:schemeClr val="tx1"/>
                </a:solidFill>
                <a:latin typeface="Times New Roman"/>
                <a:cs typeface="Times New Roman"/>
              </a:defRPr>
            </a:lvl1pPr>
          </a:lstStyle>
          <a:p>
            <a:endParaRPr/>
          </a:p>
        </p:txBody>
      </p:sp>
      <p:sp>
        <p:nvSpPr>
          <p:cNvPr id="3" name="Holder 3"/>
          <p:cNvSpPr>
            <a:spLocks noGrp="1"/>
          </p:cNvSpPr>
          <p:nvPr>
            <p:ph type="subTitle" idx="4"/>
          </p:nvPr>
        </p:nvSpPr>
        <p:spPr>
          <a:xfrm>
            <a:off x="1135380" y="5988304"/>
            <a:ext cx="5298440" cy="2673350"/>
          </a:xfrm>
          <a:prstGeom prst="rect">
            <a:avLst/>
          </a:prstGeom>
        </p:spPr>
        <p:txBody>
          <a:bodyPr wrap="square" lIns="0" tIns="0" rIns="0" bIns="0">
            <a:spAutoFit/>
          </a:bodyPr>
          <a:lstStyle>
            <a:lvl1pPr>
              <a:defRPr sz="1700" b="1"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3/10/2026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300" b="1" i="0">
                <a:solidFill>
                  <a:schemeClr val="tx1"/>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sz="1700" b="1"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3/10/2026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300" b="1" i="0">
                <a:solidFill>
                  <a:schemeClr val="tx1"/>
                </a:solidFill>
                <a:latin typeface="Times New Roman"/>
                <a:cs typeface="Times New Roman"/>
              </a:defRPr>
            </a:lvl1pPr>
          </a:lstStyle>
          <a:p>
            <a:endParaRPr/>
          </a:p>
        </p:txBody>
      </p:sp>
      <p:sp>
        <p:nvSpPr>
          <p:cNvPr id="3" name="Holder 3"/>
          <p:cNvSpPr>
            <a:spLocks noGrp="1"/>
          </p:cNvSpPr>
          <p:nvPr>
            <p:ph sz="half" idx="2"/>
          </p:nvPr>
        </p:nvSpPr>
        <p:spPr>
          <a:xfrm>
            <a:off x="378460" y="2459482"/>
            <a:ext cx="3292602" cy="7057644"/>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898138" y="2459482"/>
            <a:ext cx="3292602" cy="7057644"/>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3/10/2026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300" b="1" i="0">
                <a:solidFill>
                  <a:schemeClr val="tx1"/>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3/10/2026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3/10/2026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1732568" y="1539579"/>
            <a:ext cx="4104062" cy="375919"/>
          </a:xfrm>
          <a:prstGeom prst="rect">
            <a:avLst/>
          </a:prstGeom>
        </p:spPr>
        <p:txBody>
          <a:bodyPr wrap="square" lIns="0" tIns="0" rIns="0" bIns="0">
            <a:spAutoFit/>
          </a:bodyPr>
          <a:lstStyle>
            <a:lvl1pPr>
              <a:defRPr sz="2300" b="1" i="0">
                <a:solidFill>
                  <a:schemeClr val="tx1"/>
                </a:solidFill>
                <a:latin typeface="Times New Roman"/>
                <a:cs typeface="Times New Roman"/>
              </a:defRPr>
            </a:lvl1pPr>
          </a:lstStyle>
          <a:p>
            <a:endParaRPr/>
          </a:p>
        </p:txBody>
      </p:sp>
      <p:sp>
        <p:nvSpPr>
          <p:cNvPr id="3" name="Holder 3"/>
          <p:cNvSpPr>
            <a:spLocks noGrp="1"/>
          </p:cNvSpPr>
          <p:nvPr>
            <p:ph type="body" idx="1"/>
          </p:nvPr>
        </p:nvSpPr>
        <p:spPr>
          <a:xfrm>
            <a:off x="551278" y="2159508"/>
            <a:ext cx="6466642" cy="7159625"/>
          </a:xfrm>
          <a:prstGeom prst="rect">
            <a:avLst/>
          </a:prstGeom>
        </p:spPr>
        <p:txBody>
          <a:bodyPr wrap="square" lIns="0" tIns="0" rIns="0" bIns="0">
            <a:spAutoFit/>
          </a:bodyPr>
          <a:lstStyle>
            <a:lvl1pPr>
              <a:defRPr sz="1700" b="1"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2573528" y="9944862"/>
            <a:ext cx="2422144" cy="53467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78460" y="9944862"/>
            <a:ext cx="1740916" cy="53467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3/10/2026</a:t>
            </a:fld>
            <a:endParaRPr lang="en-US"/>
          </a:p>
        </p:txBody>
      </p:sp>
      <p:sp>
        <p:nvSpPr>
          <p:cNvPr id="6" name="Holder 6"/>
          <p:cNvSpPr>
            <a:spLocks noGrp="1"/>
          </p:cNvSpPr>
          <p:nvPr>
            <p:ph type="sldNum" sz="quarter" idx="7"/>
          </p:nvPr>
        </p:nvSpPr>
        <p:spPr>
          <a:xfrm>
            <a:off x="5449824" y="9944862"/>
            <a:ext cx="1740916" cy="53467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5.xml"/><Relationship Id="rId6" Type="http://schemas.openxmlformats.org/officeDocument/2006/relationships/image" Target="../media/image5.png"/><Relationship Id="rId5" Type="http://schemas.openxmlformats.org/officeDocument/2006/relationships/image" Target="../media/image2.png"/><Relationship Id="rId4" Type="http://schemas.openxmlformats.org/officeDocument/2006/relationships/image" Target="../media/image1.jp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5.xml"/><Relationship Id="rId6" Type="http://schemas.openxmlformats.org/officeDocument/2006/relationships/image" Target="../media/image2.png"/><Relationship Id="rId5" Type="http://schemas.openxmlformats.org/officeDocument/2006/relationships/image" Target="../media/image1.jpg"/><Relationship Id="rId4" Type="http://schemas.openxmlformats.org/officeDocument/2006/relationships/hyperlink" Target="mailto:kumaravelat2005@gmaul.com"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5.xml"/><Relationship Id="rId5" Type="http://schemas.openxmlformats.org/officeDocument/2006/relationships/image" Target="../media/image2.png"/><Relationship Id="rId4" Type="http://schemas.openxmlformats.org/officeDocument/2006/relationships/image" Target="../media/image1.jp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4.png"/><Relationship Id="rId1" Type="http://schemas.openxmlformats.org/officeDocument/2006/relationships/slideLayout" Target="../slideLayouts/slideLayout5.xml"/><Relationship Id="rId6" Type="http://schemas.openxmlformats.org/officeDocument/2006/relationships/image" Target="../media/image6.png"/><Relationship Id="rId5" Type="http://schemas.openxmlformats.org/officeDocument/2006/relationships/image" Target="../media/image2.png"/><Relationship Id="rId4" Type="http://schemas.openxmlformats.org/officeDocument/2006/relationships/image" Target="../media/image1.jp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732569" y="1229789"/>
            <a:ext cx="4104062" cy="375919"/>
          </a:xfrm>
          <a:prstGeom prst="rect">
            <a:avLst/>
          </a:prstGeom>
        </p:spPr>
        <p:txBody>
          <a:bodyPr vert="horz" wrap="square" lIns="0" tIns="12700" rIns="0" bIns="0" rtlCol="0">
            <a:spAutoFit/>
          </a:bodyPr>
          <a:lstStyle/>
          <a:p>
            <a:pPr marL="12700">
              <a:lnSpc>
                <a:spcPct val="100000"/>
              </a:lnSpc>
              <a:spcBef>
                <a:spcPts val="100"/>
              </a:spcBef>
            </a:pPr>
            <a:r>
              <a:rPr spc="-55" dirty="0"/>
              <a:t>FRONT-</a:t>
            </a:r>
            <a:r>
              <a:rPr dirty="0"/>
              <a:t>END</a:t>
            </a:r>
            <a:r>
              <a:rPr spc="-25" dirty="0"/>
              <a:t> </a:t>
            </a:r>
            <a:r>
              <a:rPr spc="-10" dirty="0"/>
              <a:t>DEVELOPMENT</a:t>
            </a:r>
          </a:p>
        </p:txBody>
      </p:sp>
      <p:sp>
        <p:nvSpPr>
          <p:cNvPr id="3" name="object 3"/>
          <p:cNvSpPr/>
          <p:nvPr/>
        </p:nvSpPr>
        <p:spPr>
          <a:xfrm>
            <a:off x="680083" y="53467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4" name="object 4"/>
          <p:cNvSpPr txBox="1">
            <a:spLocks noGrp="1"/>
          </p:cNvSpPr>
          <p:nvPr>
            <p:ph type="body" idx="1"/>
          </p:nvPr>
        </p:nvSpPr>
        <p:spPr>
          <a:xfrm>
            <a:off x="442158" y="1742023"/>
            <a:ext cx="6923842" cy="8799845"/>
          </a:xfrm>
          <a:prstGeom prst="rect">
            <a:avLst/>
          </a:prstGeom>
        </p:spPr>
        <p:txBody>
          <a:bodyPr vert="horz" wrap="square" lIns="0" tIns="12700" rIns="0" bIns="0" rtlCol="0">
            <a:spAutoFit/>
          </a:bodyPr>
          <a:lstStyle/>
          <a:p>
            <a:pPr marL="10795" marR="12065" algn="ctr">
              <a:lnSpc>
                <a:spcPct val="100000"/>
              </a:lnSpc>
              <a:spcBef>
                <a:spcPts val="100"/>
              </a:spcBef>
            </a:pPr>
            <a:r>
              <a:rPr spc="-10" dirty="0"/>
              <a:t>ASSIGNMENT </a:t>
            </a:r>
            <a:r>
              <a:rPr dirty="0"/>
              <a:t>1</a:t>
            </a:r>
            <a:r>
              <a:rPr spc="-10" dirty="0"/>
              <a:t> TEMPLATE</a:t>
            </a:r>
          </a:p>
          <a:p>
            <a:pPr marL="10795">
              <a:lnSpc>
                <a:spcPct val="100000"/>
              </a:lnSpc>
              <a:spcBef>
                <a:spcPts val="585"/>
              </a:spcBef>
            </a:pPr>
            <a:endParaRPr spc="-10" dirty="0"/>
          </a:p>
          <a:p>
            <a:pPr marL="360045">
              <a:lnSpc>
                <a:spcPct val="100000"/>
              </a:lnSpc>
            </a:pPr>
            <a:r>
              <a:rPr sz="1200" dirty="0"/>
              <a:t>STUDENT </a:t>
            </a:r>
            <a:r>
              <a:rPr sz="1200" spc="-10" dirty="0"/>
              <a:t>NAME:</a:t>
            </a:r>
            <a:r>
              <a:rPr lang="en-US" sz="1200" spc="-10" dirty="0"/>
              <a:t> </a:t>
            </a:r>
            <a:r>
              <a:rPr lang="en-US" sz="1300" spc="-10" dirty="0"/>
              <a:t>Hariharan S</a:t>
            </a:r>
            <a:endParaRPr sz="1300" dirty="0"/>
          </a:p>
          <a:p>
            <a:pPr marL="360045">
              <a:lnSpc>
                <a:spcPct val="100000"/>
              </a:lnSpc>
              <a:spcBef>
                <a:spcPts val="630"/>
              </a:spcBef>
            </a:pPr>
            <a:r>
              <a:rPr sz="1200" spc="-10" dirty="0"/>
              <a:t>YEAR:</a:t>
            </a:r>
            <a:r>
              <a:rPr lang="en-US" sz="1300" spc="-10" dirty="0"/>
              <a:t> II</a:t>
            </a:r>
            <a:endParaRPr sz="1300" dirty="0"/>
          </a:p>
          <a:p>
            <a:pPr marL="360045">
              <a:lnSpc>
                <a:spcPct val="100000"/>
              </a:lnSpc>
              <a:spcBef>
                <a:spcPts val="640"/>
              </a:spcBef>
            </a:pPr>
            <a:r>
              <a:rPr sz="1200" dirty="0"/>
              <a:t>COLLEGE</a:t>
            </a:r>
            <a:r>
              <a:rPr sz="1200" spc="-60" dirty="0"/>
              <a:t> </a:t>
            </a:r>
            <a:r>
              <a:rPr sz="1200" spc="-10" dirty="0"/>
              <a:t>CODE:</a:t>
            </a:r>
            <a:r>
              <a:rPr lang="en-US" sz="1200" spc="-10" dirty="0"/>
              <a:t> </a:t>
            </a:r>
            <a:r>
              <a:rPr lang="en-US" sz="1300" spc="-10" dirty="0"/>
              <a:t>1455</a:t>
            </a:r>
            <a:endParaRPr sz="1300" dirty="0"/>
          </a:p>
          <a:p>
            <a:pPr marL="360045">
              <a:lnSpc>
                <a:spcPct val="100000"/>
              </a:lnSpc>
              <a:spcBef>
                <a:spcPts val="640"/>
              </a:spcBef>
            </a:pPr>
            <a:r>
              <a:rPr sz="1200" dirty="0"/>
              <a:t>COLLEGE</a:t>
            </a:r>
            <a:r>
              <a:rPr sz="1200" spc="-60" dirty="0"/>
              <a:t> </a:t>
            </a:r>
            <a:r>
              <a:rPr sz="1200" spc="-10" dirty="0"/>
              <a:t>NAME:</a:t>
            </a:r>
            <a:r>
              <a:rPr lang="en-US" sz="1200" spc="-10" dirty="0"/>
              <a:t> </a:t>
            </a:r>
            <a:r>
              <a:rPr lang="en-US" sz="1300" spc="-10" dirty="0"/>
              <a:t>Tagore College of Arts And Science.</a:t>
            </a:r>
            <a:endParaRPr sz="1300" dirty="0"/>
          </a:p>
          <a:p>
            <a:pPr marL="360045">
              <a:lnSpc>
                <a:spcPct val="100000"/>
              </a:lnSpc>
              <a:spcBef>
                <a:spcPts val="640"/>
              </a:spcBef>
            </a:pPr>
            <a:r>
              <a:rPr sz="1200" spc="-10" dirty="0"/>
              <a:t>DEPARTMENT</a:t>
            </a:r>
            <a:r>
              <a:rPr sz="1300" spc="-10" dirty="0"/>
              <a:t>:</a:t>
            </a:r>
            <a:r>
              <a:rPr lang="en-US" sz="1300" spc="-10" dirty="0"/>
              <a:t> Computer Science </a:t>
            </a:r>
            <a:endParaRPr sz="1300" dirty="0"/>
          </a:p>
          <a:p>
            <a:pPr marL="360045">
              <a:lnSpc>
                <a:spcPct val="100000"/>
              </a:lnSpc>
              <a:spcBef>
                <a:spcPts val="930"/>
              </a:spcBef>
            </a:pPr>
            <a:r>
              <a:rPr sz="1200" spc="-10" dirty="0"/>
              <a:t>SEMESTER</a:t>
            </a:r>
            <a:r>
              <a:rPr lang="en-IN" sz="1200" spc="-10" dirty="0"/>
              <a:t>: </a:t>
            </a:r>
            <a:r>
              <a:rPr lang="en-IN" sz="1300" spc="-10" dirty="0"/>
              <a:t>4</a:t>
            </a:r>
            <a:r>
              <a:rPr lang="en-IN" sz="1300" spc="-10" baseline="30000" dirty="0"/>
              <a:t>th</a:t>
            </a:r>
            <a:r>
              <a:rPr lang="en-IN" sz="1300" spc="-10" dirty="0"/>
              <a:t> Semester</a:t>
            </a:r>
            <a:endParaRPr sz="1300" dirty="0"/>
          </a:p>
          <a:p>
            <a:pPr marL="360045">
              <a:lnSpc>
                <a:spcPct val="100000"/>
              </a:lnSpc>
              <a:spcBef>
                <a:spcPts val="930"/>
              </a:spcBef>
            </a:pPr>
            <a:r>
              <a:rPr sz="1200" dirty="0"/>
              <a:t>ROLL </a:t>
            </a:r>
            <a:r>
              <a:rPr sz="1200" spc="-25" dirty="0"/>
              <a:t>NO:</a:t>
            </a:r>
            <a:r>
              <a:rPr lang="en-US" sz="1200" spc="-25" dirty="0"/>
              <a:t>  unm1455</a:t>
            </a:r>
            <a:r>
              <a:rPr lang="en-US" sz="1300" spc="-25" dirty="0"/>
              <a:t>222407723</a:t>
            </a:r>
            <a:endParaRPr sz="1300" dirty="0"/>
          </a:p>
          <a:p>
            <a:pPr marL="360045">
              <a:lnSpc>
                <a:spcPct val="100000"/>
              </a:lnSpc>
              <a:spcBef>
                <a:spcPts val="630"/>
              </a:spcBef>
            </a:pPr>
            <a:r>
              <a:rPr sz="1200" spc="-10" dirty="0"/>
              <a:t>NMID:</a:t>
            </a:r>
            <a:r>
              <a:rPr lang="en-US" sz="1200" spc="-10" dirty="0"/>
              <a:t> 614D89761591EB584744FC4BCEE6FE5F</a:t>
            </a:r>
            <a:endParaRPr sz="1200" dirty="0"/>
          </a:p>
          <a:p>
            <a:pPr marL="360045">
              <a:lnSpc>
                <a:spcPct val="100000"/>
              </a:lnSpc>
              <a:spcBef>
                <a:spcPts val="630"/>
              </a:spcBef>
            </a:pPr>
            <a:r>
              <a:rPr sz="1200" spc="-10" dirty="0"/>
              <a:t>DATE:</a:t>
            </a:r>
            <a:r>
              <a:rPr lang="en-US" sz="1200" spc="-10" dirty="0"/>
              <a:t> </a:t>
            </a:r>
            <a:r>
              <a:rPr lang="en-US" sz="1300" spc="-10" dirty="0"/>
              <a:t>10/03/2026</a:t>
            </a:r>
            <a:endParaRPr sz="1300" dirty="0"/>
          </a:p>
          <a:p>
            <a:pPr marL="360045">
              <a:lnSpc>
                <a:spcPct val="100000"/>
              </a:lnSpc>
              <a:spcBef>
                <a:spcPts val="630"/>
              </a:spcBef>
            </a:pPr>
            <a:r>
              <a:rPr sz="1200" dirty="0"/>
              <a:t>PROJECT </a:t>
            </a:r>
            <a:r>
              <a:rPr sz="1200" spc="-10" dirty="0"/>
              <a:t>TITLE:</a:t>
            </a:r>
            <a:r>
              <a:rPr lang="en-US" sz="1200" spc="-10" dirty="0"/>
              <a:t> </a:t>
            </a:r>
            <a:r>
              <a:rPr lang="en-US" sz="1400" spc="-10" dirty="0"/>
              <a:t>HTML Structure for Event Registration</a:t>
            </a:r>
            <a:endParaRPr sz="1400" dirty="0"/>
          </a:p>
          <a:p>
            <a:pPr marL="10795">
              <a:lnSpc>
                <a:spcPct val="100000"/>
              </a:lnSpc>
            </a:pPr>
            <a:endParaRPr sz="1200" dirty="0"/>
          </a:p>
          <a:p>
            <a:pPr marL="10795">
              <a:lnSpc>
                <a:spcPct val="100000"/>
              </a:lnSpc>
              <a:spcBef>
                <a:spcPts val="440"/>
              </a:spcBef>
            </a:pPr>
            <a:endParaRPr sz="1200" dirty="0"/>
          </a:p>
          <a:p>
            <a:pPr marL="244475" indent="-222250">
              <a:lnSpc>
                <a:spcPct val="100000"/>
              </a:lnSpc>
              <a:buSzPct val="95652"/>
              <a:buAutoNum type="arabicPeriod"/>
              <a:tabLst>
                <a:tab pos="245110" algn="l"/>
              </a:tabLst>
            </a:pPr>
            <a:r>
              <a:rPr lang="en-US" sz="2300" dirty="0">
                <a:solidFill>
                  <a:srgbClr val="6D9DEB"/>
                </a:solidFill>
              </a:rPr>
              <a:t>Assignment</a:t>
            </a:r>
            <a:r>
              <a:rPr lang="en-US" sz="2300" spc="-55" dirty="0">
                <a:solidFill>
                  <a:srgbClr val="6D9DEB"/>
                </a:solidFill>
              </a:rPr>
              <a:t> </a:t>
            </a:r>
            <a:r>
              <a:rPr lang="en-US" sz="2300" dirty="0">
                <a:solidFill>
                  <a:srgbClr val="6D9DEB"/>
                </a:solidFill>
              </a:rPr>
              <a:t>and</a:t>
            </a:r>
            <a:r>
              <a:rPr lang="en-US" sz="2300" spc="-55" dirty="0">
                <a:solidFill>
                  <a:srgbClr val="6D9DEB"/>
                </a:solidFill>
              </a:rPr>
              <a:t> </a:t>
            </a:r>
            <a:r>
              <a:rPr lang="en-US" sz="2300" spc="-10" dirty="0">
                <a:solidFill>
                  <a:srgbClr val="6D9DEB"/>
                </a:solidFill>
              </a:rPr>
              <a:t>Assumptions:</a:t>
            </a:r>
            <a:endParaRPr lang="en-US" sz="2300" dirty="0"/>
          </a:p>
          <a:p>
            <a:pPr marL="23495" lvl="1">
              <a:lnSpc>
                <a:spcPct val="100000"/>
              </a:lnSpc>
              <a:spcBef>
                <a:spcPts val="655"/>
              </a:spcBef>
              <a:buSzPct val="94117"/>
              <a:tabLst>
                <a:tab pos="345440" algn="l"/>
              </a:tabLst>
            </a:pPr>
            <a:endParaRPr lang="en-US" sz="600" spc="-10" dirty="0">
              <a:latin typeface="Times New Roman"/>
              <a:cs typeface="Times New Roman"/>
            </a:endParaRPr>
          </a:p>
          <a:p>
            <a:pPr marL="23495" lvl="1">
              <a:lnSpc>
                <a:spcPct val="100000"/>
              </a:lnSpc>
              <a:spcBef>
                <a:spcPts val="655"/>
              </a:spcBef>
              <a:buSzPct val="94117"/>
              <a:tabLst>
                <a:tab pos="345440" algn="l"/>
              </a:tabLst>
            </a:pPr>
            <a:r>
              <a:rPr lang="en-US" sz="1500" spc="-10" dirty="0">
                <a:latin typeface="Times New Roman"/>
                <a:cs typeface="Times New Roman"/>
              </a:rPr>
              <a:t>This project is a College Workshop Registration page designed to digitize student sign-ups for technical seminars. It provides a structured interface for users to view event logistics, submit personal data through a grouped form, and view a summary of participants in a table.</a:t>
            </a:r>
          </a:p>
          <a:p>
            <a:pPr marL="344805" lvl="1" indent="-321310">
              <a:lnSpc>
                <a:spcPct val="100000"/>
              </a:lnSpc>
              <a:spcBef>
                <a:spcPts val="655"/>
              </a:spcBef>
              <a:buSzPct val="94117"/>
              <a:buAutoNum type="arabicPeriod"/>
              <a:tabLst>
                <a:tab pos="345440" algn="l"/>
              </a:tabLst>
            </a:pPr>
            <a:r>
              <a:rPr lang="en-US" sz="1700" b="1" spc="-10" dirty="0">
                <a:latin typeface="Times New Roman"/>
                <a:cs typeface="Times New Roman"/>
              </a:rPr>
              <a:t>Assignment:</a:t>
            </a:r>
          </a:p>
          <a:p>
            <a:pPr marL="23495" lvl="1">
              <a:lnSpc>
                <a:spcPct val="100000"/>
              </a:lnSpc>
              <a:spcBef>
                <a:spcPts val="655"/>
              </a:spcBef>
              <a:buSzPct val="94117"/>
              <a:tabLst>
                <a:tab pos="345440" algn="l"/>
              </a:tabLst>
            </a:pPr>
            <a:r>
              <a:rPr lang="en-US" sz="1500" dirty="0">
                <a:latin typeface="Times New Roman"/>
                <a:cs typeface="Times New Roman"/>
              </a:rPr>
              <a:t>The objective of this assignment is to design and develop a Simple Event Registration Page utilizing a structured approach to front-end development. The application is built to manage the registration process for college-level technical seminars. The main tasks completed include:</a:t>
            </a:r>
          </a:p>
          <a:p>
            <a:pPr marL="309245" lvl="1" indent="-285750">
              <a:lnSpc>
                <a:spcPct val="100000"/>
              </a:lnSpc>
              <a:spcBef>
                <a:spcPts val="655"/>
              </a:spcBef>
              <a:buSzPct val="94117"/>
              <a:buFont typeface="Arial" panose="020B0604020202020204" pitchFamily="34" charset="0"/>
              <a:buChar char="•"/>
              <a:tabLst>
                <a:tab pos="345440" algn="l"/>
              </a:tabLst>
            </a:pPr>
            <a:r>
              <a:rPr lang="en-US" sz="1500" b="1" dirty="0">
                <a:latin typeface="Times New Roman"/>
                <a:cs typeface="Times New Roman"/>
              </a:rPr>
              <a:t>Structural Architecture</a:t>
            </a:r>
            <a:r>
              <a:rPr lang="en-US" sz="1500" dirty="0">
                <a:latin typeface="Times New Roman"/>
                <a:cs typeface="Times New Roman"/>
              </a:rPr>
              <a:t>: Defining a clear hierarchy of information using </a:t>
            </a:r>
            <a:r>
              <a:rPr lang="en-US" sz="1500" u="sng" dirty="0">
                <a:latin typeface="Times New Roman"/>
                <a:cs typeface="Times New Roman"/>
              </a:rPr>
              <a:t>HTML5</a:t>
            </a:r>
          </a:p>
          <a:p>
            <a:pPr marL="309245" lvl="1" indent="-285750">
              <a:lnSpc>
                <a:spcPct val="100000"/>
              </a:lnSpc>
              <a:spcBef>
                <a:spcPts val="655"/>
              </a:spcBef>
              <a:buSzPct val="94117"/>
              <a:buFont typeface="Arial" panose="020B0604020202020204" pitchFamily="34" charset="0"/>
              <a:buChar char="•"/>
              <a:tabLst>
                <a:tab pos="345440" algn="l"/>
              </a:tabLst>
            </a:pPr>
            <a:r>
              <a:rPr lang="en-US" sz="1500" b="1" dirty="0">
                <a:latin typeface="Times New Roman"/>
                <a:cs typeface="Times New Roman"/>
              </a:rPr>
              <a:t>User Information Capture</a:t>
            </a:r>
            <a:r>
              <a:rPr lang="en-US" sz="1500" dirty="0">
                <a:latin typeface="Times New Roman"/>
                <a:cs typeface="Times New Roman"/>
              </a:rPr>
              <a:t>: Designing a multi-section form to collect personal, event, and college-specific data.</a:t>
            </a:r>
          </a:p>
          <a:p>
            <a:pPr marL="309245" lvl="1" indent="-285750">
              <a:lnSpc>
                <a:spcPct val="100000"/>
              </a:lnSpc>
              <a:spcBef>
                <a:spcPts val="655"/>
              </a:spcBef>
              <a:buSzPct val="94117"/>
              <a:buFont typeface="Arial" panose="020B0604020202020204" pitchFamily="34" charset="0"/>
              <a:buChar char="•"/>
              <a:tabLst>
                <a:tab pos="345440" algn="l"/>
              </a:tabLst>
            </a:pPr>
            <a:r>
              <a:rPr lang="en-US" sz="1500" b="1" dirty="0">
                <a:latin typeface="Times New Roman"/>
                <a:cs typeface="Times New Roman"/>
              </a:rPr>
              <a:t>Data Organization:</a:t>
            </a:r>
            <a:r>
              <a:rPr lang="en-US" sz="1500" dirty="0">
                <a:latin typeface="Times New Roman"/>
                <a:cs typeface="Times New Roman"/>
              </a:rPr>
              <a:t> Implementing selection menus and radio buttons to standardize user responses.</a:t>
            </a:r>
          </a:p>
          <a:p>
            <a:pPr marL="309245" lvl="1" indent="-285750">
              <a:lnSpc>
                <a:spcPct val="100000"/>
              </a:lnSpc>
              <a:spcBef>
                <a:spcPts val="655"/>
              </a:spcBef>
              <a:buSzPct val="94117"/>
              <a:buFont typeface="Arial" panose="020B0604020202020204" pitchFamily="34" charset="0"/>
              <a:buChar char="•"/>
              <a:tabLst>
                <a:tab pos="345440" algn="l"/>
              </a:tabLst>
            </a:pPr>
            <a:r>
              <a:rPr lang="en-US" sz="1500" b="1" dirty="0">
                <a:latin typeface="Times New Roman"/>
                <a:cs typeface="Times New Roman"/>
              </a:rPr>
              <a:t>Reporting Interface: </a:t>
            </a:r>
            <a:r>
              <a:rPr lang="en-US" sz="1500" dirty="0">
                <a:latin typeface="Times New Roman"/>
                <a:cs typeface="Times New Roman"/>
              </a:rPr>
              <a:t>Creating a static table to represent how registered participant data is displayed to administrators.</a:t>
            </a:r>
          </a:p>
        </p:txBody>
      </p:sp>
      <p:sp>
        <p:nvSpPr>
          <p:cNvPr id="5" name="object 5"/>
          <p:cNvSpPr/>
          <p:nvPr/>
        </p:nvSpPr>
        <p:spPr>
          <a:xfrm>
            <a:off x="327660" y="104521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pic>
        <p:nvPicPr>
          <p:cNvPr id="6" name="object 6"/>
          <p:cNvPicPr/>
          <p:nvPr/>
        </p:nvPicPr>
        <p:blipFill>
          <a:blip r:embed="rId2" cstate="print"/>
          <a:stretch>
            <a:fillRect/>
          </a:stretch>
        </p:blipFill>
        <p:spPr>
          <a:xfrm>
            <a:off x="521334" y="561975"/>
            <a:ext cx="1495425" cy="371475"/>
          </a:xfrm>
          <a:prstGeom prst="rect">
            <a:avLst/>
          </a:prstGeom>
        </p:spPr>
      </p:pic>
      <p:pic>
        <p:nvPicPr>
          <p:cNvPr id="7" name="object 7"/>
          <p:cNvPicPr/>
          <p:nvPr/>
        </p:nvPicPr>
        <p:blipFill>
          <a:blip r:embed="rId3" cstate="print"/>
          <a:stretch>
            <a:fillRect/>
          </a:stretch>
        </p:blipFill>
        <p:spPr>
          <a:xfrm>
            <a:off x="2569210" y="361950"/>
            <a:ext cx="1009650" cy="571500"/>
          </a:xfrm>
          <a:prstGeom prst="rect">
            <a:avLst/>
          </a:prstGeom>
        </p:spPr>
      </p:pic>
      <p:pic>
        <p:nvPicPr>
          <p:cNvPr id="8" name="object 8"/>
          <p:cNvPicPr/>
          <p:nvPr/>
        </p:nvPicPr>
        <p:blipFill>
          <a:blip r:embed="rId4" cstate="print"/>
          <a:stretch>
            <a:fillRect/>
          </a:stretch>
        </p:blipFill>
        <p:spPr>
          <a:xfrm>
            <a:off x="4274184" y="495300"/>
            <a:ext cx="1000125" cy="438150"/>
          </a:xfrm>
          <a:prstGeom prst="rect">
            <a:avLst/>
          </a:prstGeom>
        </p:spPr>
      </p:pic>
      <p:pic>
        <p:nvPicPr>
          <p:cNvPr id="9" name="object 9"/>
          <p:cNvPicPr/>
          <p:nvPr/>
        </p:nvPicPr>
        <p:blipFill>
          <a:blip r:embed="rId5" cstate="print"/>
          <a:stretch>
            <a:fillRect/>
          </a:stretch>
        </p:blipFill>
        <p:spPr>
          <a:xfrm>
            <a:off x="5979159" y="533400"/>
            <a:ext cx="1076324" cy="4000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093209" y="794363"/>
            <a:ext cx="1000125" cy="438150"/>
          </a:xfrm>
          <a:prstGeom prst="rect">
            <a:avLst/>
          </a:prstGeom>
        </p:spPr>
      </p:pic>
      <p:pic>
        <p:nvPicPr>
          <p:cNvPr id="3" name="object 3"/>
          <p:cNvPicPr/>
          <p:nvPr/>
        </p:nvPicPr>
        <p:blipFill>
          <a:blip r:embed="rId3" cstate="print"/>
          <a:stretch>
            <a:fillRect/>
          </a:stretch>
        </p:blipFill>
        <p:spPr>
          <a:xfrm>
            <a:off x="5702934" y="813413"/>
            <a:ext cx="1076324" cy="400050"/>
          </a:xfrm>
          <a:prstGeom prst="rect">
            <a:avLst/>
          </a:prstGeom>
        </p:spPr>
      </p:pic>
      <p:sp>
        <p:nvSpPr>
          <p:cNvPr id="4" name="object 4"/>
          <p:cNvSpPr txBox="1"/>
          <p:nvPr/>
        </p:nvSpPr>
        <p:spPr>
          <a:xfrm>
            <a:off x="613408" y="1336652"/>
            <a:ext cx="6066791" cy="748923"/>
          </a:xfrm>
          <a:prstGeom prst="rect">
            <a:avLst/>
          </a:prstGeom>
        </p:spPr>
        <p:txBody>
          <a:bodyPr vert="horz" wrap="square" lIns="0" tIns="12700" rIns="0" bIns="0" rtlCol="0">
            <a:spAutoFit/>
          </a:bodyPr>
          <a:lstStyle/>
          <a:p>
            <a:pPr marL="12700">
              <a:lnSpc>
                <a:spcPct val="100000"/>
              </a:lnSpc>
              <a:spcBef>
                <a:spcPts val="100"/>
              </a:spcBef>
            </a:pPr>
            <a:r>
              <a:rPr sz="1700" b="1" spc="-10" dirty="0">
                <a:latin typeface="Times New Roman"/>
                <a:cs typeface="Times New Roman"/>
              </a:rPr>
              <a:t>1.2.Purpose:</a:t>
            </a:r>
            <a:endParaRPr lang="en-US" sz="1700" b="1" spc="-10" dirty="0">
              <a:latin typeface="Times New Roman"/>
              <a:cs typeface="Times New Roman"/>
            </a:endParaRPr>
          </a:p>
          <a:p>
            <a:pPr marL="12700">
              <a:lnSpc>
                <a:spcPct val="100000"/>
              </a:lnSpc>
              <a:spcBef>
                <a:spcPts val="100"/>
              </a:spcBef>
            </a:pPr>
            <a:r>
              <a:rPr lang="en-US" sz="1500" dirty="0">
                <a:latin typeface="Times New Roman"/>
                <a:cs typeface="Times New Roman"/>
              </a:rPr>
              <a:t>The objective is to master Semantic HTML and form structures. I aim to learn how to organize user inputs and display data clearly using tables and </a:t>
            </a:r>
            <a:r>
              <a:rPr lang="en-US" sz="1500" dirty="0" err="1">
                <a:latin typeface="Times New Roman"/>
                <a:cs typeface="Times New Roman"/>
              </a:rPr>
              <a:t>fieldsets</a:t>
            </a:r>
            <a:r>
              <a:rPr lang="en-US" sz="1500" dirty="0">
                <a:latin typeface="Times New Roman"/>
                <a:cs typeface="Times New Roman"/>
              </a:rPr>
              <a:t>.</a:t>
            </a:r>
            <a:endParaRPr sz="1500" dirty="0">
              <a:latin typeface="Times New Roman"/>
              <a:cs typeface="Times New Roman"/>
            </a:endParaRPr>
          </a:p>
        </p:txBody>
      </p:sp>
      <p:sp>
        <p:nvSpPr>
          <p:cNvPr id="5" name="object 5"/>
          <p:cNvSpPr/>
          <p:nvPr/>
        </p:nvSpPr>
        <p:spPr>
          <a:xfrm>
            <a:off x="613408" y="22225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6" name="object 6"/>
          <p:cNvSpPr/>
          <p:nvPr/>
        </p:nvSpPr>
        <p:spPr>
          <a:xfrm>
            <a:off x="588803" y="4127501"/>
            <a:ext cx="6502400" cy="76199"/>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7" name="object 7"/>
          <p:cNvSpPr txBox="1"/>
          <p:nvPr/>
        </p:nvSpPr>
        <p:spPr>
          <a:xfrm>
            <a:off x="588008" y="2319889"/>
            <a:ext cx="6641466" cy="3375283"/>
          </a:xfrm>
          <a:prstGeom prst="rect">
            <a:avLst/>
          </a:prstGeom>
        </p:spPr>
        <p:txBody>
          <a:bodyPr vert="horz" wrap="square" lIns="0" tIns="12700" rIns="0" bIns="0" rtlCol="0">
            <a:spAutoFit/>
          </a:bodyPr>
          <a:lstStyle/>
          <a:p>
            <a:pPr marL="278130" indent="-222250">
              <a:lnSpc>
                <a:spcPct val="100000"/>
              </a:lnSpc>
              <a:spcBef>
                <a:spcPts val="100"/>
              </a:spcBef>
              <a:buClr>
                <a:srgbClr val="3C78D8"/>
              </a:buClr>
              <a:buSzPct val="95652"/>
              <a:buFont typeface="Times New Roman"/>
              <a:buAutoNum type="arabicPeriod" startAt="2"/>
              <a:tabLst>
                <a:tab pos="278130" algn="l"/>
              </a:tabLst>
            </a:pPr>
            <a:r>
              <a:rPr sz="2300" b="1" dirty="0">
                <a:solidFill>
                  <a:srgbClr val="3C78D8"/>
                </a:solidFill>
                <a:latin typeface="Times New Roman"/>
                <a:cs typeface="Times New Roman"/>
              </a:rPr>
              <a:t>Problem</a:t>
            </a:r>
            <a:r>
              <a:rPr sz="2300" b="1" spc="-100" dirty="0">
                <a:solidFill>
                  <a:srgbClr val="3C78D8"/>
                </a:solidFill>
                <a:latin typeface="Times New Roman"/>
                <a:cs typeface="Times New Roman"/>
              </a:rPr>
              <a:t> </a:t>
            </a:r>
            <a:r>
              <a:rPr sz="2300" b="1" spc="-10" dirty="0">
                <a:solidFill>
                  <a:srgbClr val="3C78D8"/>
                </a:solidFill>
                <a:latin typeface="Times New Roman"/>
                <a:cs typeface="Times New Roman"/>
              </a:rPr>
              <a:t>Statement:</a:t>
            </a:r>
            <a:endParaRPr lang="en-US" sz="2300" b="1" spc="-10" dirty="0">
              <a:solidFill>
                <a:srgbClr val="3C78D8"/>
              </a:solidFill>
              <a:latin typeface="Times New Roman"/>
              <a:cs typeface="Times New Roman"/>
            </a:endParaRPr>
          </a:p>
          <a:p>
            <a:pPr marL="55880">
              <a:lnSpc>
                <a:spcPct val="100000"/>
              </a:lnSpc>
              <a:spcBef>
                <a:spcPts val="100"/>
              </a:spcBef>
              <a:buClr>
                <a:srgbClr val="3C78D8"/>
              </a:buClr>
              <a:buSzPct val="95652"/>
              <a:tabLst>
                <a:tab pos="278130" algn="l"/>
              </a:tabLst>
            </a:pPr>
            <a:endParaRPr lang="en-US" sz="500" b="1" spc="-10" dirty="0">
              <a:solidFill>
                <a:srgbClr val="3C78D8"/>
              </a:solidFill>
              <a:latin typeface="Times New Roman"/>
              <a:cs typeface="Times New Roman"/>
            </a:endParaRPr>
          </a:p>
          <a:p>
            <a:pPr marL="55880">
              <a:lnSpc>
                <a:spcPct val="100000"/>
              </a:lnSpc>
              <a:spcBef>
                <a:spcPts val="100"/>
              </a:spcBef>
              <a:buClr>
                <a:srgbClr val="3C78D8"/>
              </a:buClr>
              <a:buSzPct val="95652"/>
              <a:tabLst>
                <a:tab pos="278130" algn="l"/>
              </a:tabLst>
            </a:pPr>
            <a:r>
              <a:rPr lang="en-US" sz="1500" dirty="0">
                <a:latin typeface="Times New Roman"/>
                <a:cs typeface="Times New Roman"/>
              </a:rPr>
              <a:t>Current event registration methods in academic environments often rely on physical paperwork or fragmented digital tools, which are prone to data entry errors and loss of information. This application addresses the need for a centralized, digital registration portal that streamlines the sign-up process, ensures all mandatory fields are captured, and provides an immediate visual summary of registered students</a:t>
            </a:r>
            <a:endParaRPr sz="1500" dirty="0">
              <a:latin typeface="Times New Roman"/>
              <a:cs typeface="Times New Roman"/>
            </a:endParaRPr>
          </a:p>
          <a:p>
            <a:pPr>
              <a:lnSpc>
                <a:spcPct val="100000"/>
              </a:lnSpc>
              <a:spcBef>
                <a:spcPts val="705"/>
              </a:spcBef>
            </a:pPr>
            <a:endParaRPr sz="1200" dirty="0">
              <a:latin typeface="Times New Roman"/>
              <a:cs typeface="Times New Roman"/>
            </a:endParaRPr>
          </a:p>
          <a:p>
            <a:pPr marL="230504" indent="-222250">
              <a:lnSpc>
                <a:spcPct val="100000"/>
              </a:lnSpc>
              <a:spcBef>
                <a:spcPts val="5"/>
              </a:spcBef>
              <a:buClr>
                <a:srgbClr val="3C78D8"/>
              </a:buClr>
              <a:buSzPct val="95652"/>
              <a:buFont typeface="Times New Roman"/>
              <a:buAutoNum type="arabicPeriod" startAt="3"/>
              <a:tabLst>
                <a:tab pos="230504" algn="l"/>
              </a:tabLst>
            </a:pPr>
            <a:r>
              <a:rPr sz="2300" b="1" dirty="0">
                <a:solidFill>
                  <a:srgbClr val="3C78D8"/>
                </a:solidFill>
                <a:latin typeface="Times New Roman"/>
                <a:cs typeface="Times New Roman"/>
              </a:rPr>
              <a:t>Expected</a:t>
            </a:r>
            <a:r>
              <a:rPr sz="2300" b="1" spc="-90" dirty="0">
                <a:solidFill>
                  <a:srgbClr val="3C78D8"/>
                </a:solidFill>
                <a:latin typeface="Times New Roman"/>
                <a:cs typeface="Times New Roman"/>
              </a:rPr>
              <a:t> </a:t>
            </a:r>
            <a:r>
              <a:rPr sz="2300" b="1" spc="-10" dirty="0">
                <a:solidFill>
                  <a:srgbClr val="3C78D8"/>
                </a:solidFill>
                <a:latin typeface="Times New Roman"/>
                <a:cs typeface="Times New Roman"/>
              </a:rPr>
              <a:t>Features:</a:t>
            </a:r>
            <a:endParaRPr lang="en-US" sz="1700" b="1" dirty="0">
              <a:latin typeface="Times New Roman"/>
              <a:cs typeface="Times New Roman"/>
            </a:endParaRPr>
          </a:p>
          <a:p>
            <a:pPr marL="8254">
              <a:lnSpc>
                <a:spcPct val="100000"/>
              </a:lnSpc>
              <a:spcBef>
                <a:spcPts val="5"/>
              </a:spcBef>
              <a:buClr>
                <a:srgbClr val="3C78D8"/>
              </a:buClr>
              <a:buSzPct val="95652"/>
              <a:tabLst>
                <a:tab pos="230504" algn="l"/>
              </a:tabLst>
            </a:pPr>
            <a:endParaRPr lang="en-US" sz="500" b="1" dirty="0">
              <a:latin typeface="Times New Roman"/>
              <a:cs typeface="Times New Roman"/>
            </a:endParaRPr>
          </a:p>
          <a:p>
            <a:pPr marL="8254">
              <a:lnSpc>
                <a:spcPct val="100000"/>
              </a:lnSpc>
              <a:spcBef>
                <a:spcPts val="5"/>
              </a:spcBef>
              <a:buClr>
                <a:srgbClr val="3C78D8"/>
              </a:buClr>
              <a:buSzPct val="95652"/>
              <a:tabLst>
                <a:tab pos="230504" algn="l"/>
              </a:tabLst>
            </a:pPr>
            <a:r>
              <a:rPr lang="en-US" sz="1700" b="1" dirty="0">
                <a:latin typeface="Times New Roman"/>
                <a:cs typeface="Times New Roman"/>
              </a:rPr>
              <a:t>1.  </a:t>
            </a:r>
            <a:r>
              <a:rPr sz="1700" b="1" dirty="0">
                <a:latin typeface="Times New Roman"/>
                <a:cs typeface="Times New Roman"/>
              </a:rPr>
              <a:t>Event</a:t>
            </a:r>
            <a:r>
              <a:rPr sz="1700" b="1" spc="-55" dirty="0">
                <a:latin typeface="Times New Roman"/>
                <a:cs typeface="Times New Roman"/>
              </a:rPr>
              <a:t> </a:t>
            </a:r>
            <a:r>
              <a:rPr sz="1700" b="1" dirty="0">
                <a:latin typeface="Times New Roman"/>
                <a:cs typeface="Times New Roman"/>
              </a:rPr>
              <a:t>Title</a:t>
            </a:r>
            <a:r>
              <a:rPr sz="1700" b="1" spc="-50" dirty="0">
                <a:latin typeface="Times New Roman"/>
                <a:cs typeface="Times New Roman"/>
              </a:rPr>
              <a:t> </a:t>
            </a:r>
            <a:r>
              <a:rPr sz="1700" b="1" dirty="0">
                <a:latin typeface="Times New Roman"/>
                <a:cs typeface="Times New Roman"/>
              </a:rPr>
              <a:t>and</a:t>
            </a:r>
            <a:r>
              <a:rPr sz="1700" b="1" spc="-55" dirty="0">
                <a:latin typeface="Times New Roman"/>
                <a:cs typeface="Times New Roman"/>
              </a:rPr>
              <a:t> </a:t>
            </a:r>
            <a:r>
              <a:rPr sz="1700" b="1" spc="-10" dirty="0">
                <a:latin typeface="Times New Roman"/>
                <a:cs typeface="Times New Roman"/>
              </a:rPr>
              <a:t>Description:</a:t>
            </a:r>
            <a:endParaRPr lang="en-US" sz="1700" b="1" spc="-10" dirty="0">
              <a:latin typeface="Times New Roman"/>
              <a:cs typeface="Times New Roman"/>
            </a:endParaRPr>
          </a:p>
          <a:p>
            <a:pPr marL="8254">
              <a:lnSpc>
                <a:spcPct val="100000"/>
              </a:lnSpc>
              <a:spcBef>
                <a:spcPts val="5"/>
              </a:spcBef>
              <a:buClr>
                <a:srgbClr val="3C78D8"/>
              </a:buClr>
              <a:buSzPct val="95652"/>
              <a:tabLst>
                <a:tab pos="230504" algn="l"/>
              </a:tabLst>
            </a:pPr>
            <a:r>
              <a:rPr lang="en-US" sz="1700" dirty="0">
                <a:latin typeface="Times New Roman"/>
                <a:cs typeface="Times New Roman"/>
              </a:rPr>
              <a:t>	</a:t>
            </a:r>
            <a:r>
              <a:rPr lang="en-US" sz="1700" b="1" dirty="0">
                <a:latin typeface="Times New Roman"/>
                <a:cs typeface="Times New Roman"/>
              </a:rPr>
              <a:t>Title:</a:t>
            </a:r>
            <a:r>
              <a:rPr lang="en-US" sz="1700" dirty="0">
                <a:latin typeface="Times New Roman"/>
                <a:cs typeface="Times New Roman"/>
              </a:rPr>
              <a:t> </a:t>
            </a:r>
            <a:r>
              <a:rPr lang="en-US" sz="1500" dirty="0">
                <a:latin typeface="Times New Roman"/>
                <a:cs typeface="Times New Roman"/>
              </a:rPr>
              <a:t>College Workshop Registration</a:t>
            </a:r>
          </a:p>
          <a:p>
            <a:pPr marL="8254">
              <a:lnSpc>
                <a:spcPct val="100000"/>
              </a:lnSpc>
              <a:spcBef>
                <a:spcPts val="5"/>
              </a:spcBef>
              <a:buClr>
                <a:srgbClr val="3C78D8"/>
              </a:buClr>
              <a:buSzPct val="95652"/>
              <a:tabLst>
                <a:tab pos="230504" algn="l"/>
              </a:tabLst>
            </a:pPr>
            <a:r>
              <a:rPr lang="en-US" sz="1700" dirty="0">
                <a:latin typeface="Times New Roman"/>
                <a:cs typeface="Times New Roman"/>
              </a:rPr>
              <a:t>     </a:t>
            </a:r>
            <a:r>
              <a:rPr lang="en-US" sz="1700" b="1" dirty="0">
                <a:latin typeface="Times New Roman"/>
                <a:cs typeface="Times New Roman"/>
              </a:rPr>
              <a:t>Description: </a:t>
            </a:r>
            <a:r>
              <a:rPr lang="en-US" sz="1500" dirty="0">
                <a:latin typeface="Times New Roman"/>
                <a:cs typeface="Times New Roman"/>
              </a:rPr>
              <a:t>To provide an intuitive platform for students to sign up for upcoming technical seminars, such as Java , python and </a:t>
            </a:r>
            <a:r>
              <a:rPr lang="en-US" sz="1500" dirty="0" err="1">
                <a:latin typeface="Times New Roman"/>
                <a:cs typeface="Times New Roman"/>
              </a:rPr>
              <a:t>c++</a:t>
            </a:r>
            <a:r>
              <a:rPr lang="en-US" sz="1500" dirty="0">
                <a:latin typeface="Times New Roman"/>
                <a:cs typeface="Times New Roman"/>
              </a:rPr>
              <a:t> workshops.</a:t>
            </a:r>
            <a:endParaRPr sz="1500" dirty="0">
              <a:latin typeface="Times New Roman"/>
              <a:cs typeface="Times New Roman"/>
            </a:endParaRPr>
          </a:p>
        </p:txBody>
      </p:sp>
      <p:sp>
        <p:nvSpPr>
          <p:cNvPr id="8" name="object 8"/>
          <p:cNvSpPr/>
          <p:nvPr/>
        </p:nvSpPr>
        <p:spPr>
          <a:xfrm>
            <a:off x="588008" y="5819977"/>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9" name="object 9"/>
          <p:cNvSpPr txBox="1"/>
          <p:nvPr/>
        </p:nvSpPr>
        <p:spPr>
          <a:xfrm>
            <a:off x="613408" y="5819977"/>
            <a:ext cx="6289994" cy="4646144"/>
          </a:xfrm>
          <a:prstGeom prst="rect">
            <a:avLst/>
          </a:prstGeom>
        </p:spPr>
        <p:txBody>
          <a:bodyPr vert="horz" wrap="square" lIns="0" tIns="74930" rIns="0" bIns="0" rtlCol="0">
            <a:spAutoFit/>
          </a:bodyPr>
          <a:lstStyle/>
          <a:p>
            <a:pPr marL="12700" lvl="1">
              <a:lnSpc>
                <a:spcPct val="100000"/>
              </a:lnSpc>
              <a:spcBef>
                <a:spcPts val="590"/>
              </a:spcBef>
              <a:tabLst>
                <a:tab pos="387985" algn="l"/>
              </a:tabLst>
            </a:pPr>
            <a:r>
              <a:rPr lang="en-US" sz="1700" b="1" dirty="0">
                <a:latin typeface="Times New Roman"/>
                <a:cs typeface="Times New Roman"/>
              </a:rPr>
              <a:t>2.  </a:t>
            </a:r>
            <a:r>
              <a:rPr sz="1700" b="1" dirty="0">
                <a:latin typeface="Times New Roman"/>
                <a:cs typeface="Times New Roman"/>
              </a:rPr>
              <a:t>Event</a:t>
            </a:r>
            <a:r>
              <a:rPr sz="1700" b="1" spc="-50" dirty="0">
                <a:latin typeface="Times New Roman"/>
                <a:cs typeface="Times New Roman"/>
              </a:rPr>
              <a:t> </a:t>
            </a:r>
            <a:r>
              <a:rPr sz="1700" b="1" dirty="0">
                <a:latin typeface="Times New Roman"/>
                <a:cs typeface="Times New Roman"/>
              </a:rPr>
              <a:t>Information</a:t>
            </a:r>
            <a:r>
              <a:rPr sz="1700" b="1" spc="-50" dirty="0">
                <a:latin typeface="Times New Roman"/>
                <a:cs typeface="Times New Roman"/>
              </a:rPr>
              <a:t> </a:t>
            </a:r>
            <a:r>
              <a:rPr sz="1700" b="1" dirty="0">
                <a:latin typeface="Times New Roman"/>
                <a:cs typeface="Times New Roman"/>
              </a:rPr>
              <a:t>&amp;</a:t>
            </a:r>
            <a:r>
              <a:rPr sz="1700" b="1" spc="-50" dirty="0">
                <a:latin typeface="Times New Roman"/>
                <a:cs typeface="Times New Roman"/>
              </a:rPr>
              <a:t> </a:t>
            </a:r>
            <a:r>
              <a:rPr sz="1700" b="1" dirty="0">
                <a:latin typeface="Times New Roman"/>
                <a:cs typeface="Times New Roman"/>
              </a:rPr>
              <a:t>Registration</a:t>
            </a:r>
            <a:r>
              <a:rPr sz="1700" b="1" spc="-45" dirty="0">
                <a:latin typeface="Times New Roman"/>
                <a:cs typeface="Times New Roman"/>
              </a:rPr>
              <a:t> </a:t>
            </a:r>
            <a:r>
              <a:rPr sz="1700" b="1" dirty="0">
                <a:latin typeface="Times New Roman"/>
                <a:cs typeface="Times New Roman"/>
              </a:rPr>
              <a:t>Form</a:t>
            </a:r>
            <a:r>
              <a:rPr sz="1700" b="1" spc="-50" dirty="0">
                <a:latin typeface="Times New Roman"/>
                <a:cs typeface="Times New Roman"/>
              </a:rPr>
              <a:t> </a:t>
            </a:r>
            <a:r>
              <a:rPr sz="1700" b="1" spc="-10" dirty="0">
                <a:latin typeface="Times New Roman"/>
                <a:cs typeface="Times New Roman"/>
              </a:rPr>
              <a:t>Section:</a:t>
            </a:r>
            <a:endParaRPr lang="en-US" sz="1700" b="1" spc="-10" dirty="0">
              <a:latin typeface="Times New Roman"/>
              <a:cs typeface="Times New Roman"/>
            </a:endParaRPr>
          </a:p>
          <a:p>
            <a:pPr marL="12700" lvl="1">
              <a:lnSpc>
                <a:spcPct val="100000"/>
              </a:lnSpc>
              <a:spcBef>
                <a:spcPts val="590"/>
              </a:spcBef>
              <a:tabLst>
                <a:tab pos="387985" algn="l"/>
              </a:tabLst>
            </a:pPr>
            <a:r>
              <a:rPr lang="en-US" sz="1500" spc="-10" dirty="0">
                <a:latin typeface="Times New Roman"/>
                <a:cs typeface="Times New Roman"/>
              </a:rPr>
              <a:t>This section serves as the core interaction point for the user, providing essential logistics and data entry fields.</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Event Information: </a:t>
            </a:r>
            <a:r>
              <a:rPr lang="en-US" sz="1500" spc="-10" dirty="0">
                <a:latin typeface="Times New Roman"/>
                <a:cs typeface="Times New Roman"/>
              </a:rPr>
              <a:t>Displays the specific date (15-03-2026) and the physical location (Seminar Hall A) to the user.</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Registration Form: </a:t>
            </a:r>
            <a:r>
              <a:rPr lang="en-US" sz="1500" spc="-10" dirty="0">
                <a:latin typeface="Times New Roman"/>
                <a:cs typeface="Times New Roman"/>
              </a:rPr>
              <a:t>A highly organized form using &lt;</a:t>
            </a:r>
            <a:r>
              <a:rPr lang="en-US" sz="1500" spc="-10" dirty="0" err="1">
                <a:latin typeface="Times New Roman"/>
                <a:cs typeface="Times New Roman"/>
              </a:rPr>
              <a:t>fieldset</a:t>
            </a:r>
            <a:r>
              <a:rPr lang="en-US" sz="1500" spc="-10" dirty="0">
                <a:latin typeface="Times New Roman"/>
                <a:cs typeface="Times New Roman"/>
              </a:rPr>
              <a:t>&gt; containers to group related information logically.</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Personal Information: </a:t>
            </a:r>
            <a:r>
              <a:rPr lang="en-US" sz="1500" spc="-10" dirty="0">
                <a:latin typeface="Times New Roman"/>
                <a:cs typeface="Times New Roman"/>
              </a:rPr>
              <a:t>Captures the student's Name, Email, Phone number, and Date of Birth.</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Event Selection: </a:t>
            </a:r>
            <a:r>
              <a:rPr lang="en-US" sz="1500" spc="-10" dirty="0">
                <a:latin typeface="Times New Roman"/>
                <a:cs typeface="Times New Roman"/>
              </a:rPr>
              <a:t>Offers a curated list of workshops (Java or Python) via a dropdown menu.</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Additional Details: </a:t>
            </a:r>
            <a:r>
              <a:rPr lang="en-US" sz="1500" spc="-10" dirty="0">
                <a:latin typeface="Times New Roman"/>
                <a:cs typeface="Times New Roman"/>
              </a:rPr>
              <a:t>Allows students to specify their participation mode—either "Online" for remote access or "Offline" for in-person attendance.</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Declaration: </a:t>
            </a:r>
            <a:r>
              <a:rPr lang="en-US" sz="1500" spc="-10" dirty="0">
                <a:latin typeface="Times New Roman"/>
                <a:cs typeface="Times New Roman"/>
              </a:rPr>
              <a:t>Includes a mandatory confirmation checkbox to ensure the user verifies the accuracy of their provided details.</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Form Controls: </a:t>
            </a:r>
            <a:r>
              <a:rPr lang="en-US" sz="1500" spc="-10" dirty="0">
                <a:latin typeface="Times New Roman"/>
                <a:cs typeface="Times New Roman"/>
              </a:rPr>
              <a:t>Features a "Submit" button to process the registration and a "Reset" button to clear all inputs for fresh entry.</a:t>
            </a:r>
          </a:p>
        </p:txBody>
      </p:sp>
      <p:pic>
        <p:nvPicPr>
          <p:cNvPr id="10" name="object 10"/>
          <p:cNvPicPr/>
          <p:nvPr/>
        </p:nvPicPr>
        <p:blipFill>
          <a:blip r:embed="rId4" cstate="print"/>
          <a:stretch>
            <a:fillRect/>
          </a:stretch>
        </p:blipFill>
        <p:spPr>
          <a:xfrm>
            <a:off x="521334" y="661013"/>
            <a:ext cx="1495425" cy="371475"/>
          </a:xfrm>
          <a:prstGeom prst="rect">
            <a:avLst/>
          </a:prstGeom>
        </p:spPr>
      </p:pic>
      <p:pic>
        <p:nvPicPr>
          <p:cNvPr id="11" name="object 11"/>
          <p:cNvPicPr/>
          <p:nvPr/>
        </p:nvPicPr>
        <p:blipFill>
          <a:blip r:embed="rId5" cstate="print"/>
          <a:stretch>
            <a:fillRect/>
          </a:stretch>
        </p:blipFill>
        <p:spPr>
          <a:xfrm>
            <a:off x="2569210" y="641963"/>
            <a:ext cx="1009650" cy="571500"/>
          </a:xfrm>
          <a:prstGeom prst="rect">
            <a:avLst/>
          </a:prstGeom>
        </p:spPr>
      </p:pic>
      <p:pic>
        <p:nvPicPr>
          <p:cNvPr id="12" name="Picture 11">
            <a:extLst>
              <a:ext uri="{FF2B5EF4-FFF2-40B4-BE49-F238E27FC236}">
                <a16:creationId xmlns:a16="http://schemas.microsoft.com/office/drawing/2014/main" id="{6328C188-F6FF-9C72-DDD5-4313850C24E9}"/>
              </a:ext>
            </a:extLst>
          </p:cNvPr>
          <p:cNvPicPr>
            <a:picLocks noChangeAspect="1"/>
          </p:cNvPicPr>
          <p:nvPr/>
        </p:nvPicPr>
        <p:blipFill>
          <a:blip r:embed="rId6"/>
          <a:stretch>
            <a:fillRect/>
          </a:stretch>
        </p:blipFill>
        <p:spPr>
          <a:xfrm>
            <a:off x="588008" y="10460025"/>
            <a:ext cx="6511092" cy="1219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093209" y="409575"/>
            <a:ext cx="1000125" cy="438150"/>
          </a:xfrm>
          <a:prstGeom prst="rect">
            <a:avLst/>
          </a:prstGeom>
        </p:spPr>
      </p:pic>
      <p:pic>
        <p:nvPicPr>
          <p:cNvPr id="3" name="object 3"/>
          <p:cNvPicPr/>
          <p:nvPr/>
        </p:nvPicPr>
        <p:blipFill>
          <a:blip r:embed="rId3" cstate="print"/>
          <a:stretch>
            <a:fillRect/>
          </a:stretch>
        </p:blipFill>
        <p:spPr>
          <a:xfrm>
            <a:off x="5883909" y="428625"/>
            <a:ext cx="1076324" cy="400050"/>
          </a:xfrm>
          <a:prstGeom prst="rect">
            <a:avLst/>
          </a:prstGeom>
        </p:spPr>
      </p:pic>
      <p:sp>
        <p:nvSpPr>
          <p:cNvPr id="4" name="object 4"/>
          <p:cNvSpPr txBox="1"/>
          <p:nvPr/>
        </p:nvSpPr>
        <p:spPr>
          <a:xfrm>
            <a:off x="685800" y="961559"/>
            <a:ext cx="5448300" cy="1659300"/>
          </a:xfrm>
          <a:prstGeom prst="rect">
            <a:avLst/>
          </a:prstGeom>
        </p:spPr>
        <p:txBody>
          <a:bodyPr vert="horz" wrap="square" lIns="0" tIns="12700" rIns="0" bIns="0" rtlCol="0">
            <a:spAutoFit/>
          </a:bodyPr>
          <a:lstStyle/>
          <a:p>
            <a:pPr marL="12700">
              <a:lnSpc>
                <a:spcPct val="100000"/>
              </a:lnSpc>
              <a:spcBef>
                <a:spcPts val="100"/>
              </a:spcBef>
            </a:pPr>
            <a:r>
              <a:rPr lang="en-US" sz="1300" b="1" spc="-10" dirty="0">
                <a:latin typeface="Times New Roman"/>
                <a:cs typeface="Times New Roman"/>
              </a:rPr>
              <a:t>Example</a:t>
            </a:r>
            <a:r>
              <a:rPr sz="1300" b="1" spc="-10" dirty="0">
                <a:latin typeface="Times New Roman"/>
                <a:cs typeface="Times New Roman"/>
              </a:rPr>
              <a:t>:</a:t>
            </a:r>
            <a:endParaRPr sz="1300" dirty="0">
              <a:latin typeface="Times New Roman"/>
              <a:cs typeface="Times New Roman"/>
            </a:endParaRPr>
          </a:p>
          <a:p>
            <a:pPr marL="79375" marR="5080">
              <a:lnSpc>
                <a:spcPct val="193000"/>
              </a:lnSpc>
              <a:spcBef>
                <a:spcPts val="400"/>
              </a:spcBef>
            </a:pPr>
            <a:r>
              <a:rPr sz="1200" b="1" dirty="0">
                <a:latin typeface="Times New Roman"/>
                <a:cs typeface="Times New Roman"/>
              </a:rPr>
              <a:t>Registration</a:t>
            </a:r>
            <a:r>
              <a:rPr sz="1200" b="1" spc="-25" dirty="0">
                <a:latin typeface="Times New Roman"/>
                <a:cs typeface="Times New Roman"/>
              </a:rPr>
              <a:t> </a:t>
            </a:r>
            <a:r>
              <a:rPr sz="1200" b="1" dirty="0">
                <a:latin typeface="Times New Roman"/>
                <a:cs typeface="Times New Roman"/>
              </a:rPr>
              <a:t>Form</a:t>
            </a:r>
            <a:r>
              <a:rPr sz="1200" b="1" spc="-25" dirty="0">
                <a:latin typeface="Times New Roman"/>
                <a:cs typeface="Times New Roman"/>
              </a:rPr>
              <a:t> </a:t>
            </a:r>
            <a:r>
              <a:rPr sz="1200" b="1" dirty="0">
                <a:latin typeface="Times New Roman"/>
                <a:cs typeface="Times New Roman"/>
              </a:rPr>
              <a:t>–</a:t>
            </a:r>
            <a:r>
              <a:rPr sz="1200" b="1" spc="-25" dirty="0">
                <a:latin typeface="Times New Roman"/>
                <a:cs typeface="Times New Roman"/>
              </a:rPr>
              <a:t> </a:t>
            </a:r>
            <a:r>
              <a:rPr lang="en-US" sz="1200" b="1" spc="-25" dirty="0">
                <a:latin typeface="Times New Roman"/>
                <a:cs typeface="Times New Roman"/>
              </a:rPr>
              <a:t>Example</a:t>
            </a:r>
            <a:r>
              <a:rPr sz="1200" b="1" spc="-25" dirty="0">
                <a:latin typeface="Times New Roman"/>
                <a:cs typeface="Times New Roman"/>
              </a:rPr>
              <a:t> </a:t>
            </a:r>
            <a:r>
              <a:rPr sz="1200" b="1" dirty="0">
                <a:latin typeface="Times New Roman"/>
                <a:cs typeface="Times New Roman"/>
              </a:rPr>
              <a:t>Filled</a:t>
            </a:r>
            <a:r>
              <a:rPr sz="1200" b="1" spc="-25" dirty="0">
                <a:latin typeface="Times New Roman"/>
                <a:cs typeface="Times New Roman"/>
              </a:rPr>
              <a:t> </a:t>
            </a:r>
            <a:r>
              <a:rPr sz="1200" b="1" spc="-20" dirty="0">
                <a:latin typeface="Times New Roman"/>
                <a:cs typeface="Times New Roman"/>
              </a:rPr>
              <a:t>Data </a:t>
            </a:r>
            <a:r>
              <a:rPr sz="1200" b="1" dirty="0">
                <a:latin typeface="Times New Roman"/>
                <a:cs typeface="Times New Roman"/>
              </a:rPr>
              <a:t>Personal</a:t>
            </a:r>
            <a:r>
              <a:rPr sz="1200" b="1" spc="-45" dirty="0">
                <a:latin typeface="Times New Roman"/>
                <a:cs typeface="Times New Roman"/>
              </a:rPr>
              <a:t> </a:t>
            </a:r>
            <a:r>
              <a:rPr sz="1200" b="1" spc="-10" dirty="0">
                <a:latin typeface="Times New Roman"/>
                <a:cs typeface="Times New Roman"/>
              </a:rPr>
              <a:t>Information</a:t>
            </a:r>
            <a:endParaRPr sz="1200" dirty="0">
              <a:latin typeface="Times New Roman"/>
              <a:cs typeface="Times New Roman"/>
            </a:endParaRPr>
          </a:p>
          <a:p>
            <a:pPr marL="508000" indent="-190500">
              <a:lnSpc>
                <a:spcPts val="1415"/>
              </a:lnSpc>
              <a:spcBef>
                <a:spcPts val="1145"/>
              </a:spcBef>
              <a:buFont typeface="Arial"/>
              <a:buChar char="●"/>
              <a:tabLst>
                <a:tab pos="508000" algn="l"/>
              </a:tabLst>
            </a:pPr>
            <a:r>
              <a:rPr sz="1200" b="1" dirty="0">
                <a:latin typeface="Times New Roman"/>
                <a:cs typeface="Times New Roman"/>
              </a:rPr>
              <a:t>Name:</a:t>
            </a:r>
            <a:r>
              <a:rPr sz="1200" b="1" spc="-35" dirty="0">
                <a:latin typeface="Times New Roman"/>
                <a:cs typeface="Times New Roman"/>
              </a:rPr>
              <a:t> </a:t>
            </a:r>
            <a:r>
              <a:rPr lang="en-US" sz="1200" b="1" spc="-35" dirty="0">
                <a:latin typeface="Times New Roman"/>
                <a:cs typeface="Times New Roman"/>
              </a:rPr>
              <a:t> </a:t>
            </a:r>
            <a:r>
              <a:rPr lang="en-US" sz="1200" spc="-35" dirty="0">
                <a:latin typeface="Times New Roman"/>
                <a:cs typeface="Times New Roman"/>
              </a:rPr>
              <a:t>Hariharan S</a:t>
            </a:r>
            <a:endParaRPr sz="1200" dirty="0">
              <a:latin typeface="Times New Roman"/>
              <a:cs typeface="Times New Roman"/>
            </a:endParaRPr>
          </a:p>
          <a:p>
            <a:pPr marL="508000" indent="-190500">
              <a:lnSpc>
                <a:spcPts val="1385"/>
              </a:lnSpc>
              <a:buFont typeface="Arial"/>
              <a:buChar char="●"/>
              <a:tabLst>
                <a:tab pos="508000" algn="l"/>
              </a:tabLst>
            </a:pPr>
            <a:r>
              <a:rPr sz="1200" b="1" dirty="0">
                <a:latin typeface="Times New Roman"/>
                <a:cs typeface="Times New Roman"/>
              </a:rPr>
              <a:t>Email:</a:t>
            </a:r>
            <a:r>
              <a:rPr sz="1200" b="1" spc="-35" dirty="0">
                <a:latin typeface="Times New Roman"/>
                <a:cs typeface="Times New Roman"/>
              </a:rPr>
              <a:t> </a:t>
            </a:r>
            <a:r>
              <a:rPr lang="en-US" sz="1200" spc="-10" dirty="0">
                <a:latin typeface="Times New Roman"/>
                <a:cs typeface="Times New Roman"/>
              </a:rPr>
              <a:t>kumaravelat2005@gmail.com</a:t>
            </a:r>
            <a:endParaRPr sz="1200" dirty="0">
              <a:latin typeface="Times New Roman"/>
              <a:cs typeface="Times New Roman"/>
            </a:endParaRPr>
          </a:p>
          <a:p>
            <a:pPr marL="508000" indent="-190500">
              <a:lnSpc>
                <a:spcPts val="1385"/>
              </a:lnSpc>
              <a:buFont typeface="Arial"/>
              <a:buChar char="●"/>
              <a:tabLst>
                <a:tab pos="508000" algn="l"/>
              </a:tabLst>
            </a:pPr>
            <a:r>
              <a:rPr sz="1200" b="1" dirty="0">
                <a:latin typeface="Times New Roman"/>
                <a:cs typeface="Times New Roman"/>
              </a:rPr>
              <a:t>Phone Number: </a:t>
            </a:r>
            <a:r>
              <a:rPr lang="en-US" sz="1200" spc="-10" dirty="0">
                <a:latin typeface="Times New Roman"/>
                <a:cs typeface="Times New Roman"/>
              </a:rPr>
              <a:t>8056194886</a:t>
            </a:r>
            <a:endParaRPr sz="1200" dirty="0">
              <a:latin typeface="Times New Roman"/>
              <a:cs typeface="Times New Roman"/>
            </a:endParaRPr>
          </a:p>
          <a:p>
            <a:pPr marL="508000" indent="-190500">
              <a:lnSpc>
                <a:spcPts val="1385"/>
              </a:lnSpc>
              <a:buFont typeface="Arial"/>
              <a:buChar char="●"/>
              <a:tabLst>
                <a:tab pos="508000" algn="l"/>
              </a:tabLst>
            </a:pPr>
            <a:r>
              <a:rPr sz="1200" b="1" dirty="0">
                <a:latin typeface="Times New Roman"/>
                <a:cs typeface="Times New Roman"/>
              </a:rPr>
              <a:t>Date</a:t>
            </a:r>
            <a:r>
              <a:rPr sz="1200" b="1" spc="-25" dirty="0">
                <a:latin typeface="Times New Roman"/>
                <a:cs typeface="Times New Roman"/>
              </a:rPr>
              <a:t> </a:t>
            </a:r>
            <a:r>
              <a:rPr sz="1200" b="1" dirty="0">
                <a:latin typeface="Times New Roman"/>
                <a:cs typeface="Times New Roman"/>
              </a:rPr>
              <a:t>of</a:t>
            </a:r>
            <a:r>
              <a:rPr sz="1200" b="1" spc="-20" dirty="0">
                <a:latin typeface="Times New Roman"/>
                <a:cs typeface="Times New Roman"/>
              </a:rPr>
              <a:t> </a:t>
            </a:r>
            <a:r>
              <a:rPr sz="1200" b="1" dirty="0">
                <a:latin typeface="Times New Roman"/>
                <a:cs typeface="Times New Roman"/>
              </a:rPr>
              <a:t>Birth:</a:t>
            </a:r>
            <a:r>
              <a:rPr sz="1200" b="1" spc="-25" dirty="0">
                <a:latin typeface="Times New Roman"/>
                <a:cs typeface="Times New Roman"/>
              </a:rPr>
              <a:t> </a:t>
            </a:r>
            <a:r>
              <a:rPr lang="en-US" sz="1200" spc="-10" dirty="0">
                <a:latin typeface="Times New Roman"/>
                <a:cs typeface="Times New Roman"/>
              </a:rPr>
              <a:t>26/10/2005</a:t>
            </a:r>
            <a:endParaRPr sz="1200" dirty="0">
              <a:latin typeface="Times New Roman"/>
              <a:cs typeface="Times New Roman"/>
            </a:endParaRPr>
          </a:p>
          <a:p>
            <a:pPr marL="508000" indent="-190500">
              <a:lnSpc>
                <a:spcPts val="1415"/>
              </a:lnSpc>
              <a:buFont typeface="Arial"/>
              <a:buChar char="●"/>
              <a:tabLst>
                <a:tab pos="508000" algn="l"/>
              </a:tabLst>
            </a:pPr>
            <a:r>
              <a:rPr sz="1200" b="1" dirty="0">
                <a:latin typeface="Times New Roman"/>
                <a:cs typeface="Times New Roman"/>
              </a:rPr>
              <a:t>Gender:</a:t>
            </a:r>
            <a:r>
              <a:rPr sz="1200" b="1" spc="-45" dirty="0">
                <a:latin typeface="Times New Roman"/>
                <a:cs typeface="Times New Roman"/>
              </a:rPr>
              <a:t> </a:t>
            </a:r>
            <a:r>
              <a:rPr lang="en-US" sz="1200" spc="-45" dirty="0">
                <a:latin typeface="Times New Roman"/>
                <a:cs typeface="Times New Roman"/>
              </a:rPr>
              <a:t>Male</a:t>
            </a:r>
            <a:endParaRPr sz="1200" dirty="0">
              <a:latin typeface="Times New Roman"/>
              <a:cs typeface="Times New Roman"/>
            </a:endParaRPr>
          </a:p>
        </p:txBody>
      </p:sp>
      <p:sp>
        <p:nvSpPr>
          <p:cNvPr id="5" name="object 5"/>
          <p:cNvSpPr/>
          <p:nvPr/>
        </p:nvSpPr>
        <p:spPr>
          <a:xfrm>
            <a:off x="660400" y="28321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6" name="object 6"/>
          <p:cNvSpPr txBox="1"/>
          <p:nvPr/>
        </p:nvSpPr>
        <p:spPr>
          <a:xfrm>
            <a:off x="461484" y="3373761"/>
            <a:ext cx="6828315" cy="2100896"/>
          </a:xfrm>
          <a:prstGeom prst="rect">
            <a:avLst/>
          </a:prstGeom>
        </p:spPr>
        <p:txBody>
          <a:bodyPr vert="horz" wrap="square" lIns="0" tIns="12700" rIns="0" bIns="0" rtlCol="0">
            <a:spAutoFit/>
          </a:bodyPr>
          <a:lstStyle/>
          <a:p>
            <a:pPr marL="12700">
              <a:lnSpc>
                <a:spcPct val="100000"/>
              </a:lnSpc>
              <a:spcBef>
                <a:spcPts val="100"/>
              </a:spcBef>
            </a:pPr>
            <a:r>
              <a:rPr sz="1700" b="1" dirty="0">
                <a:latin typeface="Times New Roman"/>
                <a:cs typeface="Times New Roman"/>
              </a:rPr>
              <a:t>3.3.</a:t>
            </a:r>
            <a:r>
              <a:rPr sz="1700" b="1" spc="-75" dirty="0">
                <a:latin typeface="Times New Roman"/>
                <a:cs typeface="Times New Roman"/>
              </a:rPr>
              <a:t> </a:t>
            </a:r>
            <a:r>
              <a:rPr sz="1700" b="1" dirty="0">
                <a:latin typeface="Times New Roman"/>
                <a:cs typeface="Times New Roman"/>
              </a:rPr>
              <a:t>Registered</a:t>
            </a:r>
            <a:r>
              <a:rPr sz="1700" b="1" spc="-70" dirty="0">
                <a:latin typeface="Times New Roman"/>
                <a:cs typeface="Times New Roman"/>
              </a:rPr>
              <a:t> </a:t>
            </a:r>
            <a:r>
              <a:rPr sz="1700" b="1" dirty="0">
                <a:latin typeface="Times New Roman"/>
                <a:cs typeface="Times New Roman"/>
              </a:rPr>
              <a:t>Participants</a:t>
            </a:r>
            <a:r>
              <a:rPr sz="1700" b="1" spc="-75" dirty="0">
                <a:latin typeface="Times New Roman"/>
                <a:cs typeface="Times New Roman"/>
              </a:rPr>
              <a:t> </a:t>
            </a:r>
            <a:r>
              <a:rPr sz="1700" b="1" spc="-10" dirty="0">
                <a:latin typeface="Times New Roman"/>
                <a:cs typeface="Times New Roman"/>
              </a:rPr>
              <a:t>Section</a:t>
            </a:r>
            <a:endParaRPr sz="1700" dirty="0">
              <a:latin typeface="Times New Roman"/>
              <a:cs typeface="Times New Roman"/>
            </a:endParaRPr>
          </a:p>
          <a:p>
            <a:pPr marL="88900" marR="1468120">
              <a:lnSpc>
                <a:spcPct val="179200"/>
              </a:lnSpc>
            </a:pPr>
            <a:r>
              <a:rPr lang="en-US" sz="1400" dirty="0">
                <a:latin typeface="Times New Roman"/>
                <a:cs typeface="Times New Roman"/>
              </a:rPr>
              <a:t>This section presents a clear, tabular view of student data, which is essential  event coordinators to track attendance</a:t>
            </a:r>
          </a:p>
          <a:p>
            <a:pPr marL="88900" marR="1468120">
              <a:lnSpc>
                <a:spcPct val="179200"/>
              </a:lnSpc>
            </a:pPr>
            <a:r>
              <a:rPr sz="1400" dirty="0">
                <a:latin typeface="Times New Roman"/>
                <a:cs typeface="Times New Roman"/>
              </a:rPr>
              <a:t>|</a:t>
            </a:r>
            <a:r>
              <a:rPr sz="1400" spc="-15" dirty="0">
                <a:latin typeface="Times New Roman"/>
                <a:cs typeface="Times New Roman"/>
              </a:rPr>
              <a:t> </a:t>
            </a:r>
            <a:r>
              <a:rPr sz="1400" dirty="0">
                <a:latin typeface="Times New Roman"/>
                <a:cs typeface="Times New Roman"/>
              </a:rPr>
              <a:t>Name</a:t>
            </a:r>
            <a:r>
              <a:rPr lang="en-US" sz="1400" dirty="0">
                <a:latin typeface="Times New Roman"/>
                <a:cs typeface="Times New Roman"/>
              </a:rPr>
              <a:t>        </a:t>
            </a:r>
            <a:r>
              <a:rPr sz="1400" spc="-10" dirty="0">
                <a:latin typeface="Times New Roman"/>
                <a:cs typeface="Times New Roman"/>
              </a:rPr>
              <a:t> </a:t>
            </a:r>
            <a:r>
              <a:rPr sz="1400" dirty="0">
                <a:latin typeface="Times New Roman"/>
                <a:cs typeface="Times New Roman"/>
              </a:rPr>
              <a:t>|</a:t>
            </a:r>
            <a:r>
              <a:rPr sz="1400" spc="-10" dirty="0">
                <a:latin typeface="Times New Roman"/>
                <a:cs typeface="Times New Roman"/>
              </a:rPr>
              <a:t> </a:t>
            </a:r>
            <a:r>
              <a:rPr sz="1400" dirty="0">
                <a:latin typeface="Times New Roman"/>
                <a:cs typeface="Times New Roman"/>
              </a:rPr>
              <a:t>Email</a:t>
            </a:r>
            <a:r>
              <a:rPr sz="1400" spc="-10" dirty="0">
                <a:latin typeface="Times New Roman"/>
                <a:cs typeface="Times New Roman"/>
              </a:rPr>
              <a:t> </a:t>
            </a:r>
            <a:r>
              <a:rPr lang="en-US" sz="1400" spc="-10" dirty="0">
                <a:latin typeface="Times New Roman"/>
                <a:cs typeface="Times New Roman"/>
              </a:rPr>
              <a:t>                                    </a:t>
            </a:r>
            <a:r>
              <a:rPr sz="1400" dirty="0">
                <a:latin typeface="Times New Roman"/>
                <a:cs typeface="Times New Roman"/>
              </a:rPr>
              <a:t>|</a:t>
            </a:r>
            <a:r>
              <a:rPr sz="1400" spc="-10" dirty="0">
                <a:latin typeface="Times New Roman"/>
                <a:cs typeface="Times New Roman"/>
              </a:rPr>
              <a:t> </a:t>
            </a:r>
            <a:r>
              <a:rPr sz="1400" dirty="0">
                <a:latin typeface="Times New Roman"/>
                <a:cs typeface="Times New Roman"/>
              </a:rPr>
              <a:t>Phone</a:t>
            </a:r>
            <a:r>
              <a:rPr sz="1400" spc="-10" dirty="0">
                <a:latin typeface="Times New Roman"/>
                <a:cs typeface="Times New Roman"/>
              </a:rPr>
              <a:t> </a:t>
            </a:r>
            <a:r>
              <a:rPr lang="en-US" sz="1400" spc="-10" dirty="0">
                <a:latin typeface="Times New Roman"/>
                <a:cs typeface="Times New Roman"/>
              </a:rPr>
              <a:t>         </a:t>
            </a:r>
            <a:r>
              <a:rPr sz="1400" dirty="0">
                <a:latin typeface="Times New Roman"/>
                <a:cs typeface="Times New Roman"/>
              </a:rPr>
              <a:t>|Event</a:t>
            </a:r>
            <a:r>
              <a:rPr sz="1400" spc="-10" dirty="0">
                <a:latin typeface="Times New Roman"/>
                <a:cs typeface="Times New Roman"/>
              </a:rPr>
              <a:t> </a:t>
            </a:r>
            <a:r>
              <a:rPr lang="en-US" sz="1400" spc="-10" dirty="0">
                <a:latin typeface="Times New Roman"/>
                <a:cs typeface="Times New Roman"/>
              </a:rPr>
              <a:t>  </a:t>
            </a:r>
            <a:r>
              <a:rPr sz="1400" dirty="0">
                <a:latin typeface="Times New Roman"/>
                <a:cs typeface="Times New Roman"/>
              </a:rPr>
              <a:t>|</a:t>
            </a:r>
            <a:r>
              <a:rPr sz="1400" spc="-10" dirty="0">
                <a:latin typeface="Times New Roman"/>
                <a:cs typeface="Times New Roman"/>
              </a:rPr>
              <a:t> </a:t>
            </a:r>
            <a:r>
              <a:rPr sz="1400" dirty="0">
                <a:latin typeface="Times New Roman"/>
                <a:cs typeface="Times New Roman"/>
              </a:rPr>
              <a:t>Mode</a:t>
            </a:r>
            <a:r>
              <a:rPr lang="en-US" sz="1400" dirty="0">
                <a:latin typeface="Times New Roman"/>
                <a:cs typeface="Times New Roman"/>
              </a:rPr>
              <a:t> </a:t>
            </a:r>
            <a:r>
              <a:rPr sz="1400" spc="-10" dirty="0">
                <a:latin typeface="Times New Roman"/>
                <a:cs typeface="Times New Roman"/>
              </a:rPr>
              <a:t> </a:t>
            </a:r>
            <a:r>
              <a:rPr sz="1400" spc="-50" dirty="0">
                <a:latin typeface="Times New Roman"/>
                <a:cs typeface="Times New Roman"/>
              </a:rPr>
              <a:t>|</a:t>
            </a:r>
            <a:r>
              <a:rPr lang="en-US" sz="1400" spc="-50" dirty="0">
                <a:latin typeface="Times New Roman"/>
                <a:cs typeface="Times New Roman"/>
              </a:rPr>
              <a:t> </a:t>
            </a:r>
            <a:r>
              <a:rPr sz="1400" spc="-50" dirty="0">
                <a:latin typeface="Times New Roman"/>
                <a:cs typeface="Times New Roman"/>
              </a:rPr>
              <a:t> </a:t>
            </a:r>
            <a:endParaRPr lang="en-US" sz="1400" spc="-50" dirty="0">
              <a:latin typeface="Times New Roman"/>
              <a:cs typeface="Times New Roman"/>
            </a:endParaRPr>
          </a:p>
          <a:p>
            <a:pPr marL="88900" marR="1468120">
              <a:lnSpc>
                <a:spcPct val="179200"/>
              </a:lnSpc>
            </a:pPr>
            <a:r>
              <a:rPr lang="en-US" sz="1400" spc="-50" dirty="0">
                <a:latin typeface="Times New Roman"/>
                <a:cs typeface="Times New Roman"/>
              </a:rPr>
              <a:t>| Hariharan S | </a:t>
            </a:r>
            <a:r>
              <a:rPr lang="en-US" sz="1400" spc="-50" dirty="0">
                <a:latin typeface="Times New Roman"/>
                <a:cs typeface="Times New Roman"/>
                <a:hlinkClick r:id="rId4"/>
              </a:rPr>
              <a:t>kumaravelat2005@gmaul.com</a:t>
            </a:r>
            <a:r>
              <a:rPr lang="en-US" sz="1400" spc="-50" dirty="0">
                <a:latin typeface="Times New Roman"/>
                <a:cs typeface="Times New Roman"/>
              </a:rPr>
              <a:t> |8056194885 | Java      | Offline|</a:t>
            </a:r>
          </a:p>
          <a:p>
            <a:pPr marL="88900" marR="1468120">
              <a:lnSpc>
                <a:spcPct val="179200"/>
              </a:lnSpc>
            </a:pPr>
            <a:r>
              <a:rPr lang="en-US" sz="1200" b="1" spc="-10" dirty="0">
                <a:latin typeface="Times New Roman"/>
                <a:cs typeface="Times New Roman"/>
              </a:rPr>
              <a:t>Example</a:t>
            </a:r>
            <a:r>
              <a:rPr sz="1200" b="1" spc="-10" dirty="0">
                <a:latin typeface="Times New Roman"/>
                <a:cs typeface="Times New Roman"/>
              </a:rPr>
              <a:t>:</a:t>
            </a:r>
            <a:endParaRPr sz="1200" dirty="0">
              <a:latin typeface="Times New Roman"/>
              <a:cs typeface="Times New Roman"/>
            </a:endParaRPr>
          </a:p>
        </p:txBody>
      </p:sp>
      <p:graphicFrame>
        <p:nvGraphicFramePr>
          <p:cNvPr id="7" name="object 7"/>
          <p:cNvGraphicFramePr>
            <a:graphicFrameLocks noGrp="1"/>
          </p:cNvGraphicFramePr>
          <p:nvPr>
            <p:extLst>
              <p:ext uri="{D42A27DB-BD31-4B8C-83A1-F6EECF244321}">
                <p14:modId xmlns:p14="http://schemas.microsoft.com/office/powerpoint/2010/main" val="1945122980"/>
              </p:ext>
            </p:extLst>
          </p:nvPr>
        </p:nvGraphicFramePr>
        <p:xfrm>
          <a:off x="479425" y="5683431"/>
          <a:ext cx="6610350" cy="784506"/>
        </p:xfrm>
        <a:graphic>
          <a:graphicData uri="http://schemas.openxmlformats.org/drawingml/2006/table">
            <a:tbl>
              <a:tblPr firstRow="1" bandRow="1">
                <a:tableStyleId>{2D5ABB26-0587-4C30-8999-92F81FD0307C}</a:tableStyleId>
              </a:tblPr>
              <a:tblGrid>
                <a:gridCol w="965200">
                  <a:extLst>
                    <a:ext uri="{9D8B030D-6E8A-4147-A177-3AD203B41FA5}">
                      <a16:colId xmlns:a16="http://schemas.microsoft.com/office/drawing/2014/main" val="20000"/>
                    </a:ext>
                  </a:extLst>
                </a:gridCol>
                <a:gridCol w="2063750">
                  <a:extLst>
                    <a:ext uri="{9D8B030D-6E8A-4147-A177-3AD203B41FA5}">
                      <a16:colId xmlns:a16="http://schemas.microsoft.com/office/drawing/2014/main" val="20001"/>
                    </a:ext>
                  </a:extLst>
                </a:gridCol>
                <a:gridCol w="1447800">
                  <a:extLst>
                    <a:ext uri="{9D8B030D-6E8A-4147-A177-3AD203B41FA5}">
                      <a16:colId xmlns:a16="http://schemas.microsoft.com/office/drawing/2014/main" val="20002"/>
                    </a:ext>
                  </a:extLst>
                </a:gridCol>
                <a:gridCol w="908050">
                  <a:extLst>
                    <a:ext uri="{9D8B030D-6E8A-4147-A177-3AD203B41FA5}">
                      <a16:colId xmlns:a16="http://schemas.microsoft.com/office/drawing/2014/main" val="20003"/>
                    </a:ext>
                  </a:extLst>
                </a:gridCol>
                <a:gridCol w="1225550">
                  <a:extLst>
                    <a:ext uri="{9D8B030D-6E8A-4147-A177-3AD203B41FA5}">
                      <a16:colId xmlns:a16="http://schemas.microsoft.com/office/drawing/2014/main" val="20004"/>
                    </a:ext>
                  </a:extLst>
                </a:gridCol>
              </a:tblGrid>
              <a:tr h="471892">
                <a:tc>
                  <a:txBody>
                    <a:bodyPr/>
                    <a:lstStyle/>
                    <a:p>
                      <a:pPr algn="ctr">
                        <a:lnSpc>
                          <a:spcPct val="100000"/>
                        </a:lnSpc>
                        <a:spcBef>
                          <a:spcPts val="490"/>
                        </a:spcBef>
                      </a:pPr>
                      <a:r>
                        <a:rPr sz="1300" b="1" spc="-20" dirty="0">
                          <a:latin typeface="Times New Roman"/>
                          <a:cs typeface="Times New Roman"/>
                        </a:rPr>
                        <a:t>Name</a:t>
                      </a:r>
                      <a:endParaRPr sz="1300">
                        <a:latin typeface="Times New Roman"/>
                        <a:cs typeface="Times New Roman"/>
                      </a:endParaRPr>
                    </a:p>
                  </a:txBody>
                  <a:tcPr marL="0" marR="0" marT="622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4445" algn="ctr">
                        <a:lnSpc>
                          <a:spcPct val="100000"/>
                        </a:lnSpc>
                        <a:spcBef>
                          <a:spcPts val="490"/>
                        </a:spcBef>
                      </a:pPr>
                      <a:r>
                        <a:rPr sz="1300" b="1" spc="-10" dirty="0">
                          <a:latin typeface="Times New Roman"/>
                          <a:cs typeface="Times New Roman"/>
                        </a:rPr>
                        <a:t>Email</a:t>
                      </a:r>
                      <a:endParaRPr sz="1300" dirty="0">
                        <a:latin typeface="Times New Roman"/>
                        <a:cs typeface="Times New Roman"/>
                      </a:endParaRPr>
                    </a:p>
                  </a:txBody>
                  <a:tcPr marL="0" marR="0" marT="622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7620" algn="ctr">
                        <a:lnSpc>
                          <a:spcPct val="100000"/>
                        </a:lnSpc>
                        <a:spcBef>
                          <a:spcPts val="490"/>
                        </a:spcBef>
                      </a:pPr>
                      <a:r>
                        <a:rPr sz="1300" b="1" spc="-10" dirty="0">
                          <a:latin typeface="Times New Roman"/>
                          <a:cs typeface="Times New Roman"/>
                        </a:rPr>
                        <a:t>Phone</a:t>
                      </a:r>
                      <a:endParaRPr sz="1300">
                        <a:latin typeface="Times New Roman"/>
                        <a:cs typeface="Times New Roman"/>
                      </a:endParaRPr>
                    </a:p>
                  </a:txBody>
                  <a:tcPr marL="0" marR="0" marT="622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4445" algn="ctr">
                        <a:lnSpc>
                          <a:spcPct val="100000"/>
                        </a:lnSpc>
                        <a:spcBef>
                          <a:spcPts val="490"/>
                        </a:spcBef>
                      </a:pPr>
                      <a:r>
                        <a:rPr sz="1300" b="1" spc="-10" dirty="0">
                          <a:latin typeface="Times New Roman"/>
                          <a:cs typeface="Times New Roman"/>
                        </a:rPr>
                        <a:t>Event</a:t>
                      </a:r>
                      <a:endParaRPr sz="1300">
                        <a:latin typeface="Times New Roman"/>
                        <a:cs typeface="Times New Roman"/>
                      </a:endParaRPr>
                    </a:p>
                  </a:txBody>
                  <a:tcPr marL="0" marR="0" marT="622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1270" algn="ctr">
                        <a:lnSpc>
                          <a:spcPct val="100000"/>
                        </a:lnSpc>
                        <a:spcBef>
                          <a:spcPts val="490"/>
                        </a:spcBef>
                      </a:pPr>
                      <a:r>
                        <a:rPr sz="1300" b="1" spc="-20" dirty="0">
                          <a:latin typeface="Times New Roman"/>
                          <a:cs typeface="Times New Roman"/>
                        </a:rPr>
                        <a:t>Mode</a:t>
                      </a:r>
                      <a:endParaRPr sz="1300">
                        <a:latin typeface="Times New Roman"/>
                        <a:cs typeface="Times New Roman"/>
                      </a:endParaRPr>
                    </a:p>
                  </a:txBody>
                  <a:tcPr marL="0" marR="0" marT="622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0"/>
                  </a:ext>
                </a:extLst>
              </a:tr>
              <a:tr h="312614">
                <a:tc>
                  <a:txBody>
                    <a:bodyPr/>
                    <a:lstStyle/>
                    <a:p>
                      <a:pPr algn="ctr">
                        <a:lnSpc>
                          <a:spcPct val="100000"/>
                        </a:lnSpc>
                        <a:spcBef>
                          <a:spcPts val="480"/>
                        </a:spcBef>
                      </a:pPr>
                      <a:r>
                        <a:rPr lang="en-US" sz="1300" spc="-25" dirty="0" err="1">
                          <a:latin typeface="Times New Roman"/>
                          <a:cs typeface="Times New Roman"/>
                        </a:rPr>
                        <a:t>Hraiharan</a:t>
                      </a:r>
                      <a:r>
                        <a:rPr lang="en-US" sz="1300" spc="-25" dirty="0">
                          <a:latin typeface="Times New Roman"/>
                          <a:cs typeface="Times New Roman"/>
                        </a:rPr>
                        <a:t> S</a:t>
                      </a:r>
                      <a:endParaRPr sz="1300" dirty="0">
                        <a:latin typeface="Times New Roman"/>
                        <a:cs typeface="Times New Roman"/>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4445" algn="ctr">
                        <a:lnSpc>
                          <a:spcPct val="100000"/>
                        </a:lnSpc>
                        <a:spcBef>
                          <a:spcPts val="480"/>
                        </a:spcBef>
                      </a:pPr>
                      <a:r>
                        <a:rPr lang="en-US" sz="1300" dirty="0">
                          <a:latin typeface="Times New Roman"/>
                          <a:cs typeface="Times New Roman"/>
                        </a:rPr>
                        <a:t>kumaravelat2005@gmail.com</a:t>
                      </a:r>
                      <a:endParaRPr sz="1300" dirty="0">
                        <a:latin typeface="Times New Roman"/>
                        <a:cs typeface="Times New Roman"/>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7620" algn="ctr">
                        <a:lnSpc>
                          <a:spcPct val="100000"/>
                        </a:lnSpc>
                        <a:spcBef>
                          <a:spcPts val="480"/>
                        </a:spcBef>
                      </a:pPr>
                      <a:r>
                        <a:rPr lang="en-US" sz="1300" spc="-10" dirty="0">
                          <a:latin typeface="Times New Roman"/>
                          <a:cs typeface="Times New Roman"/>
                        </a:rPr>
                        <a:t>8056194886</a:t>
                      </a:r>
                      <a:endParaRPr sz="1300" dirty="0">
                        <a:latin typeface="Times New Roman"/>
                        <a:cs typeface="Times New Roman"/>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9850">
                        <a:lnSpc>
                          <a:spcPct val="100000"/>
                        </a:lnSpc>
                        <a:spcBef>
                          <a:spcPts val="480"/>
                        </a:spcBef>
                      </a:pPr>
                      <a:r>
                        <a:rPr lang="en-US" sz="1300" dirty="0">
                          <a:latin typeface="Times New Roman"/>
                          <a:cs typeface="Times New Roman"/>
                        </a:rPr>
                        <a:t>      Java</a:t>
                      </a:r>
                      <a:endParaRPr sz="1300" dirty="0">
                        <a:latin typeface="Times New Roman"/>
                        <a:cs typeface="Times New Roman"/>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1270" algn="ctr">
                        <a:lnSpc>
                          <a:spcPct val="100000"/>
                        </a:lnSpc>
                        <a:spcBef>
                          <a:spcPts val="480"/>
                        </a:spcBef>
                      </a:pPr>
                      <a:r>
                        <a:rPr sz="1300" spc="-10" dirty="0">
                          <a:latin typeface="Times New Roman"/>
                          <a:cs typeface="Times New Roman"/>
                        </a:rPr>
                        <a:t>Offline</a:t>
                      </a:r>
                      <a:endParaRPr sz="1300" dirty="0">
                        <a:latin typeface="Times New Roman"/>
                        <a:cs typeface="Times New Roman"/>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1"/>
                  </a:ext>
                </a:extLst>
              </a:tr>
            </a:tbl>
          </a:graphicData>
        </a:graphic>
      </p:graphicFrame>
      <p:sp>
        <p:nvSpPr>
          <p:cNvPr id="8" name="object 8"/>
          <p:cNvSpPr/>
          <p:nvPr/>
        </p:nvSpPr>
        <p:spPr>
          <a:xfrm>
            <a:off x="514985" y="67945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9" name="object 9"/>
          <p:cNvSpPr txBox="1"/>
          <p:nvPr/>
        </p:nvSpPr>
        <p:spPr>
          <a:xfrm>
            <a:off x="461484" y="6841660"/>
            <a:ext cx="6341110" cy="3155992"/>
          </a:xfrm>
          <a:prstGeom prst="rect">
            <a:avLst/>
          </a:prstGeom>
        </p:spPr>
        <p:txBody>
          <a:bodyPr vert="horz" wrap="square" lIns="0" tIns="74930" rIns="0" bIns="0" rtlCol="0">
            <a:spAutoFit/>
          </a:bodyPr>
          <a:lstStyle/>
          <a:p>
            <a:pPr marL="50800">
              <a:lnSpc>
                <a:spcPct val="100000"/>
              </a:lnSpc>
              <a:spcBef>
                <a:spcPts val="590"/>
              </a:spcBef>
            </a:pPr>
            <a:r>
              <a:rPr sz="1700" b="1" dirty="0">
                <a:latin typeface="Times New Roman"/>
                <a:cs typeface="Times New Roman"/>
              </a:rPr>
              <a:t>3.4.</a:t>
            </a:r>
            <a:r>
              <a:rPr sz="1700" b="1" spc="-25" dirty="0">
                <a:latin typeface="Times New Roman"/>
                <a:cs typeface="Times New Roman"/>
              </a:rPr>
              <a:t> </a:t>
            </a:r>
            <a:r>
              <a:rPr sz="1700" b="1" dirty="0">
                <a:latin typeface="Times New Roman"/>
                <a:cs typeface="Times New Roman"/>
              </a:rPr>
              <a:t>Footer</a:t>
            </a:r>
            <a:r>
              <a:rPr sz="1700" b="1" spc="-25" dirty="0">
                <a:latin typeface="Times New Roman"/>
                <a:cs typeface="Times New Roman"/>
              </a:rPr>
              <a:t> </a:t>
            </a:r>
            <a:r>
              <a:rPr sz="1700" b="1" spc="-10" dirty="0">
                <a:latin typeface="Times New Roman"/>
                <a:cs typeface="Times New Roman"/>
              </a:rPr>
              <a:t>Section:</a:t>
            </a:r>
            <a:endParaRPr sz="1700" dirty="0">
              <a:latin typeface="Times New Roman"/>
              <a:cs typeface="Times New Roman"/>
            </a:endParaRPr>
          </a:p>
          <a:p>
            <a:pPr>
              <a:lnSpc>
                <a:spcPct val="100000"/>
              </a:lnSpc>
              <a:spcBef>
                <a:spcPts val="45"/>
              </a:spcBef>
            </a:pPr>
            <a:r>
              <a:rPr lang="en-US" sz="1400" dirty="0">
                <a:latin typeface="Times New Roman"/>
                <a:cs typeface="Times New Roman"/>
              </a:rPr>
              <a:t>The footer provides a professional closing to the page, offering support channels and legal ownership information</a:t>
            </a:r>
            <a:endParaRPr sz="1400" dirty="0">
              <a:latin typeface="Times New Roman"/>
              <a:cs typeface="Times New Roman"/>
            </a:endParaRPr>
          </a:p>
          <a:p>
            <a:pPr marL="113664">
              <a:lnSpc>
                <a:spcPct val="100000"/>
              </a:lnSpc>
              <a:spcBef>
                <a:spcPts val="5"/>
              </a:spcBef>
            </a:pPr>
            <a:endParaRPr lang="en-US" sz="1300" b="1" spc="-10" dirty="0">
              <a:latin typeface="Times New Roman"/>
              <a:cs typeface="Times New Roman"/>
            </a:endParaRPr>
          </a:p>
          <a:p>
            <a:pPr marL="113664">
              <a:lnSpc>
                <a:spcPct val="100000"/>
              </a:lnSpc>
              <a:spcBef>
                <a:spcPts val="5"/>
              </a:spcBef>
            </a:pPr>
            <a:r>
              <a:rPr lang="en-US" sz="1300" b="1" spc="-10" dirty="0">
                <a:latin typeface="Times New Roman"/>
                <a:cs typeface="Times New Roman"/>
              </a:rPr>
              <a:t>Example</a:t>
            </a:r>
            <a:r>
              <a:rPr sz="1300" b="1" spc="-10" dirty="0">
                <a:latin typeface="Times New Roman"/>
                <a:cs typeface="Times New Roman"/>
              </a:rPr>
              <a:t>:</a:t>
            </a:r>
            <a:endParaRPr lang="en-US" sz="1300" b="1" spc="-10" dirty="0">
              <a:latin typeface="Times New Roman"/>
              <a:cs typeface="Times New Roman"/>
            </a:endParaRPr>
          </a:p>
          <a:p>
            <a:pPr marL="113664">
              <a:lnSpc>
                <a:spcPct val="100000"/>
              </a:lnSpc>
              <a:spcBef>
                <a:spcPts val="5"/>
              </a:spcBef>
            </a:pPr>
            <a:r>
              <a:rPr lang="en-US" sz="1300" b="1" spc="-10" dirty="0">
                <a:latin typeface="Times New Roman"/>
                <a:cs typeface="Times New Roman"/>
              </a:rPr>
              <a:t>              Contact Details(Organizer)</a:t>
            </a:r>
            <a:endParaRPr lang="en-US" sz="1300" b="1" dirty="0">
              <a:latin typeface="Times New Roman"/>
              <a:cs typeface="Times New Roman"/>
            </a:endParaRPr>
          </a:p>
          <a:p>
            <a:pPr marL="679450">
              <a:lnSpc>
                <a:spcPct val="100000"/>
              </a:lnSpc>
              <a:spcBef>
                <a:spcPts val="1430"/>
              </a:spcBef>
            </a:pPr>
            <a:r>
              <a:rPr lang="en-US" sz="1300" b="1" dirty="0">
                <a:latin typeface="Times New Roman"/>
                <a:cs typeface="Times New Roman"/>
              </a:rPr>
              <a:t>Name : </a:t>
            </a:r>
            <a:r>
              <a:rPr lang="en-US" sz="1300" dirty="0">
                <a:latin typeface="Times New Roman"/>
                <a:cs typeface="Times New Roman"/>
              </a:rPr>
              <a:t>Hariharan S</a:t>
            </a:r>
            <a:endParaRPr lang="en-US" sz="1300" b="1" dirty="0">
              <a:latin typeface="Times New Roman"/>
              <a:cs typeface="Times New Roman"/>
            </a:endParaRPr>
          </a:p>
          <a:p>
            <a:pPr marL="679450">
              <a:lnSpc>
                <a:spcPct val="100000"/>
              </a:lnSpc>
              <a:spcBef>
                <a:spcPts val="1430"/>
              </a:spcBef>
            </a:pPr>
            <a:r>
              <a:rPr sz="1300" b="1" dirty="0">
                <a:latin typeface="Times New Roman"/>
                <a:cs typeface="Times New Roman"/>
              </a:rPr>
              <a:t>Contact</a:t>
            </a:r>
            <a:r>
              <a:rPr sz="1300" b="1" spc="-60" dirty="0">
                <a:latin typeface="Times New Roman"/>
                <a:cs typeface="Times New Roman"/>
              </a:rPr>
              <a:t> </a:t>
            </a:r>
            <a:r>
              <a:rPr sz="1300" b="1" dirty="0">
                <a:latin typeface="Times New Roman"/>
                <a:cs typeface="Times New Roman"/>
              </a:rPr>
              <a:t>Email:</a:t>
            </a:r>
            <a:r>
              <a:rPr lang="en-US" sz="1300" b="1" dirty="0">
                <a:latin typeface="Times New Roman"/>
                <a:cs typeface="Times New Roman"/>
              </a:rPr>
              <a:t> </a:t>
            </a:r>
            <a:r>
              <a:rPr lang="en-US" sz="1300" dirty="0">
                <a:latin typeface="Times New Roman"/>
                <a:cs typeface="Times New Roman"/>
              </a:rPr>
              <a:t>kumaravelat2005@gmail.com</a:t>
            </a:r>
            <a:endParaRPr sz="1300" dirty="0">
              <a:latin typeface="Times New Roman"/>
              <a:cs typeface="Times New Roman"/>
            </a:endParaRPr>
          </a:p>
          <a:p>
            <a:pPr marL="679450">
              <a:lnSpc>
                <a:spcPct val="100000"/>
              </a:lnSpc>
              <a:spcBef>
                <a:spcPts val="1135"/>
              </a:spcBef>
            </a:pPr>
            <a:r>
              <a:rPr lang="en-US" sz="1300" b="1" dirty="0">
                <a:latin typeface="Times New Roman"/>
                <a:cs typeface="Times New Roman"/>
              </a:rPr>
              <a:t>Contact </a:t>
            </a:r>
            <a:r>
              <a:rPr sz="1300" b="1" dirty="0">
                <a:latin typeface="Times New Roman"/>
                <a:cs typeface="Times New Roman"/>
              </a:rPr>
              <a:t>Number:</a:t>
            </a:r>
            <a:r>
              <a:rPr sz="1300" b="1" spc="-35" dirty="0">
                <a:latin typeface="Times New Roman"/>
                <a:cs typeface="Times New Roman"/>
              </a:rPr>
              <a:t> </a:t>
            </a:r>
            <a:r>
              <a:rPr sz="1300" dirty="0">
                <a:latin typeface="Times New Roman"/>
                <a:cs typeface="Times New Roman"/>
              </a:rPr>
              <a:t>+91</a:t>
            </a:r>
            <a:r>
              <a:rPr sz="1300" spc="-35" dirty="0">
                <a:latin typeface="Times New Roman"/>
                <a:cs typeface="Times New Roman"/>
              </a:rPr>
              <a:t> </a:t>
            </a:r>
            <a:r>
              <a:rPr lang="en-US" sz="1300" spc="-35" dirty="0">
                <a:latin typeface="Times New Roman"/>
                <a:cs typeface="Times New Roman"/>
              </a:rPr>
              <a:t>8056194886</a:t>
            </a:r>
            <a:endParaRPr sz="1300" dirty="0">
              <a:latin typeface="Times New Roman"/>
              <a:cs typeface="Times New Roman"/>
            </a:endParaRPr>
          </a:p>
          <a:p>
            <a:pPr marL="679450">
              <a:lnSpc>
                <a:spcPct val="100000"/>
              </a:lnSpc>
              <a:spcBef>
                <a:spcPts val="1130"/>
              </a:spcBef>
            </a:pPr>
            <a:r>
              <a:rPr sz="1300" b="1" dirty="0">
                <a:latin typeface="Times New Roman"/>
                <a:cs typeface="Times New Roman"/>
              </a:rPr>
              <a:t>Support</a:t>
            </a:r>
            <a:r>
              <a:rPr sz="1300" b="1" spc="-20" dirty="0">
                <a:latin typeface="Times New Roman"/>
                <a:cs typeface="Times New Roman"/>
              </a:rPr>
              <a:t> </a:t>
            </a:r>
            <a:r>
              <a:rPr sz="1300" b="1" spc="-10" dirty="0">
                <a:latin typeface="Times New Roman"/>
                <a:cs typeface="Times New Roman"/>
              </a:rPr>
              <a:t>Timings:</a:t>
            </a:r>
            <a:r>
              <a:rPr sz="1300" b="1" spc="-20" dirty="0">
                <a:latin typeface="Times New Roman"/>
                <a:cs typeface="Times New Roman"/>
              </a:rPr>
              <a:t> </a:t>
            </a:r>
            <a:r>
              <a:rPr lang="en-US" sz="1300" spc="-20" dirty="0">
                <a:latin typeface="Times New Roman"/>
                <a:cs typeface="Times New Roman"/>
              </a:rPr>
              <a:t>8</a:t>
            </a:r>
            <a:r>
              <a:rPr sz="1300" dirty="0">
                <a:latin typeface="Times New Roman"/>
                <a:cs typeface="Times New Roman"/>
              </a:rPr>
              <a:t>:</a:t>
            </a:r>
            <a:r>
              <a:rPr lang="en-US" sz="1300" dirty="0">
                <a:latin typeface="Times New Roman"/>
                <a:cs typeface="Times New Roman"/>
              </a:rPr>
              <a:t>3</a:t>
            </a:r>
            <a:r>
              <a:rPr sz="1300" dirty="0">
                <a:latin typeface="Times New Roman"/>
                <a:cs typeface="Times New Roman"/>
              </a:rPr>
              <a:t>0</a:t>
            </a:r>
            <a:r>
              <a:rPr sz="1300" spc="-20" dirty="0">
                <a:latin typeface="Times New Roman"/>
                <a:cs typeface="Times New Roman"/>
              </a:rPr>
              <a:t> </a:t>
            </a:r>
            <a:r>
              <a:rPr sz="1300" dirty="0">
                <a:latin typeface="Times New Roman"/>
                <a:cs typeface="Times New Roman"/>
              </a:rPr>
              <a:t>AM</a:t>
            </a:r>
            <a:r>
              <a:rPr sz="1300" spc="-20" dirty="0">
                <a:latin typeface="Times New Roman"/>
                <a:cs typeface="Times New Roman"/>
              </a:rPr>
              <a:t> </a:t>
            </a:r>
            <a:r>
              <a:rPr sz="1300" dirty="0">
                <a:latin typeface="Times New Roman"/>
                <a:cs typeface="Times New Roman"/>
              </a:rPr>
              <a:t>–</a:t>
            </a:r>
            <a:r>
              <a:rPr sz="1300" spc="-20" dirty="0">
                <a:latin typeface="Times New Roman"/>
                <a:cs typeface="Times New Roman"/>
              </a:rPr>
              <a:t> </a:t>
            </a:r>
            <a:r>
              <a:rPr lang="en-US" sz="1300" spc="-20" dirty="0">
                <a:latin typeface="Times New Roman"/>
                <a:cs typeface="Times New Roman"/>
              </a:rPr>
              <a:t>2:30</a:t>
            </a:r>
            <a:r>
              <a:rPr sz="1300" spc="-20" dirty="0">
                <a:latin typeface="Times New Roman"/>
                <a:cs typeface="Times New Roman"/>
              </a:rPr>
              <a:t> </a:t>
            </a:r>
            <a:r>
              <a:rPr sz="1300" dirty="0">
                <a:latin typeface="Times New Roman"/>
                <a:cs typeface="Times New Roman"/>
              </a:rPr>
              <a:t>PM</a:t>
            </a:r>
            <a:r>
              <a:rPr sz="1300" spc="-20" dirty="0">
                <a:latin typeface="Times New Roman"/>
                <a:cs typeface="Times New Roman"/>
              </a:rPr>
              <a:t> (Working </a:t>
            </a:r>
            <a:r>
              <a:rPr sz="1300" dirty="0">
                <a:latin typeface="Times New Roman"/>
                <a:cs typeface="Times New Roman"/>
              </a:rPr>
              <a:t>Days</a:t>
            </a:r>
            <a:r>
              <a:rPr sz="1300" spc="-20" dirty="0">
                <a:latin typeface="Times New Roman"/>
                <a:cs typeface="Times New Roman"/>
              </a:rPr>
              <a:t> </a:t>
            </a:r>
            <a:r>
              <a:rPr sz="1300" spc="-10" dirty="0">
                <a:latin typeface="Times New Roman"/>
                <a:cs typeface="Times New Roman"/>
              </a:rPr>
              <a:t>Only)</a:t>
            </a:r>
            <a:endParaRPr sz="1300" dirty="0">
              <a:latin typeface="Times New Roman"/>
              <a:cs typeface="Times New Roman"/>
            </a:endParaRPr>
          </a:p>
          <a:p>
            <a:pPr marL="679450" marR="5080">
              <a:lnSpc>
                <a:spcPts val="1490"/>
              </a:lnSpc>
              <a:spcBef>
                <a:spcPts val="1245"/>
              </a:spcBef>
            </a:pPr>
            <a:r>
              <a:rPr lang="en-US" sz="1300" b="1" spc="-10" dirty="0">
                <a:latin typeface="Times New Roman"/>
                <a:cs typeface="Times New Roman"/>
              </a:rPr>
              <a:t>Department: </a:t>
            </a:r>
            <a:r>
              <a:rPr lang="en-US" sz="1300" spc="-10" dirty="0">
                <a:latin typeface="Times New Roman"/>
                <a:cs typeface="Times New Roman"/>
              </a:rPr>
              <a:t>Department of Computer Science </a:t>
            </a:r>
            <a:endParaRPr sz="1300" dirty="0">
              <a:latin typeface="Times New Roman"/>
              <a:cs typeface="Times New Roman"/>
            </a:endParaRPr>
          </a:p>
        </p:txBody>
      </p:sp>
      <p:pic>
        <p:nvPicPr>
          <p:cNvPr id="10" name="object 10"/>
          <p:cNvPicPr/>
          <p:nvPr/>
        </p:nvPicPr>
        <p:blipFill>
          <a:blip r:embed="rId5" cstate="print"/>
          <a:stretch>
            <a:fillRect/>
          </a:stretch>
        </p:blipFill>
        <p:spPr>
          <a:xfrm>
            <a:off x="683259" y="361950"/>
            <a:ext cx="1495425" cy="371475"/>
          </a:xfrm>
          <a:prstGeom prst="rect">
            <a:avLst/>
          </a:prstGeom>
        </p:spPr>
      </p:pic>
      <p:pic>
        <p:nvPicPr>
          <p:cNvPr id="11" name="object 11"/>
          <p:cNvPicPr/>
          <p:nvPr/>
        </p:nvPicPr>
        <p:blipFill>
          <a:blip r:embed="rId6" cstate="print"/>
          <a:stretch>
            <a:fillRect/>
          </a:stretch>
        </p:blipFill>
        <p:spPr>
          <a:xfrm>
            <a:off x="2569210" y="342900"/>
            <a:ext cx="1009650" cy="571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779134" y="689594"/>
            <a:ext cx="1076324" cy="400050"/>
          </a:xfrm>
          <a:prstGeom prst="rect">
            <a:avLst/>
          </a:prstGeom>
        </p:spPr>
      </p:pic>
      <p:pic>
        <p:nvPicPr>
          <p:cNvPr id="3" name="object 3"/>
          <p:cNvPicPr/>
          <p:nvPr/>
        </p:nvPicPr>
        <p:blipFill>
          <a:blip r:embed="rId3" cstate="print"/>
          <a:stretch>
            <a:fillRect/>
          </a:stretch>
        </p:blipFill>
        <p:spPr>
          <a:xfrm>
            <a:off x="3816984" y="670544"/>
            <a:ext cx="1000125" cy="438150"/>
          </a:xfrm>
          <a:prstGeom prst="rect">
            <a:avLst/>
          </a:prstGeom>
        </p:spPr>
      </p:pic>
      <p:sp>
        <p:nvSpPr>
          <p:cNvPr id="5" name="object 5"/>
          <p:cNvSpPr/>
          <p:nvPr/>
        </p:nvSpPr>
        <p:spPr>
          <a:xfrm>
            <a:off x="565784" y="99949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7" name="object 7"/>
          <p:cNvSpPr/>
          <p:nvPr/>
        </p:nvSpPr>
        <p:spPr>
          <a:xfrm>
            <a:off x="565784" y="83947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8" name="object 8"/>
          <p:cNvSpPr txBox="1"/>
          <p:nvPr/>
        </p:nvSpPr>
        <p:spPr>
          <a:xfrm>
            <a:off x="736600" y="1841500"/>
            <a:ext cx="5901055" cy="8413842"/>
          </a:xfrm>
          <a:prstGeom prst="rect">
            <a:avLst/>
          </a:prstGeom>
        </p:spPr>
        <p:txBody>
          <a:bodyPr vert="horz" wrap="square" lIns="0" tIns="148590" rIns="0" bIns="0" rtlCol="0">
            <a:spAutoFit/>
          </a:bodyPr>
          <a:lstStyle/>
          <a:p>
            <a:pPr marL="230504" indent="-222250">
              <a:lnSpc>
                <a:spcPct val="100000"/>
              </a:lnSpc>
              <a:spcBef>
                <a:spcPts val="1170"/>
              </a:spcBef>
              <a:buClr>
                <a:srgbClr val="3C78D8"/>
              </a:buClr>
              <a:buSzPct val="95652"/>
              <a:buFont typeface="Times New Roman"/>
              <a:buAutoNum type="arabicPeriod" startAt="4"/>
              <a:tabLst>
                <a:tab pos="230504" algn="l"/>
              </a:tabLst>
            </a:pPr>
            <a:r>
              <a:rPr sz="2300" b="1" dirty="0">
                <a:solidFill>
                  <a:srgbClr val="3C78D8"/>
                </a:solidFill>
                <a:latin typeface="Times New Roman"/>
                <a:cs typeface="Times New Roman"/>
              </a:rPr>
              <a:t>Implementation</a:t>
            </a:r>
            <a:r>
              <a:rPr sz="2300" b="1" spc="-100" dirty="0">
                <a:solidFill>
                  <a:srgbClr val="3C78D8"/>
                </a:solidFill>
                <a:latin typeface="Times New Roman"/>
                <a:cs typeface="Times New Roman"/>
              </a:rPr>
              <a:t> </a:t>
            </a:r>
            <a:r>
              <a:rPr sz="2300" b="1" spc="-10" dirty="0">
                <a:solidFill>
                  <a:srgbClr val="3C78D8"/>
                </a:solidFill>
                <a:latin typeface="Times New Roman"/>
                <a:cs typeface="Times New Roman"/>
              </a:rPr>
              <a:t>Steps:</a:t>
            </a:r>
            <a:endParaRPr lang="en-US" sz="2300" b="1" spc="-10" dirty="0">
              <a:solidFill>
                <a:srgbClr val="3C78D8"/>
              </a:solidFill>
              <a:latin typeface="Times New Roman"/>
              <a:cs typeface="Times New Roman"/>
            </a:endParaRPr>
          </a:p>
          <a:p>
            <a:pPr marL="351154" indent="-342900">
              <a:lnSpc>
                <a:spcPct val="100000"/>
              </a:lnSpc>
              <a:spcBef>
                <a:spcPts val="1170"/>
              </a:spcBef>
              <a:buClr>
                <a:schemeClr val="tx1"/>
              </a:buClr>
              <a:buSzPct val="95652"/>
              <a:buFont typeface="+mj-lt"/>
              <a:buAutoNum type="arabicPeriod"/>
              <a:tabLst>
                <a:tab pos="230504" algn="l"/>
              </a:tabLst>
            </a:pPr>
            <a:endParaRPr lang="en-US" sz="1500" b="1" dirty="0">
              <a:latin typeface="Times New Roman"/>
              <a:cs typeface="Times New Roman"/>
            </a:endParaRPr>
          </a:p>
          <a:p>
            <a:pPr marL="351154" indent="-342900">
              <a:lnSpc>
                <a:spcPct val="100000"/>
              </a:lnSpc>
              <a:spcBef>
                <a:spcPts val="1170"/>
              </a:spcBef>
              <a:buClr>
                <a:schemeClr val="tx1"/>
              </a:buClr>
              <a:buSzPct val="95652"/>
              <a:buFont typeface="+mj-lt"/>
              <a:buAutoNum type="arabicPeriod"/>
              <a:tabLst>
                <a:tab pos="230504" algn="l"/>
              </a:tabLst>
            </a:pPr>
            <a:r>
              <a:rPr lang="en-US" sz="1500" b="1" dirty="0">
                <a:latin typeface="Times New Roman"/>
                <a:cs typeface="Times New Roman"/>
              </a:rPr>
              <a:t>Requirement Analysis</a:t>
            </a:r>
            <a:r>
              <a:rPr lang="en-US" sz="1500" dirty="0">
                <a:latin typeface="Times New Roman"/>
                <a:cs typeface="Times New Roman"/>
              </a:rPr>
              <a:t>: Analyzed the registration needs to determine the necessary data fields and structural components.</a:t>
            </a:r>
          </a:p>
          <a:p>
            <a:pPr marL="351154" indent="-342900">
              <a:lnSpc>
                <a:spcPct val="100000"/>
              </a:lnSpc>
              <a:spcBef>
                <a:spcPts val="1170"/>
              </a:spcBef>
              <a:buClr>
                <a:schemeClr val="tx1"/>
              </a:buClr>
              <a:buSzPct val="95652"/>
              <a:buFont typeface="+mj-lt"/>
              <a:buAutoNum type="arabicPeriod"/>
              <a:tabLst>
                <a:tab pos="230504" algn="l"/>
              </a:tabLst>
            </a:pPr>
            <a:r>
              <a:rPr lang="en-US" sz="1500" b="1" dirty="0">
                <a:latin typeface="Times New Roman"/>
                <a:cs typeface="Times New Roman"/>
              </a:rPr>
              <a:t>Semantic Skeleton Construction: </a:t>
            </a:r>
            <a:r>
              <a:rPr lang="en-US" sz="1500" dirty="0">
                <a:latin typeface="Times New Roman"/>
                <a:cs typeface="Times New Roman"/>
              </a:rPr>
              <a:t>Built the page using HTML5 semantic tags, ensuring that the title (&lt;h2&gt;), informational text (&lt;p&gt;), and form sections were logically nested.</a:t>
            </a:r>
          </a:p>
          <a:p>
            <a:pPr marL="351154" indent="-342900">
              <a:lnSpc>
                <a:spcPct val="100000"/>
              </a:lnSpc>
              <a:spcBef>
                <a:spcPts val="1170"/>
              </a:spcBef>
              <a:buClr>
                <a:schemeClr val="tx1"/>
              </a:buClr>
              <a:buSzPct val="95652"/>
              <a:buFont typeface="+mj-lt"/>
              <a:buAutoNum type="arabicPeriod"/>
              <a:tabLst>
                <a:tab pos="230504" algn="l"/>
              </a:tabLst>
            </a:pPr>
            <a:r>
              <a:rPr lang="en-IN" sz="1500" b="1" dirty="0">
                <a:latin typeface="Times New Roman"/>
                <a:cs typeface="Times New Roman"/>
              </a:rPr>
              <a:t>Form Development</a:t>
            </a:r>
            <a:r>
              <a:rPr lang="en-IN" sz="1500" dirty="0">
                <a:latin typeface="Times New Roman"/>
                <a:cs typeface="Times New Roman"/>
              </a:rPr>
              <a:t>:	</a:t>
            </a:r>
          </a:p>
          <a:p>
            <a:pPr marL="294004" indent="-285750">
              <a:lnSpc>
                <a:spcPct val="100000"/>
              </a:lnSpc>
              <a:spcBef>
                <a:spcPts val="1170"/>
              </a:spcBef>
              <a:buClr>
                <a:schemeClr val="tx1"/>
              </a:buClr>
              <a:buSzPct val="95652"/>
              <a:buFont typeface="Arial" panose="020B0604020202020204" pitchFamily="34" charset="0"/>
              <a:buChar char="•"/>
              <a:tabLst>
                <a:tab pos="230504" algn="l"/>
              </a:tabLst>
            </a:pPr>
            <a:r>
              <a:rPr lang="en-US" sz="1500" dirty="0">
                <a:latin typeface="Times New Roman"/>
                <a:cs typeface="Times New Roman"/>
              </a:rPr>
              <a:t>Implemented the &lt;form&gt; element with unique IDs for future scripting.</a:t>
            </a:r>
          </a:p>
          <a:p>
            <a:pPr marL="294004" indent="-285750">
              <a:lnSpc>
                <a:spcPct val="100000"/>
              </a:lnSpc>
              <a:spcBef>
                <a:spcPts val="1170"/>
              </a:spcBef>
              <a:buClr>
                <a:schemeClr val="tx1"/>
              </a:buClr>
              <a:buSzPct val="95652"/>
              <a:buFont typeface="Arial" panose="020B0604020202020204" pitchFamily="34" charset="0"/>
              <a:buChar char="•"/>
              <a:tabLst>
                <a:tab pos="230504" algn="l"/>
              </a:tabLst>
            </a:pPr>
            <a:r>
              <a:rPr lang="en-US" sz="1500" dirty="0">
                <a:latin typeface="Times New Roman"/>
                <a:cs typeface="Times New Roman"/>
              </a:rPr>
              <a:t>Utilized the &lt;</a:t>
            </a:r>
            <a:r>
              <a:rPr lang="en-US" sz="1500" dirty="0" err="1">
                <a:latin typeface="Times New Roman"/>
                <a:cs typeface="Times New Roman"/>
              </a:rPr>
              <a:t>fieldset</a:t>
            </a:r>
            <a:r>
              <a:rPr lang="en-US" sz="1500" dirty="0">
                <a:latin typeface="Times New Roman"/>
                <a:cs typeface="Times New Roman"/>
              </a:rPr>
              <a:t>&gt; and &lt;legend&gt; tags to create clear visual and structural boundaries between personal data and event preferences.</a:t>
            </a:r>
          </a:p>
          <a:p>
            <a:pPr marL="294004" indent="-285750">
              <a:lnSpc>
                <a:spcPct val="100000"/>
              </a:lnSpc>
              <a:spcBef>
                <a:spcPts val="1170"/>
              </a:spcBef>
              <a:buClr>
                <a:schemeClr val="tx1"/>
              </a:buClr>
              <a:buSzPct val="95652"/>
              <a:buFont typeface="Arial" panose="020B0604020202020204" pitchFamily="34" charset="0"/>
              <a:buChar char="•"/>
              <a:tabLst>
                <a:tab pos="230504" algn="l"/>
              </a:tabLst>
            </a:pPr>
            <a:r>
              <a:rPr lang="en-US" sz="1500" dirty="0">
                <a:latin typeface="Times New Roman"/>
                <a:cs typeface="Times New Roman"/>
              </a:rPr>
              <a:t>Applied specialized input types like type="email" and type="</a:t>
            </a:r>
            <a:r>
              <a:rPr lang="en-US" sz="1500" dirty="0" err="1">
                <a:latin typeface="Times New Roman"/>
                <a:cs typeface="Times New Roman"/>
              </a:rPr>
              <a:t>tel</a:t>
            </a:r>
            <a:r>
              <a:rPr lang="en-US" sz="1500" dirty="0">
                <a:latin typeface="Times New Roman"/>
                <a:cs typeface="Times New Roman"/>
              </a:rPr>
              <a:t>" to enable automatic browser-side validation and improve mobile keyboard layouts</a:t>
            </a:r>
          </a:p>
          <a:p>
            <a:pPr marL="351154" lvl="2" indent="-342900">
              <a:spcBef>
                <a:spcPts val="1170"/>
              </a:spcBef>
              <a:buClr>
                <a:schemeClr val="tx1"/>
              </a:buClr>
              <a:buSzPct val="95652"/>
              <a:buAutoNum type="arabicPeriod" startAt="4"/>
              <a:tabLst>
                <a:tab pos="230504" algn="l"/>
              </a:tabLst>
            </a:pPr>
            <a:r>
              <a:rPr lang="en-US" sz="1500" b="1" dirty="0">
                <a:latin typeface="Times New Roman"/>
                <a:cs typeface="Times New Roman"/>
              </a:rPr>
              <a:t>Selection Logic: </a:t>
            </a:r>
            <a:r>
              <a:rPr lang="en-US" sz="1500" dirty="0">
                <a:latin typeface="Times New Roman"/>
                <a:cs typeface="Times New Roman"/>
              </a:rPr>
              <a:t>Created a &lt;select&gt; dropdown for workshop choices and used radio buttons (type="radio") with matching name attributes to ensure only one participation mode could be selected at a time.</a:t>
            </a:r>
          </a:p>
          <a:p>
            <a:pPr marL="351154" lvl="2" indent="-342900">
              <a:spcBef>
                <a:spcPts val="1170"/>
              </a:spcBef>
              <a:buClr>
                <a:schemeClr val="tx1"/>
              </a:buClr>
              <a:buSzPct val="95652"/>
              <a:buAutoNum type="arabicPeriod" startAt="4"/>
              <a:tabLst>
                <a:tab pos="230504" algn="l"/>
              </a:tabLst>
            </a:pPr>
            <a:r>
              <a:rPr lang="en-US" sz="1500" b="1" dirty="0">
                <a:latin typeface="Times New Roman"/>
                <a:cs typeface="Times New Roman"/>
              </a:rPr>
              <a:t>Table Construction</a:t>
            </a:r>
            <a:r>
              <a:rPr lang="en-US" sz="1500" dirty="0">
                <a:latin typeface="Times New Roman"/>
                <a:cs typeface="Times New Roman"/>
              </a:rPr>
              <a:t>: Built a &lt;table&gt; with a defined header (&lt;</a:t>
            </a:r>
            <a:r>
              <a:rPr lang="en-US" sz="1500" dirty="0" err="1">
                <a:latin typeface="Times New Roman"/>
                <a:cs typeface="Times New Roman"/>
              </a:rPr>
              <a:t>thead</a:t>
            </a:r>
            <a:r>
              <a:rPr lang="en-US" sz="1500" dirty="0">
                <a:latin typeface="Times New Roman"/>
                <a:cs typeface="Times New Roman"/>
              </a:rPr>
              <a:t>&gt;) to display participant records</a:t>
            </a:r>
          </a:p>
          <a:p>
            <a:pPr marL="351154" lvl="2" indent="-342900">
              <a:spcBef>
                <a:spcPts val="1170"/>
              </a:spcBef>
              <a:buClr>
                <a:schemeClr val="tx1"/>
              </a:buClr>
              <a:buSzPct val="95652"/>
              <a:buAutoNum type="arabicPeriod" startAt="4"/>
              <a:tabLst>
                <a:tab pos="230504" algn="l"/>
              </a:tabLst>
            </a:pPr>
            <a:r>
              <a:rPr lang="en-US" sz="1500" b="1" dirty="0">
                <a:latin typeface="Times New Roman"/>
                <a:cs typeface="Times New Roman"/>
              </a:rPr>
              <a:t>Footer Integration</a:t>
            </a:r>
            <a:r>
              <a:rPr lang="en-US" sz="1500" dirty="0">
                <a:latin typeface="Times New Roman"/>
                <a:cs typeface="Times New Roman"/>
              </a:rPr>
              <a:t>: Added contact details to mark the end of the page.</a:t>
            </a:r>
          </a:p>
          <a:p>
            <a:pPr marL="8254" lvl="2">
              <a:spcBef>
                <a:spcPts val="1170"/>
              </a:spcBef>
              <a:buClr>
                <a:schemeClr val="tx1"/>
              </a:buClr>
              <a:buSzPct val="95652"/>
              <a:tabLst>
                <a:tab pos="230504" algn="l"/>
              </a:tabLst>
            </a:pPr>
            <a:endParaRPr sz="1200" dirty="0">
              <a:latin typeface="Times New Roman"/>
              <a:cs typeface="Times New Roman"/>
            </a:endParaRPr>
          </a:p>
          <a:p>
            <a:pPr marL="351155" indent="-290830">
              <a:lnSpc>
                <a:spcPct val="100000"/>
              </a:lnSpc>
              <a:buClr>
                <a:srgbClr val="3C78D8"/>
              </a:buClr>
              <a:buSzPct val="95652"/>
              <a:buFont typeface="Times New Roman"/>
              <a:buAutoNum type="arabicPeriod" startAt="5"/>
              <a:tabLst>
                <a:tab pos="351155" algn="l"/>
              </a:tabLst>
            </a:pPr>
            <a:r>
              <a:rPr sz="2300" b="1" spc="-25" dirty="0">
                <a:solidFill>
                  <a:srgbClr val="3C78D8"/>
                </a:solidFill>
                <a:latin typeface="Times New Roman"/>
                <a:cs typeface="Times New Roman"/>
              </a:rPr>
              <a:t>Technologies</a:t>
            </a:r>
            <a:r>
              <a:rPr sz="2300" b="1" spc="-30" dirty="0">
                <a:solidFill>
                  <a:srgbClr val="3C78D8"/>
                </a:solidFill>
                <a:latin typeface="Times New Roman"/>
                <a:cs typeface="Times New Roman"/>
              </a:rPr>
              <a:t> </a:t>
            </a:r>
            <a:r>
              <a:rPr sz="2300" b="1" spc="-20" dirty="0">
                <a:solidFill>
                  <a:srgbClr val="3C78D8"/>
                </a:solidFill>
                <a:latin typeface="Times New Roman"/>
                <a:cs typeface="Times New Roman"/>
              </a:rPr>
              <a:t>Used:</a:t>
            </a:r>
            <a:endParaRPr sz="2300" dirty="0">
              <a:latin typeface="Times New Roman"/>
              <a:cs typeface="Times New Roman"/>
            </a:endParaRPr>
          </a:p>
          <a:p>
            <a:pPr marL="193675" indent="-171450">
              <a:lnSpc>
                <a:spcPct val="100000"/>
              </a:lnSpc>
              <a:spcBef>
                <a:spcPts val="1225"/>
              </a:spcBef>
              <a:buFont typeface="Arial" panose="020B0604020202020204" pitchFamily="34" charset="0"/>
              <a:buChar char="•"/>
            </a:pPr>
            <a:r>
              <a:rPr lang="en-US" sz="1400" b="1" dirty="0">
                <a:latin typeface="Times New Roman"/>
                <a:cs typeface="Times New Roman"/>
              </a:rPr>
              <a:t>HTML5: </a:t>
            </a:r>
            <a:r>
              <a:rPr lang="en-US" sz="1400" dirty="0">
                <a:latin typeface="Times New Roman"/>
                <a:cs typeface="Times New Roman"/>
              </a:rPr>
              <a:t>Used to create the semantic structure and all form elements.</a:t>
            </a:r>
          </a:p>
          <a:p>
            <a:pPr marL="193675" indent="-171450">
              <a:lnSpc>
                <a:spcPct val="100000"/>
              </a:lnSpc>
              <a:spcBef>
                <a:spcPts val="1225"/>
              </a:spcBef>
              <a:buFont typeface="Arial" panose="020B0604020202020204" pitchFamily="34" charset="0"/>
              <a:buChar char="•"/>
            </a:pPr>
            <a:r>
              <a:rPr lang="en-US" sz="1400" b="1" dirty="0">
                <a:latin typeface="Times New Roman"/>
                <a:cs typeface="Times New Roman"/>
              </a:rPr>
              <a:t>Browser-native Validation</a:t>
            </a:r>
            <a:r>
              <a:rPr lang="en-US" sz="1400" dirty="0">
                <a:latin typeface="Times New Roman"/>
                <a:cs typeface="Times New Roman"/>
              </a:rPr>
              <a:t>: Used for basic data verification through input attributes.</a:t>
            </a:r>
          </a:p>
          <a:p>
            <a:pPr marL="193675" indent="-171450">
              <a:lnSpc>
                <a:spcPct val="100000"/>
              </a:lnSpc>
              <a:spcBef>
                <a:spcPts val="1225"/>
              </a:spcBef>
              <a:buFont typeface="Arial" panose="020B0604020202020204" pitchFamily="34" charset="0"/>
              <a:buChar char="•"/>
            </a:pPr>
            <a:endParaRPr sz="1200" dirty="0">
              <a:latin typeface="Times New Roman"/>
              <a:cs typeface="Times New Roman"/>
            </a:endParaRPr>
          </a:p>
        </p:txBody>
      </p:sp>
      <p:pic>
        <p:nvPicPr>
          <p:cNvPr id="9" name="object 9"/>
          <p:cNvPicPr/>
          <p:nvPr/>
        </p:nvPicPr>
        <p:blipFill>
          <a:blip r:embed="rId4" cstate="print"/>
          <a:stretch>
            <a:fillRect/>
          </a:stretch>
        </p:blipFill>
        <p:spPr>
          <a:xfrm>
            <a:off x="378459" y="689594"/>
            <a:ext cx="1495425" cy="371475"/>
          </a:xfrm>
          <a:prstGeom prst="rect">
            <a:avLst/>
          </a:prstGeom>
        </p:spPr>
      </p:pic>
      <p:pic>
        <p:nvPicPr>
          <p:cNvPr id="10" name="object 10"/>
          <p:cNvPicPr/>
          <p:nvPr/>
        </p:nvPicPr>
        <p:blipFill>
          <a:blip r:embed="rId5" cstate="print"/>
          <a:stretch>
            <a:fillRect/>
          </a:stretch>
        </p:blipFill>
        <p:spPr>
          <a:xfrm>
            <a:off x="2283460" y="670544"/>
            <a:ext cx="1009650" cy="571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A68B943-8BF0-F6C7-4127-2EBC10FF0743}"/>
            </a:ext>
          </a:extLst>
        </p:cNvPr>
        <p:cNvGrpSpPr/>
        <p:nvPr/>
      </p:nvGrpSpPr>
      <p:grpSpPr>
        <a:xfrm>
          <a:off x="0" y="0"/>
          <a:ext cx="0" cy="0"/>
          <a:chOff x="0" y="0"/>
          <a:chExt cx="0" cy="0"/>
        </a:xfrm>
      </p:grpSpPr>
      <p:pic>
        <p:nvPicPr>
          <p:cNvPr id="2" name="object 2">
            <a:extLst>
              <a:ext uri="{FF2B5EF4-FFF2-40B4-BE49-F238E27FC236}">
                <a16:creationId xmlns:a16="http://schemas.microsoft.com/office/drawing/2014/main" id="{251574EB-4766-B6AD-06D8-1A254855D4A9}"/>
              </a:ext>
            </a:extLst>
          </p:cNvPr>
          <p:cNvPicPr/>
          <p:nvPr/>
        </p:nvPicPr>
        <p:blipFill>
          <a:blip r:embed="rId2" cstate="print"/>
          <a:stretch>
            <a:fillRect/>
          </a:stretch>
        </p:blipFill>
        <p:spPr>
          <a:xfrm>
            <a:off x="5779134" y="689594"/>
            <a:ext cx="1076324" cy="400050"/>
          </a:xfrm>
          <a:prstGeom prst="rect">
            <a:avLst/>
          </a:prstGeom>
        </p:spPr>
      </p:pic>
      <p:pic>
        <p:nvPicPr>
          <p:cNvPr id="3" name="object 3">
            <a:extLst>
              <a:ext uri="{FF2B5EF4-FFF2-40B4-BE49-F238E27FC236}">
                <a16:creationId xmlns:a16="http://schemas.microsoft.com/office/drawing/2014/main" id="{7E2ED9E9-9FEB-FD85-2687-B2C263B71420}"/>
              </a:ext>
            </a:extLst>
          </p:cNvPr>
          <p:cNvPicPr/>
          <p:nvPr/>
        </p:nvPicPr>
        <p:blipFill>
          <a:blip r:embed="rId3" cstate="print"/>
          <a:stretch>
            <a:fillRect/>
          </a:stretch>
        </p:blipFill>
        <p:spPr>
          <a:xfrm>
            <a:off x="3816984" y="670544"/>
            <a:ext cx="1000125" cy="438150"/>
          </a:xfrm>
          <a:prstGeom prst="rect">
            <a:avLst/>
          </a:prstGeom>
        </p:spPr>
      </p:pic>
      <p:sp>
        <p:nvSpPr>
          <p:cNvPr id="4" name="object 4">
            <a:extLst>
              <a:ext uri="{FF2B5EF4-FFF2-40B4-BE49-F238E27FC236}">
                <a16:creationId xmlns:a16="http://schemas.microsoft.com/office/drawing/2014/main" id="{21AEA0ED-D254-83F2-D080-86B07DA6EF68}"/>
              </a:ext>
            </a:extLst>
          </p:cNvPr>
          <p:cNvSpPr/>
          <p:nvPr/>
        </p:nvSpPr>
        <p:spPr>
          <a:xfrm>
            <a:off x="712468" y="87757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5" name="object 5">
            <a:extLst>
              <a:ext uri="{FF2B5EF4-FFF2-40B4-BE49-F238E27FC236}">
                <a16:creationId xmlns:a16="http://schemas.microsoft.com/office/drawing/2014/main" id="{C1A2E1C9-345D-E173-54A8-33219DBCCCE7}"/>
              </a:ext>
            </a:extLst>
          </p:cNvPr>
          <p:cNvSpPr/>
          <p:nvPr/>
        </p:nvSpPr>
        <p:spPr>
          <a:xfrm>
            <a:off x="670558" y="70993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6" name="object 6">
            <a:extLst>
              <a:ext uri="{FF2B5EF4-FFF2-40B4-BE49-F238E27FC236}">
                <a16:creationId xmlns:a16="http://schemas.microsoft.com/office/drawing/2014/main" id="{2C51B95F-5BD8-7674-A166-6DE8C751BF92}"/>
              </a:ext>
            </a:extLst>
          </p:cNvPr>
          <p:cNvSpPr/>
          <p:nvPr/>
        </p:nvSpPr>
        <p:spPr>
          <a:xfrm>
            <a:off x="670558" y="10490639"/>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7" name="object 7">
            <a:extLst>
              <a:ext uri="{FF2B5EF4-FFF2-40B4-BE49-F238E27FC236}">
                <a16:creationId xmlns:a16="http://schemas.microsoft.com/office/drawing/2014/main" id="{8E5F7AF8-A460-526F-3C66-645D25B6695E}"/>
              </a:ext>
            </a:extLst>
          </p:cNvPr>
          <p:cNvSpPr/>
          <p:nvPr/>
        </p:nvSpPr>
        <p:spPr>
          <a:xfrm>
            <a:off x="670558" y="13843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8" name="object 8">
            <a:extLst>
              <a:ext uri="{FF2B5EF4-FFF2-40B4-BE49-F238E27FC236}">
                <a16:creationId xmlns:a16="http://schemas.microsoft.com/office/drawing/2014/main" id="{B42D7FC8-DEB4-2176-171B-5830F651B2C3}"/>
              </a:ext>
            </a:extLst>
          </p:cNvPr>
          <p:cNvSpPr txBox="1"/>
          <p:nvPr/>
        </p:nvSpPr>
        <p:spPr>
          <a:xfrm>
            <a:off x="749299" y="1371600"/>
            <a:ext cx="5901055" cy="8983228"/>
          </a:xfrm>
          <a:prstGeom prst="rect">
            <a:avLst/>
          </a:prstGeom>
        </p:spPr>
        <p:txBody>
          <a:bodyPr vert="horz" wrap="square" lIns="0" tIns="148590" rIns="0" bIns="0" rtlCol="0">
            <a:spAutoFit/>
          </a:bodyPr>
          <a:lstStyle/>
          <a:p>
            <a:pPr marL="230504" indent="-222250">
              <a:lnSpc>
                <a:spcPct val="100000"/>
              </a:lnSpc>
              <a:buSzPct val="95652"/>
              <a:buAutoNum type="arabicPeriod" startAt="6"/>
              <a:tabLst>
                <a:tab pos="230504" algn="l"/>
              </a:tabLst>
            </a:pPr>
            <a:r>
              <a:rPr sz="2300" b="1" spc="-10" dirty="0">
                <a:solidFill>
                  <a:srgbClr val="3C78D8"/>
                </a:solidFill>
                <a:latin typeface="Times New Roman"/>
                <a:cs typeface="Times New Roman"/>
              </a:rPr>
              <a:t>Output:</a:t>
            </a: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278130" indent="-222250">
              <a:lnSpc>
                <a:spcPct val="100000"/>
              </a:lnSpc>
              <a:buClr>
                <a:srgbClr val="3C78D8"/>
              </a:buClr>
              <a:buSzPct val="95652"/>
              <a:buFont typeface="Times New Roman"/>
              <a:buAutoNum type="arabicPeriod" startAt="7"/>
              <a:tabLst>
                <a:tab pos="278130" algn="l"/>
              </a:tabLst>
            </a:pPr>
            <a:r>
              <a:rPr lang="en-US" sz="2300" b="1" dirty="0">
                <a:solidFill>
                  <a:srgbClr val="3C78D8"/>
                </a:solidFill>
                <a:latin typeface="Times New Roman"/>
                <a:cs typeface="Times New Roman"/>
              </a:rPr>
              <a:t>Learning</a:t>
            </a:r>
            <a:r>
              <a:rPr lang="en-US" sz="2300" b="1" spc="-80" dirty="0">
                <a:solidFill>
                  <a:srgbClr val="3C78D8"/>
                </a:solidFill>
                <a:latin typeface="Times New Roman"/>
                <a:cs typeface="Times New Roman"/>
              </a:rPr>
              <a:t> </a:t>
            </a:r>
            <a:r>
              <a:rPr lang="en-US" sz="2300" b="1" spc="-10" dirty="0">
                <a:solidFill>
                  <a:srgbClr val="3C78D8"/>
                </a:solidFill>
                <a:latin typeface="Times New Roman"/>
                <a:cs typeface="Times New Roman"/>
              </a:rPr>
              <a:t>Outcome:</a:t>
            </a:r>
            <a:endParaRPr lang="en-US" sz="2300" dirty="0">
              <a:latin typeface="Times New Roman"/>
              <a:cs typeface="Times New Roman"/>
            </a:endParaRPr>
          </a:p>
          <a:p>
            <a:pPr>
              <a:lnSpc>
                <a:spcPct val="100000"/>
              </a:lnSpc>
            </a:pPr>
            <a:endParaRPr lang="en-US" sz="1500" dirty="0">
              <a:latin typeface="Times New Roman"/>
              <a:cs typeface="Times New Roman"/>
            </a:endParaRPr>
          </a:p>
          <a:p>
            <a:pPr>
              <a:lnSpc>
                <a:spcPct val="100000"/>
              </a:lnSpc>
            </a:pPr>
            <a:r>
              <a:rPr lang="en-US" sz="1500" dirty="0">
                <a:latin typeface="Times New Roman"/>
                <a:cs typeface="Times New Roman"/>
              </a:rPr>
              <a:t>Through this assignment, I learned how to create accessible web forms and how to group related data using semantic tags. I also gained a better understanding of how different input types improve the user experience on both desktop and mobile devices.</a:t>
            </a:r>
          </a:p>
          <a:p>
            <a:pPr>
              <a:lnSpc>
                <a:spcPct val="100000"/>
              </a:lnSpc>
            </a:pPr>
            <a:endParaRPr lang="en-US" sz="1500" dirty="0">
              <a:latin typeface="Times New Roman"/>
              <a:cs typeface="Times New Roman"/>
            </a:endParaRPr>
          </a:p>
          <a:p>
            <a:pPr marL="332105" indent="-290830">
              <a:lnSpc>
                <a:spcPct val="100000"/>
              </a:lnSpc>
              <a:spcBef>
                <a:spcPts val="5"/>
              </a:spcBef>
              <a:buClr>
                <a:srgbClr val="3C78D8"/>
              </a:buClr>
              <a:buSzPct val="95652"/>
              <a:buFont typeface="Times New Roman"/>
              <a:buAutoNum type="arabicPeriod" startAt="8"/>
              <a:tabLst>
                <a:tab pos="332105" algn="l"/>
              </a:tabLst>
            </a:pPr>
            <a:r>
              <a:rPr lang="en-US" sz="2300" b="1" spc="-10" dirty="0">
                <a:solidFill>
                  <a:srgbClr val="3C78D8"/>
                </a:solidFill>
                <a:latin typeface="Times New Roman"/>
                <a:cs typeface="Times New Roman"/>
              </a:rPr>
              <a:t>Conclusion:</a:t>
            </a:r>
            <a:endParaRPr lang="en-US" sz="2300" dirty="0">
              <a:latin typeface="Times New Roman"/>
              <a:cs typeface="Times New Roman"/>
            </a:endParaRPr>
          </a:p>
          <a:p>
            <a:pPr marL="60325">
              <a:lnSpc>
                <a:spcPct val="100000"/>
              </a:lnSpc>
              <a:spcBef>
                <a:spcPts val="1155"/>
              </a:spcBef>
            </a:pPr>
            <a:r>
              <a:rPr lang="en-US" sz="1500" dirty="0">
                <a:latin typeface="Times New Roman" panose="02020603050405020304" pitchFamily="18" charset="0"/>
                <a:cs typeface="Times New Roman" panose="02020603050405020304" pitchFamily="18" charset="0"/>
              </a:rPr>
              <a:t>The project successfully delivers a clean, functional HTML-based registration page. It effectively captures user data and provides a clear overview of the event, serving as a solid base for future styling and interactivity. </a:t>
            </a:r>
            <a:endParaRPr lang="en-US" sz="1500" i="1" spc="-10" dirty="0">
              <a:latin typeface="Times New Roman" panose="02020603050405020304" pitchFamily="18" charset="0"/>
              <a:cs typeface="Times New Roman" panose="02020603050405020304" pitchFamily="18" charset="0"/>
            </a:endParaRPr>
          </a:p>
        </p:txBody>
      </p:sp>
      <p:pic>
        <p:nvPicPr>
          <p:cNvPr id="9" name="object 9">
            <a:extLst>
              <a:ext uri="{FF2B5EF4-FFF2-40B4-BE49-F238E27FC236}">
                <a16:creationId xmlns:a16="http://schemas.microsoft.com/office/drawing/2014/main" id="{78FA269F-C182-1398-9691-1985A4D19864}"/>
              </a:ext>
            </a:extLst>
          </p:cNvPr>
          <p:cNvPicPr/>
          <p:nvPr/>
        </p:nvPicPr>
        <p:blipFill>
          <a:blip r:embed="rId4" cstate="print"/>
          <a:stretch>
            <a:fillRect/>
          </a:stretch>
        </p:blipFill>
        <p:spPr>
          <a:xfrm>
            <a:off x="378459" y="689594"/>
            <a:ext cx="1495425" cy="371475"/>
          </a:xfrm>
          <a:prstGeom prst="rect">
            <a:avLst/>
          </a:prstGeom>
        </p:spPr>
      </p:pic>
      <p:pic>
        <p:nvPicPr>
          <p:cNvPr id="10" name="object 10">
            <a:extLst>
              <a:ext uri="{FF2B5EF4-FFF2-40B4-BE49-F238E27FC236}">
                <a16:creationId xmlns:a16="http://schemas.microsoft.com/office/drawing/2014/main" id="{D2A37EBB-AD31-117C-7141-5A60E679277E}"/>
              </a:ext>
            </a:extLst>
          </p:cNvPr>
          <p:cNvPicPr/>
          <p:nvPr/>
        </p:nvPicPr>
        <p:blipFill>
          <a:blip r:embed="rId5" cstate="print"/>
          <a:stretch>
            <a:fillRect/>
          </a:stretch>
        </p:blipFill>
        <p:spPr>
          <a:xfrm>
            <a:off x="2283460" y="670544"/>
            <a:ext cx="1009650" cy="571500"/>
          </a:xfrm>
          <a:prstGeom prst="rect">
            <a:avLst/>
          </a:prstGeom>
        </p:spPr>
      </p:pic>
      <p:pic>
        <p:nvPicPr>
          <p:cNvPr id="16" name="Picture 15">
            <a:extLst>
              <a:ext uri="{FF2B5EF4-FFF2-40B4-BE49-F238E27FC236}">
                <a16:creationId xmlns:a16="http://schemas.microsoft.com/office/drawing/2014/main" id="{0928229D-2B59-AB0F-8BC4-001B8909695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3180" y="2023391"/>
            <a:ext cx="3495042" cy="4858032"/>
          </a:xfrm>
          <a:prstGeom prst="rect">
            <a:avLst/>
          </a:prstGeom>
        </p:spPr>
      </p:pic>
      <p:pic>
        <p:nvPicPr>
          <p:cNvPr id="18" name="Picture 17">
            <a:extLst>
              <a:ext uri="{FF2B5EF4-FFF2-40B4-BE49-F238E27FC236}">
                <a16:creationId xmlns:a16="http://schemas.microsoft.com/office/drawing/2014/main" id="{6BA4371F-9DDF-E7FD-3E40-AFFC27FB4D8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431678" y="2064849"/>
            <a:ext cx="4137522" cy="4870366"/>
          </a:xfrm>
          <a:prstGeom prst="rect">
            <a:avLst/>
          </a:prstGeom>
        </p:spPr>
      </p:pic>
    </p:spTree>
    <p:extLst>
      <p:ext uri="{BB962C8B-B14F-4D97-AF65-F5344CB8AC3E}">
        <p14:creationId xmlns:p14="http://schemas.microsoft.com/office/powerpoint/2010/main" val="37311425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188</TotalTime>
  <Words>1008</Words>
  <Application>Microsoft Office PowerPoint</Application>
  <PresentationFormat>Custom</PresentationFormat>
  <Paragraphs>113</Paragraphs>
  <Slides>5</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Times New Roman</vt:lpstr>
      <vt:lpstr>Office Theme</vt:lpstr>
      <vt:lpstr>FRONT-END DEVELOPMENT</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Assignment 1.docx</dc:title>
  <cp:lastModifiedBy>S0805844</cp:lastModifiedBy>
  <cp:revision>12</cp:revision>
  <dcterms:created xsi:type="dcterms:W3CDTF">2026-03-04T05:00:28Z</dcterms:created>
  <dcterms:modified xsi:type="dcterms:W3CDTF">2026-03-10T15:18:39Z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2026-03-04T00:00:00Z</vt:filetime>
  </property>
  <property fmtid="{D5CDD505-2E9C-101B-9397-08002B2CF9AE}" pid="3" name="LastSaved">
    <vt:filetime>2026-03-04T00:00:00Z</vt:filetime>
  </property>
  <property fmtid="{D5CDD505-2E9C-101B-9397-08002B2CF9AE}" pid="4" name="Producer">
    <vt:lpwstr>3-Heights(TM) PDF Security Shell 4.8.25.2 (http://www.pdf-tools.com)</vt:lpwstr>
  </property>
</Properties>
</file>